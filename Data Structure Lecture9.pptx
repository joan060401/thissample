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 id="2147483662" r:id="rId6"/>
    <p:sldMasterId id="2147483663" r:id="rId7"/>
    <p:sldMasterId id="2147483664" r:id="rId8"/>
    <p:sldMasterId id="2147483665"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Lst>
  <p:sldSz cy="6858000" cx="9144000"/>
  <p:notesSz cx="6858000" cy="9144000"/>
  <p:embeddedFontLst>
    <p:embeddedFont>
      <p:font typeface="Constantia"/>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Constantia-regular.fntdata"/><Relationship Id="rId50" Type="http://schemas.openxmlformats.org/officeDocument/2006/relationships/slide" Target="slides/slide40.xml"/><Relationship Id="rId53" Type="http://schemas.openxmlformats.org/officeDocument/2006/relationships/font" Target="fonts/Constantia-italic.fntdata"/><Relationship Id="rId52" Type="http://schemas.openxmlformats.org/officeDocument/2006/relationships/font" Target="fonts/Constantia-bold.fntdata"/><Relationship Id="rId11" Type="http://schemas.openxmlformats.org/officeDocument/2006/relationships/slide" Target="slides/slide1.xml"/><Relationship Id="rId10" Type="http://schemas.openxmlformats.org/officeDocument/2006/relationships/notesMaster" Target="notesMasters/notesMaster1.xml"/><Relationship Id="rId54" Type="http://schemas.openxmlformats.org/officeDocument/2006/relationships/font" Target="fonts/Constantia-boldItalic.fntdata"/><Relationship Id="rId13" Type="http://schemas.openxmlformats.org/officeDocument/2006/relationships/slide" Target="slides/slide3.xml"/><Relationship Id="rId12" Type="http://schemas.openxmlformats.org/officeDocument/2006/relationships/slide" Target="slides/slide2.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Calibri"/>
              <a:buNone/>
            </a:pPr>
            <a:fld id="{00000000-1234-1234-1234-123412341234}" type="slidenum">
              <a:rPr b="0" i="0" lang="en-US" sz="1200" u="none">
                <a:solidFill>
                  <a:schemeClr val="lt1"/>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3" name="Google Shape;15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3" name="Google Shape;18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2" name="Google Shape;20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3" name="Google Shape;22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0" name="Google Shape;25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8" name="Google Shape;25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74" name="Google Shape;27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80" name="Google Shape;28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1" name="Google Shape;28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8" name="Google Shape;28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9" name="Google Shape;30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0" name="Google Shape;33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45" name="Google Shape;34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60" name="Google Shape;36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75" name="Google Shape;3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0" name="Google Shape;39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5" name="Google Shape;40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20" name="Google Shape;42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35" name="Google Shape;43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50" name="Google Shape;45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71" name="Google Shape;47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4" name="Google Shape;48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6" name="Google Shape;49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17" name="Google Shape;51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36" name="Google Shape;53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5" name="Google Shape;55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74" name="Google Shape;57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80" name="Google Shape;58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1" name="Google Shape;58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88" name="Google Shape;58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9" name="Google Shape;58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03" name="Google Shape;60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4" name="Google Shape;60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15" name="Google Shape;61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5"/>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0" name="Shape 50"/>
        <p:cNvGrpSpPr/>
        <p:nvPr/>
      </p:nvGrpSpPr>
      <p:grpSpPr>
        <a:xfrm>
          <a:off x="0" y="0"/>
          <a:ext cx="0" cy="0"/>
          <a:chOff x="0" y="0"/>
          <a:chExt cx="0" cy="0"/>
        </a:xfrm>
      </p:grpSpPr>
      <p:sp>
        <p:nvSpPr>
          <p:cNvPr id="51" name="Google Shape;51;p6"/>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 name="Google Shape;53;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7"/>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 type="body"/>
          </p:nvPr>
        </p:nvSpPr>
        <p:spPr>
          <a:xfrm rot="5400000">
            <a:off x="2377281" y="15080"/>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8"/>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8"/>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3" name="Shape 73"/>
        <p:cNvGrpSpPr/>
        <p:nvPr/>
      </p:nvGrpSpPr>
      <p:grpSpPr>
        <a:xfrm>
          <a:off x="0" y="0"/>
          <a:ext cx="0" cy="0"/>
          <a:chOff x="0" y="0"/>
          <a:chExt cx="0" cy="0"/>
        </a:xfrm>
      </p:grpSpPr>
      <p:sp>
        <p:nvSpPr>
          <p:cNvPr id="74" name="Google Shape;74;p1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6" name="Google Shape;76;p10"/>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7" name="Google Shape;77;p10"/>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8" name="Google Shape;78;p10"/>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9" name="Google Shape;79;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103" name="Shape 103"/>
        <p:cNvGrpSpPr/>
        <p:nvPr/>
      </p:nvGrpSpPr>
      <p:grpSpPr>
        <a:xfrm>
          <a:off x="0" y="0"/>
          <a:ext cx="0" cy="0"/>
          <a:chOff x="0" y="0"/>
          <a:chExt cx="0" cy="0"/>
        </a:xfrm>
      </p:grpSpPr>
      <p:sp>
        <p:nvSpPr>
          <p:cNvPr id="104" name="Google Shape;104;p14"/>
          <p:cNvSpPr txBox="1"/>
          <p:nvPr>
            <p:ph type="title"/>
          </p:nvPr>
        </p:nvSpPr>
        <p:spPr>
          <a:xfrm>
            <a:off x="609600" y="304800"/>
            <a:ext cx="7772400" cy="9906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4"/>
          <p:cNvSpPr txBox="1"/>
          <p:nvPr>
            <p:ph idx="1" type="body"/>
          </p:nvPr>
        </p:nvSpPr>
        <p:spPr>
          <a:xfrm>
            <a:off x="685800" y="1524000"/>
            <a:ext cx="7772400" cy="22479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6" name="Google Shape;106;p14"/>
          <p:cNvSpPr txBox="1"/>
          <p:nvPr>
            <p:ph idx="2" type="body"/>
          </p:nvPr>
        </p:nvSpPr>
        <p:spPr>
          <a:xfrm>
            <a:off x="685800" y="3924300"/>
            <a:ext cx="7772400" cy="22479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1" name="Shape 121"/>
        <p:cNvGrpSpPr/>
        <p:nvPr/>
      </p:nvGrpSpPr>
      <p:grpSpPr>
        <a:xfrm>
          <a:off x="0" y="0"/>
          <a:ext cx="0" cy="0"/>
          <a:chOff x="0" y="0"/>
          <a:chExt cx="0" cy="0"/>
        </a:xfrm>
      </p:grpSpPr>
      <p:sp>
        <p:nvSpPr>
          <p:cNvPr id="122" name="Google Shape;122;p16"/>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6"/>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4" name="Google Shape;124;p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37" name="Shape 137"/>
        <p:cNvGrpSpPr/>
        <p:nvPr/>
      </p:nvGrpSpPr>
      <p:grpSpPr>
        <a:xfrm>
          <a:off x="0" y="0"/>
          <a:ext cx="0" cy="0"/>
          <a:chOff x="0" y="0"/>
          <a:chExt cx="0" cy="0"/>
        </a:xfrm>
      </p:grpSpPr>
      <p:sp>
        <p:nvSpPr>
          <p:cNvPr id="138" name="Google Shape;138;p1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0" name="Google Shape;140;p1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640"/>
              </a:spcBef>
              <a:spcAft>
                <a:spcPts val="0"/>
              </a:spcAft>
              <a:buClr>
                <a:srgbClr val="0BD0D9"/>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41" name="Google Shape;141;p1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9.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1.xml"/><Relationship Id="rId3"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1" name="Google Shape;11;p1"/>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grpSp>
        <p:nvGrpSpPr>
          <p:cNvPr id="12" name="Google Shape;12;p1"/>
          <p:cNvGrpSpPr/>
          <p:nvPr/>
        </p:nvGrpSpPr>
        <p:grpSpPr>
          <a:xfrm>
            <a:off x="-29327" y="-14808"/>
            <a:ext cx="9198219" cy="1083716"/>
            <a:chOff x="-29322" y="-1971"/>
            <a:chExt cx="9198255" cy="1086266"/>
          </a:xfrm>
        </p:grpSpPr>
        <p:sp>
          <p:nvSpPr>
            <p:cNvPr id="13" name="Google Shape;13;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4" name="Google Shape;14;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5" name="Google Shape;15;p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6" name="Google Shape;16;p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7" name="Google Shape;17;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8" name="Google Shape;18;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9" name="Google Shape;19;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 name="Shape 26"/>
        <p:cNvGrpSpPr/>
        <p:nvPr/>
      </p:nvGrpSpPr>
      <p:grpSpPr>
        <a:xfrm>
          <a:off x="0" y="0"/>
          <a:ext cx="0" cy="0"/>
          <a:chOff x="0" y="0"/>
          <a:chExt cx="0" cy="0"/>
        </a:xfrm>
      </p:grpSpPr>
      <p:sp>
        <p:nvSpPr>
          <p:cNvPr id="27" name="Google Shape;27;p3"/>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 name="Google Shape;28;p3"/>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 name="Google Shape;29;p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30" name="Google Shape;30;p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grpSp>
        <p:nvGrpSpPr>
          <p:cNvPr id="34" name="Google Shape;34;p3"/>
          <p:cNvGrpSpPr/>
          <p:nvPr/>
        </p:nvGrpSpPr>
        <p:grpSpPr>
          <a:xfrm>
            <a:off x="-29327" y="-14808"/>
            <a:ext cx="9198219" cy="1083716"/>
            <a:chOff x="-29322" y="-1971"/>
            <a:chExt cx="9198255" cy="1086266"/>
          </a:xfrm>
        </p:grpSpPr>
        <p:sp>
          <p:nvSpPr>
            <p:cNvPr id="35" name="Google Shape;35;p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36" name="Google Shape;36;p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2" name="Shape 82"/>
        <p:cNvGrpSpPr/>
        <p:nvPr/>
      </p:nvGrpSpPr>
      <p:grpSpPr>
        <a:xfrm>
          <a:off x="0" y="0"/>
          <a:ext cx="0" cy="0"/>
          <a:chOff x="0" y="0"/>
          <a:chExt cx="0" cy="0"/>
        </a:xfrm>
      </p:grpSpPr>
      <p:sp>
        <p:nvSpPr>
          <p:cNvPr id="83" name="Google Shape;83;p11"/>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 name="Google Shape;84;p11"/>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85" name="Google Shape;85;p11"/>
          <p:cNvGrpSpPr/>
          <p:nvPr/>
        </p:nvGrpSpPr>
        <p:grpSpPr>
          <a:xfrm>
            <a:off x="-29327" y="-14808"/>
            <a:ext cx="9198219" cy="1083716"/>
            <a:chOff x="-29322" y="-1971"/>
            <a:chExt cx="9198255" cy="1086266"/>
          </a:xfrm>
        </p:grpSpPr>
        <p:sp>
          <p:nvSpPr>
            <p:cNvPr id="86" name="Google Shape;86;p1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87" name="Google Shape;87;p1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
        <p:nvSpPr>
          <p:cNvPr id="88" name="Google Shape;88;p1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89" name="Google Shape;89;p1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Tree>
  </p:cSld>
  <p:clrMap accent1="accent1" accent2="accent2" accent3="accent3" accent4="accent4" accent5="accent5" accent6="accent6" bg1="lt1" bg2="dk2" tx1="dk1" tx2="lt2" folHlink="folHlink" hlink="hlink"/>
  <p:sldLayoutIdLst>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2" name="Shape 92"/>
        <p:cNvGrpSpPr/>
        <p:nvPr/>
      </p:nvGrpSpPr>
      <p:grpSpPr>
        <a:xfrm>
          <a:off x="0" y="0"/>
          <a:ext cx="0" cy="0"/>
          <a:chOff x="0" y="0"/>
          <a:chExt cx="0" cy="0"/>
        </a:xfrm>
      </p:grpSpPr>
      <p:sp>
        <p:nvSpPr>
          <p:cNvPr id="93" name="Google Shape;93;p13"/>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 name="Google Shape;94;p13"/>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95" name="Google Shape;95;p13"/>
          <p:cNvGrpSpPr/>
          <p:nvPr/>
        </p:nvGrpSpPr>
        <p:grpSpPr>
          <a:xfrm>
            <a:off x="-29327" y="-14808"/>
            <a:ext cx="9198219" cy="1083716"/>
            <a:chOff x="-29322" y="-1971"/>
            <a:chExt cx="9198255" cy="1086266"/>
          </a:xfrm>
        </p:grpSpPr>
        <p:sp>
          <p:nvSpPr>
            <p:cNvPr id="96" name="Google Shape;96;p1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97" name="Google Shape;97;p1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
        <p:nvSpPr>
          <p:cNvPr id="98" name="Google Shape;98;p1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99" name="Google Shape;99;p1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00" name="Google Shape;100;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2" name="Google Shape;102;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0" name="Shape 110"/>
        <p:cNvGrpSpPr/>
        <p:nvPr/>
      </p:nvGrpSpPr>
      <p:grpSpPr>
        <a:xfrm>
          <a:off x="0" y="0"/>
          <a:ext cx="0" cy="0"/>
          <a:chOff x="0" y="0"/>
          <a:chExt cx="0" cy="0"/>
        </a:xfrm>
      </p:grpSpPr>
      <p:sp>
        <p:nvSpPr>
          <p:cNvPr id="111" name="Google Shape;111;p15"/>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12" name="Google Shape;112;p15"/>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grpSp>
        <p:nvGrpSpPr>
          <p:cNvPr id="113" name="Google Shape;113;p15"/>
          <p:cNvGrpSpPr/>
          <p:nvPr/>
        </p:nvGrpSpPr>
        <p:grpSpPr>
          <a:xfrm>
            <a:off x="-29327" y="-14808"/>
            <a:ext cx="9198219" cy="1083716"/>
            <a:chOff x="-29322" y="-1971"/>
            <a:chExt cx="9198255" cy="1086266"/>
          </a:xfrm>
        </p:grpSpPr>
        <p:sp>
          <p:nvSpPr>
            <p:cNvPr id="114" name="Google Shape;114;p1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15" name="Google Shape;115;p1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16" name="Google Shape;116;p1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17" name="Google Shape;117;p15"/>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18" name="Google Shape;118;p1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19" name="Google Shape;119;p1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20" name="Google Shape;120;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7" name="Shape 127"/>
        <p:cNvGrpSpPr/>
        <p:nvPr/>
      </p:nvGrpSpPr>
      <p:grpSpPr>
        <a:xfrm>
          <a:off x="0" y="0"/>
          <a:ext cx="0" cy="0"/>
          <a:chOff x="0" y="0"/>
          <a:chExt cx="0" cy="0"/>
        </a:xfrm>
      </p:grpSpPr>
      <p:sp>
        <p:nvSpPr>
          <p:cNvPr id="128" name="Google Shape;128;p17"/>
          <p:cNvSpPr/>
          <p:nvPr/>
        </p:nvSpPr>
        <p:spPr>
          <a:xfrm flipH="1" rot="-10380000">
            <a:off x="3165475" y="1108075"/>
            <a:ext cx="5257800" cy="4114800"/>
          </a:xfrm>
          <a:custGeom>
            <a:rect b="b" l="l" r="r" t="t"/>
            <a:pathLst>
              <a:path extrusionOk="0" h="4114800" w="5257800">
                <a:moveTo>
                  <a:pt x="0" y="0"/>
                </a:moveTo>
                <a:lnTo>
                  <a:pt x="5107774" y="0"/>
                </a:lnTo>
                <a:lnTo>
                  <a:pt x="5257800" y="150026"/>
                </a:lnTo>
                <a:lnTo>
                  <a:pt x="5257800" y="4114800"/>
                </a:lnTo>
                <a:lnTo>
                  <a:pt x="0" y="4114800"/>
                </a:lnTo>
                <a:lnTo>
                  <a:pt x="0" y="0"/>
                </a:lnTo>
                <a:lnTo>
                  <a:pt x="0" y="0"/>
                </a:lnTo>
                <a:close/>
              </a:path>
            </a:pathLst>
          </a:custGeom>
          <a:solidFill>
            <a:srgbClr val="FFFFFF"/>
          </a:solidFill>
          <a:ln cap="rnd" cmpd="sng" w="9525">
            <a:solidFill>
              <a:srgbClr val="C0C0C0"/>
            </a:solidFill>
            <a:prstDash val="solid"/>
            <a:miter lim="800000"/>
            <a:headEnd len="sm" w="sm" type="none"/>
            <a:tailEnd len="sm" w="sm" type="none"/>
          </a:ln>
          <a:effectLst>
            <a:outerShdw blurRad="63500" sx="98500" kx="98485" dir="7500041" dist="38499" sy="100079">
              <a:srgbClr val="000000">
                <a:alpha val="24705"/>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 name="Google Shape;129;p17"/>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63500" dir="12899787" dist="6350">
              <a:srgbClr val="000000">
                <a:alpha val="4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 name="Google Shape;130;p17"/>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 name="Google Shape;131;p17"/>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 name="Google Shape;132;p17"/>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33" name="Google Shape;133;p17"/>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34" name="Google Shape;134;p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5" name="Google Shape;135;p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6" name="Google Shape;136;p17"/>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idx="4294967295"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marR="0" rtl="0" algn="r">
              <a:lnSpc>
                <a:spcPct val="100000"/>
              </a:lnSpc>
              <a:spcBef>
                <a:spcPts val="0"/>
              </a:spcBef>
              <a:spcAft>
                <a:spcPts val="0"/>
              </a:spcAft>
              <a:buClr>
                <a:srgbClr val="4CE0EA"/>
              </a:buClr>
              <a:buSzPts val="5600"/>
              <a:buFont typeface="Calibri"/>
              <a:buNone/>
            </a:pPr>
            <a:r>
              <a:rPr b="1" i="0" lang="en-US" sz="5600" u="none" cap="none" strike="noStrike">
                <a:solidFill>
                  <a:srgbClr val="4CE0EA"/>
                </a:solidFill>
                <a:latin typeface="Calibri"/>
                <a:ea typeface="Calibri"/>
                <a:cs typeface="Calibri"/>
                <a:sym typeface="Calibri"/>
              </a:rPr>
              <a:t>Recursion</a:t>
            </a:r>
            <a:endParaRPr b="1" i="0" sz="5600" u="none" cap="none" strike="noStrike">
              <a:solidFill>
                <a:srgbClr val="4CE0EA"/>
              </a:solidFill>
              <a:latin typeface="Calibri"/>
              <a:ea typeface="Calibri"/>
              <a:cs typeface="Calibri"/>
              <a:sym typeface="Calibri"/>
            </a:endParaRPr>
          </a:p>
        </p:txBody>
      </p:sp>
      <p:sp>
        <p:nvSpPr>
          <p:cNvPr id="150" name="Google Shape;150;p19"/>
          <p:cNvSpPr txBox="1"/>
          <p:nvPr>
            <p:ph idx="1" type="subTitle"/>
          </p:nvPr>
        </p:nvSpPr>
        <p:spPr>
          <a:xfrm>
            <a:off x="533400" y="3228975"/>
            <a:ext cx="7854950" cy="1752600"/>
          </a:xfrm>
          <a:prstGeom prst="rect">
            <a:avLst/>
          </a:prstGeom>
          <a:noFill/>
          <a:ln>
            <a:noFill/>
          </a:ln>
        </p:spPr>
        <p:txBody>
          <a:bodyPr anchorCtr="0" anchor="t" bIns="45700" lIns="0" spcFirstLastPara="1" rIns="18275" wrap="square" tIns="45700">
            <a:noAutofit/>
          </a:bodyPr>
          <a:lstStyle/>
          <a:p>
            <a:pPr indent="0" lvl="0" marL="0" marR="45720" rtl="0" algn="r">
              <a:spcBef>
                <a:spcPts val="0"/>
              </a:spcBef>
              <a:spcAft>
                <a:spcPts val="0"/>
              </a:spcAft>
              <a:buSzPts val="2470"/>
              <a:buNone/>
            </a:pPr>
            <a:r>
              <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Recursion</a:t>
            </a:r>
            <a:endParaRPr/>
          </a:p>
        </p:txBody>
      </p:sp>
      <p:sp>
        <p:nvSpPr>
          <p:cNvPr id="156" name="Google Shape;156;p20"/>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just">
              <a:lnSpc>
                <a:spcPct val="100000"/>
              </a:lnSpc>
              <a:spcBef>
                <a:spcPts val="0"/>
              </a:spcBef>
              <a:spcAft>
                <a:spcPts val="0"/>
              </a:spcAft>
              <a:buClr>
                <a:srgbClr val="0BD0D9"/>
              </a:buClr>
              <a:buSzPts val="2470"/>
              <a:buFont typeface="Noto Sans Symbols"/>
              <a:buChar char="⚫"/>
            </a:pPr>
            <a:r>
              <a:rPr b="1" i="1" lang="en-US" sz="2600" u="none" cap="none" strike="noStrike">
                <a:solidFill>
                  <a:schemeClr val="dk1"/>
                </a:solidFill>
                <a:latin typeface="Constantia"/>
                <a:ea typeface="Constantia"/>
                <a:cs typeface="Constantia"/>
                <a:sym typeface="Constantia"/>
              </a:rPr>
              <a:t>Recursion</a:t>
            </a:r>
            <a:r>
              <a:rPr b="0" i="0" lang="en-US" sz="2600" u="none" cap="none" strike="noStrike">
                <a:solidFill>
                  <a:schemeClr val="dk1"/>
                </a:solidFill>
                <a:latin typeface="Constantia"/>
                <a:ea typeface="Constantia"/>
                <a:cs typeface="Constantia"/>
                <a:sym typeface="Constantia"/>
              </a:rPr>
              <a:t> is a technique that solves a problem by solving a smaller problem of the same type.</a:t>
            </a:r>
            <a:endParaRPr/>
          </a:p>
          <a:p>
            <a:pPr indent="-273050" lvl="0" marL="273050" marR="0" rtl="0" algn="just">
              <a:lnSpc>
                <a:spcPct val="100000"/>
              </a:lnSpc>
              <a:spcBef>
                <a:spcPts val="520"/>
              </a:spcBef>
              <a:spcAft>
                <a:spcPts val="0"/>
              </a:spcAft>
              <a:buClr>
                <a:srgbClr val="0BD0D9"/>
              </a:buClr>
              <a:buSzPts val="2470"/>
              <a:buFont typeface="Noto Sans Symbols"/>
              <a:buChar char="⚫"/>
            </a:pPr>
            <a:r>
              <a:rPr b="0" i="0" lang="en-US" sz="2600" u="none" cap="none" strike="noStrike">
                <a:solidFill>
                  <a:schemeClr val="dk1"/>
                </a:solidFill>
                <a:latin typeface="Constantia"/>
                <a:ea typeface="Constantia"/>
                <a:cs typeface="Constantia"/>
                <a:sym typeface="Constantia"/>
              </a:rPr>
              <a:t>A </a:t>
            </a:r>
            <a:r>
              <a:rPr b="1" i="1" lang="en-US" sz="2600" u="none" cap="none" strike="noStrike">
                <a:solidFill>
                  <a:schemeClr val="dk1"/>
                </a:solidFill>
                <a:latin typeface="Constantia"/>
                <a:ea typeface="Constantia"/>
                <a:cs typeface="Constantia"/>
                <a:sym typeface="Constantia"/>
              </a:rPr>
              <a:t>recursive function</a:t>
            </a:r>
            <a:r>
              <a:rPr b="0" i="0" lang="en-US" sz="2600" u="none" cap="none" strike="noStrike">
                <a:solidFill>
                  <a:schemeClr val="dk1"/>
                </a:solidFill>
                <a:latin typeface="Constantia"/>
                <a:ea typeface="Constantia"/>
                <a:cs typeface="Constantia"/>
                <a:sym typeface="Constantia"/>
              </a:rPr>
              <a:t> is a function invoking itself, either directly or indirectly.</a:t>
            </a:r>
            <a:endParaRPr/>
          </a:p>
          <a:p>
            <a:pPr indent="-273050" lvl="0" marL="273050" marR="0" rtl="0" algn="just">
              <a:lnSpc>
                <a:spcPct val="100000"/>
              </a:lnSpc>
              <a:spcBef>
                <a:spcPts val="520"/>
              </a:spcBef>
              <a:spcAft>
                <a:spcPts val="0"/>
              </a:spcAft>
              <a:buClr>
                <a:srgbClr val="0BD0D9"/>
              </a:buClr>
              <a:buSzPts val="2470"/>
              <a:buFont typeface="Noto Sans Symbols"/>
              <a:buChar char="⚫"/>
            </a:pPr>
            <a:r>
              <a:rPr b="0" i="0" lang="en-US" sz="2600" u="none" cap="none" strike="noStrike">
                <a:solidFill>
                  <a:schemeClr val="dk1"/>
                </a:solidFill>
                <a:latin typeface="Constantia"/>
                <a:ea typeface="Constantia"/>
                <a:cs typeface="Constantia"/>
                <a:sym typeface="Constantia"/>
              </a:rPr>
              <a:t>Recursion can be used as an alternative to iteration.</a:t>
            </a:r>
            <a:endParaRPr/>
          </a:p>
          <a:p>
            <a:pPr indent="-273050" lvl="0" marL="273050" marR="0" rtl="0" algn="just">
              <a:lnSpc>
                <a:spcPct val="100000"/>
              </a:lnSpc>
              <a:spcBef>
                <a:spcPts val="520"/>
              </a:spcBef>
              <a:spcAft>
                <a:spcPts val="0"/>
              </a:spcAft>
              <a:buClr>
                <a:srgbClr val="0BD0D9"/>
              </a:buClr>
              <a:buSzPts val="2470"/>
              <a:buFont typeface="Noto Sans Symbols"/>
              <a:buChar char="⚫"/>
            </a:pPr>
            <a:r>
              <a:rPr b="0" i="0" lang="en-US" sz="2600" u="none" cap="none" strike="noStrike">
                <a:solidFill>
                  <a:schemeClr val="dk1"/>
                </a:solidFill>
                <a:latin typeface="Constantia"/>
                <a:ea typeface="Constantia"/>
                <a:cs typeface="Constantia"/>
                <a:sym typeface="Constantia"/>
              </a:rPr>
              <a:t>Recursion is an important and powerful tool in problem solving And programming. </a:t>
            </a:r>
            <a:endParaRPr/>
          </a:p>
          <a:p>
            <a:pPr indent="-273050" lvl="0" marL="273050" marR="0" rtl="0" algn="just">
              <a:lnSpc>
                <a:spcPct val="100000"/>
              </a:lnSpc>
              <a:spcBef>
                <a:spcPts val="520"/>
              </a:spcBef>
              <a:spcAft>
                <a:spcPts val="0"/>
              </a:spcAft>
              <a:buClr>
                <a:srgbClr val="0BD0D9"/>
              </a:buClr>
              <a:buSzPts val="2470"/>
              <a:buFont typeface="Noto Sans Symbols"/>
              <a:buChar char="⚫"/>
            </a:pPr>
            <a:r>
              <a:rPr b="0" i="0" lang="en-US" sz="2600" u="none" cap="none" strike="noStrike">
                <a:solidFill>
                  <a:schemeClr val="dk1"/>
                </a:solidFill>
                <a:latin typeface="Constantia"/>
                <a:ea typeface="Constantia"/>
                <a:cs typeface="Constantia"/>
                <a:sym typeface="Constantia"/>
              </a:rPr>
              <a:t>Recursion is a programming technique that naturally implements 	the divide-and-conquer problem solving methodology.</a:t>
            </a:r>
            <a:endParaRPr/>
          </a:p>
          <a:p>
            <a:pPr indent="-116204" lvl="0" marL="273050" marR="0" rtl="0" algn="l">
              <a:spcBef>
                <a:spcPts val="520"/>
              </a:spcBef>
              <a:spcAft>
                <a:spcPts val="0"/>
              </a:spcAft>
              <a:buClr>
                <a:srgbClr val="0BD0D9"/>
              </a:buClr>
              <a:buSzPts val="2470"/>
              <a:buFont typeface="Noto Sans Symbols"/>
              <a:buNone/>
            </a:pPr>
            <a:r>
              <a:t/>
            </a:r>
            <a:endParaRPr b="0" i="0" sz="2600" u="none">
              <a:solidFill>
                <a:schemeClr val="dk1"/>
              </a:solidFill>
              <a:latin typeface="Constantia"/>
              <a:ea typeface="Constantia"/>
              <a:cs typeface="Constantia"/>
              <a:sym typeface="Constant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162" name="Google Shape;162;p2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163" name="Google Shape;163;p21"/>
          <p:cNvSpPr txBox="1"/>
          <p:nvPr>
            <p:ph type="title"/>
          </p:nvPr>
        </p:nvSpPr>
        <p:spPr>
          <a:xfrm>
            <a:off x="304800" y="457200"/>
            <a:ext cx="6983412" cy="6858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500"/>
              <a:buFont typeface="Calibri"/>
              <a:buNone/>
            </a:pPr>
            <a:r>
              <a:rPr b="0" i="0" lang="en-US" sz="4500" u="none">
                <a:solidFill>
                  <a:schemeClr val="dk2"/>
                </a:solidFill>
                <a:latin typeface="Calibri"/>
                <a:ea typeface="Calibri"/>
                <a:cs typeface="Calibri"/>
                <a:sym typeface="Calibri"/>
              </a:rPr>
              <a:t>The Nature of Recursion</a:t>
            </a:r>
            <a:endParaRPr/>
          </a:p>
        </p:txBody>
      </p:sp>
      <p:sp>
        <p:nvSpPr>
          <p:cNvPr id="164" name="Google Shape;164;p21"/>
          <p:cNvSpPr txBox="1"/>
          <p:nvPr>
            <p:ph idx="1" type="body"/>
          </p:nvPr>
        </p:nvSpPr>
        <p:spPr>
          <a:xfrm>
            <a:off x="381000" y="1066800"/>
            <a:ext cx="8153400" cy="5029200"/>
          </a:xfrm>
          <a:prstGeom prst="rect">
            <a:avLst/>
          </a:prstGeom>
          <a:noFill/>
          <a:ln>
            <a:noFill/>
          </a:ln>
        </p:spPr>
        <p:txBody>
          <a:bodyPr anchorCtr="0" anchor="t" bIns="45700" lIns="91425" spcFirstLastPara="1" rIns="91425" wrap="square" tIns="45700">
            <a:normAutofit/>
          </a:bodyPr>
          <a:lstStyle/>
          <a:p>
            <a:pPr indent="-609600" lvl="0" marL="609600" rtl="0" algn="just">
              <a:lnSpc>
                <a:spcPct val="90000"/>
              </a:lnSpc>
              <a:spcBef>
                <a:spcPts val="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One or more simple cases of the problem (called the </a:t>
            </a:r>
            <a:r>
              <a:rPr b="0" i="1" lang="en-US" sz="2400" u="none">
                <a:solidFill>
                  <a:schemeClr val="dk1"/>
                </a:solidFill>
                <a:latin typeface="Constantia"/>
                <a:ea typeface="Constantia"/>
                <a:cs typeface="Constantia"/>
                <a:sym typeface="Constantia"/>
              </a:rPr>
              <a:t>stopping cases or base case</a:t>
            </a:r>
            <a:r>
              <a:rPr b="0" i="0" lang="en-US" sz="2400" u="none">
                <a:solidFill>
                  <a:schemeClr val="dk1"/>
                </a:solidFill>
                <a:latin typeface="Constantia"/>
                <a:ea typeface="Constantia"/>
                <a:cs typeface="Constantia"/>
                <a:sym typeface="Constantia"/>
              </a:rPr>
              <a:t>) have a simple non-recursive solution.</a:t>
            </a:r>
            <a:endParaRPr/>
          </a:p>
          <a:p>
            <a:pPr indent="-609600" lvl="0" marL="609600" rtl="0" algn="just">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The other cases of the problem can be reduced (</a:t>
            </a:r>
            <a:r>
              <a:rPr b="0" i="1" lang="en-US" sz="2400" u="none">
                <a:solidFill>
                  <a:schemeClr val="dk1"/>
                </a:solidFill>
                <a:latin typeface="Constantia"/>
                <a:ea typeface="Constantia"/>
                <a:cs typeface="Constantia"/>
                <a:sym typeface="Constantia"/>
              </a:rPr>
              <a:t>using recursion</a:t>
            </a:r>
            <a:r>
              <a:rPr b="0" i="0" lang="en-US" sz="2400" u="none">
                <a:solidFill>
                  <a:schemeClr val="dk1"/>
                </a:solidFill>
                <a:latin typeface="Constantia"/>
                <a:ea typeface="Constantia"/>
                <a:cs typeface="Constantia"/>
                <a:sym typeface="Constantia"/>
              </a:rPr>
              <a:t>) to problems that are closer to stopping cases.</a:t>
            </a:r>
            <a:endParaRPr/>
          </a:p>
          <a:p>
            <a:pPr indent="-609600" lvl="0" marL="609600" rtl="0" algn="just">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Eventually the problem can be reduced to stopping cases only, which are relatively easy to solve.</a:t>
            </a:r>
            <a:endParaRPr/>
          </a:p>
          <a:p>
            <a:pPr indent="-609600" lvl="0" marL="609600" rtl="0" algn="just">
              <a:lnSpc>
                <a:spcPct val="90000"/>
              </a:lnSpc>
              <a:spcBef>
                <a:spcPts val="480"/>
              </a:spcBef>
              <a:spcAft>
                <a:spcPts val="0"/>
              </a:spcAft>
              <a:buSzPts val="2280"/>
              <a:buNone/>
            </a:pPr>
            <a:r>
              <a:t/>
            </a:r>
            <a:endParaRPr b="0" i="0" sz="2400" u="none">
              <a:solidFill>
                <a:schemeClr val="dk1"/>
              </a:solidFill>
              <a:latin typeface="Constantia"/>
              <a:ea typeface="Constantia"/>
              <a:cs typeface="Constantia"/>
              <a:sym typeface="Constantia"/>
            </a:endParaRPr>
          </a:p>
          <a:p>
            <a:pPr indent="-609600" lvl="0" marL="609600" rtl="0" algn="just">
              <a:lnSpc>
                <a:spcPct val="90000"/>
              </a:lnSpc>
              <a:spcBef>
                <a:spcPts val="480"/>
              </a:spcBef>
              <a:spcAft>
                <a:spcPts val="0"/>
              </a:spcAft>
              <a:buSzPts val="2280"/>
              <a:buNone/>
            </a:pPr>
            <a:r>
              <a:rPr b="1" i="1" lang="en-US" sz="2400" u="sng">
                <a:solidFill>
                  <a:schemeClr val="dk1"/>
                </a:solidFill>
                <a:latin typeface="Constantia"/>
                <a:ea typeface="Constantia"/>
                <a:cs typeface="Constantia"/>
                <a:sym typeface="Constantia"/>
              </a:rPr>
              <a:t>In general:</a:t>
            </a:r>
            <a:endParaRPr/>
          </a:p>
          <a:p>
            <a:pPr indent="-609600" lvl="0" marL="609600" rtl="0" algn="just">
              <a:lnSpc>
                <a:spcPct val="90000"/>
              </a:lnSpc>
              <a:spcBef>
                <a:spcPts val="480"/>
              </a:spcBef>
              <a:spcAft>
                <a:spcPts val="0"/>
              </a:spcAft>
              <a:buSzPts val="2280"/>
              <a:buNone/>
            </a:pPr>
            <a:r>
              <a:rPr b="0" i="0" lang="en-US" sz="2400" u="none">
                <a:solidFill>
                  <a:schemeClr val="dk1"/>
                </a:solidFill>
                <a:latin typeface="Constantia"/>
                <a:ea typeface="Constantia"/>
                <a:cs typeface="Constantia"/>
                <a:sym typeface="Constantia"/>
              </a:rPr>
              <a:t>	if </a:t>
            </a:r>
            <a:r>
              <a:rPr b="0" i="1" lang="en-US" sz="2400" u="none">
                <a:solidFill>
                  <a:schemeClr val="dk1"/>
                </a:solidFill>
                <a:latin typeface="Constantia"/>
                <a:ea typeface="Constantia"/>
                <a:cs typeface="Constantia"/>
                <a:sym typeface="Constantia"/>
              </a:rPr>
              <a:t>(stopping case)</a:t>
            </a:r>
            <a:endParaRPr b="0" i="0" sz="2400" u="none">
              <a:solidFill>
                <a:schemeClr val="dk1"/>
              </a:solidFill>
              <a:latin typeface="Constantia"/>
              <a:ea typeface="Constantia"/>
              <a:cs typeface="Constantia"/>
              <a:sym typeface="Constantia"/>
            </a:endParaRPr>
          </a:p>
          <a:p>
            <a:pPr indent="-609600" lvl="0" marL="609600" rtl="0" algn="just">
              <a:lnSpc>
                <a:spcPct val="90000"/>
              </a:lnSpc>
              <a:spcBef>
                <a:spcPts val="480"/>
              </a:spcBef>
              <a:spcAft>
                <a:spcPts val="0"/>
              </a:spcAft>
              <a:buSzPts val="2280"/>
              <a:buNone/>
            </a:pPr>
            <a:r>
              <a:rPr b="0" i="1" lang="en-US" sz="2400" u="none">
                <a:solidFill>
                  <a:schemeClr val="dk1"/>
                </a:solidFill>
                <a:latin typeface="Constantia"/>
                <a:ea typeface="Constantia"/>
                <a:cs typeface="Constantia"/>
                <a:sym typeface="Constantia"/>
              </a:rPr>
              <a:t>	     solve it</a:t>
            </a:r>
            <a:endParaRPr/>
          </a:p>
          <a:p>
            <a:pPr indent="-609600" lvl="0" marL="609600" rtl="0" algn="just">
              <a:lnSpc>
                <a:spcPct val="90000"/>
              </a:lnSpc>
              <a:spcBef>
                <a:spcPts val="480"/>
              </a:spcBef>
              <a:spcAft>
                <a:spcPts val="0"/>
              </a:spcAft>
              <a:buSzPts val="2280"/>
              <a:buNone/>
            </a:pPr>
            <a:r>
              <a:rPr b="0" i="0" lang="en-US" sz="2400" u="none">
                <a:solidFill>
                  <a:schemeClr val="dk1"/>
                </a:solidFill>
                <a:latin typeface="Constantia"/>
                <a:ea typeface="Constantia"/>
                <a:cs typeface="Constantia"/>
                <a:sym typeface="Constantia"/>
              </a:rPr>
              <a:t>	else</a:t>
            </a:r>
            <a:r>
              <a:rPr b="0" i="1" lang="en-US" sz="2400" u="none">
                <a:solidFill>
                  <a:schemeClr val="dk1"/>
                </a:solidFill>
                <a:latin typeface="Constantia"/>
                <a:ea typeface="Constantia"/>
                <a:cs typeface="Constantia"/>
                <a:sym typeface="Constantia"/>
              </a:rPr>
              <a:t> </a:t>
            </a:r>
            <a:endParaRPr b="0" i="0" sz="2400" u="none">
              <a:solidFill>
                <a:schemeClr val="dk1"/>
              </a:solidFill>
              <a:latin typeface="Constantia"/>
              <a:ea typeface="Constantia"/>
              <a:cs typeface="Constantia"/>
              <a:sym typeface="Constantia"/>
            </a:endParaRPr>
          </a:p>
          <a:p>
            <a:pPr indent="-609600" lvl="0" marL="609600" rtl="0" algn="just">
              <a:lnSpc>
                <a:spcPct val="90000"/>
              </a:lnSpc>
              <a:spcBef>
                <a:spcPts val="480"/>
              </a:spcBef>
              <a:spcAft>
                <a:spcPts val="0"/>
              </a:spcAft>
              <a:buSzPts val="2280"/>
              <a:buNone/>
            </a:pPr>
            <a:r>
              <a:rPr b="0" i="1" lang="en-US" sz="2400" u="none">
                <a:solidFill>
                  <a:schemeClr val="dk1"/>
                </a:solidFill>
                <a:latin typeface="Constantia"/>
                <a:ea typeface="Constantia"/>
                <a:cs typeface="Constantia"/>
                <a:sym typeface="Constantia"/>
              </a:rPr>
              <a:t>	     reduce the problem using recursion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170" name="Google Shape;170;p2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171" name="Google Shape;171;p22"/>
          <p:cNvSpPr txBox="1"/>
          <p:nvPr>
            <p:ph type="title"/>
          </p:nvPr>
        </p:nvSpPr>
        <p:spPr>
          <a:xfrm>
            <a:off x="457200" y="53340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200"/>
              <a:buFont typeface="Calibri"/>
              <a:buNone/>
            </a:pPr>
            <a:r>
              <a:rPr b="1" i="0" lang="en-US" sz="3200" u="none">
                <a:solidFill>
                  <a:schemeClr val="dk2"/>
                </a:solidFill>
                <a:latin typeface="Calibri"/>
                <a:ea typeface="Calibri"/>
                <a:cs typeface="Calibri"/>
                <a:sym typeface="Calibri"/>
              </a:rPr>
              <a:t>Four Questions for </a:t>
            </a:r>
            <a:br>
              <a:rPr b="1" i="0" lang="en-US" sz="3200" u="none">
                <a:solidFill>
                  <a:schemeClr val="dk2"/>
                </a:solidFill>
                <a:latin typeface="Calibri"/>
                <a:ea typeface="Calibri"/>
                <a:cs typeface="Calibri"/>
                <a:sym typeface="Calibri"/>
              </a:rPr>
            </a:br>
            <a:r>
              <a:rPr b="1" i="0" lang="en-US" sz="3200" u="none">
                <a:solidFill>
                  <a:schemeClr val="dk2"/>
                </a:solidFill>
                <a:latin typeface="Calibri"/>
                <a:ea typeface="Calibri"/>
                <a:cs typeface="Calibri"/>
                <a:sym typeface="Calibri"/>
              </a:rPr>
              <a:t>Constructing Recursive Solutions</a:t>
            </a:r>
            <a:endParaRPr/>
          </a:p>
        </p:txBody>
      </p:sp>
      <p:sp>
        <p:nvSpPr>
          <p:cNvPr id="172" name="Google Shape;172;p22"/>
          <p:cNvSpPr txBox="1"/>
          <p:nvPr>
            <p:ph idx="1" type="body"/>
          </p:nvPr>
        </p:nvSpPr>
        <p:spPr>
          <a:xfrm>
            <a:off x="381000" y="1524000"/>
            <a:ext cx="8382000" cy="4572000"/>
          </a:xfrm>
          <a:prstGeom prst="rect">
            <a:avLst/>
          </a:prstGeom>
          <a:noFill/>
          <a:ln>
            <a:noFill/>
          </a:ln>
        </p:spPr>
        <p:txBody>
          <a:bodyPr anchorCtr="0" anchor="t" bIns="45700" lIns="91425" spcFirstLastPara="1" rIns="91425" wrap="square" tIns="45700">
            <a:normAutofit/>
          </a:bodyPr>
          <a:lstStyle/>
          <a:p>
            <a:pPr indent="-312420" lvl="0" marL="457200" rtl="0" algn="l">
              <a:lnSpc>
                <a:spcPct val="90000"/>
              </a:lnSpc>
              <a:spcBef>
                <a:spcPts val="0"/>
              </a:spcBef>
              <a:spcAft>
                <a:spcPts val="0"/>
              </a:spcAft>
              <a:buClr>
                <a:srgbClr val="0BD0D9"/>
              </a:buClr>
              <a:buSzPts val="2280"/>
              <a:buNone/>
            </a:pPr>
            <a:r>
              <a:t/>
            </a:r>
            <a:endParaRPr b="0" i="0" sz="24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How can you define the problem in terms of a smaller problem of  the same type?</a:t>
            </a:r>
            <a:endParaRPr/>
          </a:p>
          <a:p>
            <a:pPr indent="-312420" lvl="0" marL="457200" rtl="0" algn="l">
              <a:lnSpc>
                <a:spcPct val="90000"/>
              </a:lnSpc>
              <a:spcBef>
                <a:spcPts val="480"/>
              </a:spcBef>
              <a:spcAft>
                <a:spcPts val="0"/>
              </a:spcAft>
              <a:buClr>
                <a:srgbClr val="0BD0D9"/>
              </a:buClr>
              <a:buSzPts val="2280"/>
              <a:buNone/>
            </a:pPr>
            <a:r>
              <a:t/>
            </a:r>
            <a:endParaRPr b="0" i="0" sz="24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How does each recursive call diminish the size of the problem?</a:t>
            </a:r>
            <a:endParaRPr/>
          </a:p>
          <a:p>
            <a:pPr indent="-312420" lvl="0" marL="457200" rtl="0" algn="l">
              <a:lnSpc>
                <a:spcPct val="90000"/>
              </a:lnSpc>
              <a:spcBef>
                <a:spcPts val="480"/>
              </a:spcBef>
              <a:spcAft>
                <a:spcPts val="0"/>
              </a:spcAft>
              <a:buClr>
                <a:srgbClr val="0BD0D9"/>
              </a:buClr>
              <a:buSzPts val="2280"/>
              <a:buNone/>
            </a:pPr>
            <a:r>
              <a:t/>
            </a:r>
            <a:endParaRPr b="0" i="0" sz="24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What instance of the problem can serve as the base case?</a:t>
            </a:r>
            <a:endParaRPr/>
          </a:p>
          <a:p>
            <a:pPr indent="-312420" lvl="0" marL="457200" rtl="0" algn="l">
              <a:lnSpc>
                <a:spcPct val="90000"/>
              </a:lnSpc>
              <a:spcBef>
                <a:spcPts val="480"/>
              </a:spcBef>
              <a:spcAft>
                <a:spcPts val="0"/>
              </a:spcAft>
              <a:buClr>
                <a:srgbClr val="0BD0D9"/>
              </a:buClr>
              <a:buSzPts val="2280"/>
              <a:buNone/>
            </a:pPr>
            <a:r>
              <a:t/>
            </a:r>
            <a:endParaRPr b="0" i="0" sz="24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a:pPr>
            <a:r>
              <a:rPr b="0" i="0" lang="en-US" sz="2400" u="none">
                <a:solidFill>
                  <a:schemeClr val="dk1"/>
                </a:solidFill>
                <a:latin typeface="Constantia"/>
                <a:ea typeface="Constantia"/>
                <a:cs typeface="Constantia"/>
                <a:sym typeface="Constantia"/>
              </a:rPr>
              <a:t>As the problem size diminishes, will you reach this base case?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457200" y="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Pseudocode Iterative factorial</a:t>
            </a:r>
            <a:endParaRPr/>
          </a:p>
        </p:txBody>
      </p:sp>
      <p:sp>
        <p:nvSpPr>
          <p:cNvPr id="178" name="Google Shape;178;p2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0BD0D9"/>
              </a:buClr>
              <a:buSzPts val="2470"/>
              <a:buFont typeface="Noto Sans Symbols"/>
              <a:buNone/>
            </a:pPr>
            <a:r>
              <a:rPr b="0" i="0" lang="en-US" sz="2600" u="none">
                <a:solidFill>
                  <a:schemeClr val="dk1"/>
                </a:solidFill>
                <a:latin typeface="Constantia"/>
                <a:ea typeface="Constantia"/>
                <a:cs typeface="Constantia"/>
                <a:sym typeface="Constantia"/>
              </a:rPr>
              <a:t>n! = n * (n-1) * (n-2) *  … * 2 * 1		for any integer n&gt;0</a:t>
            </a:r>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nstantia"/>
                <a:ea typeface="Constantia"/>
                <a:cs typeface="Constantia"/>
                <a:sym typeface="Constantia"/>
              </a:rPr>
              <a:t>0! = 1</a:t>
            </a:r>
            <a:endParaRPr/>
          </a:p>
          <a:p>
            <a:pPr indent="-273050" lvl="0" marL="273050" marR="0" rtl="0" algn="l">
              <a:lnSpc>
                <a:spcPct val="90000"/>
              </a:lnSpc>
              <a:spcBef>
                <a:spcPts val="520"/>
              </a:spcBef>
              <a:spcAft>
                <a:spcPts val="0"/>
              </a:spcAft>
              <a:buClr>
                <a:srgbClr val="0BD0D9"/>
              </a:buClr>
              <a:buSzPts val="2470"/>
              <a:buFont typeface="Noto Sans Symbols"/>
              <a:buNone/>
            </a:pPr>
            <a:r>
              <a:t/>
            </a:r>
            <a:endParaRPr b="0" i="0" sz="2600" u="none">
              <a:solidFill>
                <a:schemeClr val="dk1"/>
              </a:solidFill>
              <a:latin typeface="Courier New"/>
              <a:ea typeface="Courier New"/>
              <a:cs typeface="Courier New"/>
              <a:sym typeface="Courier New"/>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function factorIter(n) </a:t>
            </a:r>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  fval = 1;</a:t>
            </a:r>
            <a:endParaRPr b="0" i="0" sz="2600" u="none">
              <a:solidFill>
                <a:schemeClr val="dk1"/>
              </a:solidFill>
              <a:latin typeface="Courier New"/>
              <a:ea typeface="Courier New"/>
              <a:cs typeface="Courier New"/>
              <a:sym typeface="Courier New"/>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   for (i = n; i &gt;= 1; i--)</a:t>
            </a:r>
            <a:endParaRPr b="0" i="0" sz="2600" u="none">
              <a:solidFill>
                <a:schemeClr val="dk1"/>
              </a:solidFill>
              <a:latin typeface="Courier New"/>
              <a:ea typeface="Courier New"/>
              <a:cs typeface="Courier New"/>
              <a:sym typeface="Courier New"/>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	    fval = fval * i;</a:t>
            </a:r>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  return fval;</a:t>
            </a:r>
            <a:endParaRPr/>
          </a:p>
          <a:p>
            <a:pPr indent="-273050" lvl="0" marL="273050" marR="0" rtl="0" algn="l">
              <a:lnSpc>
                <a:spcPct val="90000"/>
              </a:lnSpc>
              <a:spcBef>
                <a:spcPts val="520"/>
              </a:spcBef>
              <a:spcAft>
                <a:spcPts val="0"/>
              </a:spcAft>
              <a:buClr>
                <a:srgbClr val="0BD0D9"/>
              </a:buClr>
              <a:buSzPts val="2470"/>
              <a:buFont typeface="Noto Sans Symbols"/>
              <a:buNone/>
            </a:pPr>
            <a:r>
              <a:rPr b="0" i="0" lang="en-US" sz="2600" u="none">
                <a:solidFill>
                  <a:schemeClr val="dk1"/>
                </a:solidFill>
                <a:latin typeface="Courier New"/>
                <a:ea typeface="Courier New"/>
                <a:cs typeface="Courier New"/>
                <a:sym typeface="Courier New"/>
              </a:rPr>
              <a:t>end function</a:t>
            </a:r>
            <a:endParaRPr/>
          </a:p>
          <a:p>
            <a:pPr indent="-116204" lvl="0" marL="273050" marR="0" rtl="0" algn="l">
              <a:spcBef>
                <a:spcPts val="520"/>
              </a:spcBef>
              <a:spcAft>
                <a:spcPts val="0"/>
              </a:spcAft>
              <a:buClr>
                <a:srgbClr val="0BD0D9"/>
              </a:buClr>
              <a:buSzPts val="2470"/>
              <a:buFont typeface="Noto Sans Symbols"/>
              <a:buNone/>
            </a:pPr>
            <a:r>
              <a:t/>
            </a:r>
            <a:endParaRPr b="0" i="0" sz="2600" u="none">
              <a:solidFill>
                <a:schemeClr val="dk1"/>
              </a:solidFill>
              <a:latin typeface="Courier New"/>
              <a:ea typeface="Courier New"/>
              <a:cs typeface="Courier New"/>
              <a:sym typeface="Courier New"/>
            </a:endParaRPr>
          </a:p>
        </p:txBody>
      </p:sp>
      <p:pic>
        <p:nvPicPr>
          <p:cNvPr id="179" name="Google Shape;179;p23"/>
          <p:cNvPicPr preferRelativeResize="0"/>
          <p:nvPr/>
        </p:nvPicPr>
        <p:blipFill rotWithShape="1">
          <a:blip r:embed="rId3">
            <a:alphaModFix/>
          </a:blip>
          <a:srcRect b="0" l="0" r="0" t="0"/>
          <a:stretch/>
        </p:blipFill>
        <p:spPr>
          <a:xfrm>
            <a:off x="1098550" y="2266950"/>
            <a:ext cx="6823075" cy="1422400"/>
          </a:xfrm>
          <a:prstGeom prst="rect">
            <a:avLst/>
          </a:prstGeom>
          <a:noFill/>
          <a:ln>
            <a:noFill/>
          </a:ln>
        </p:spPr>
      </p:pic>
      <p:pic>
        <p:nvPicPr>
          <p:cNvPr id="180" name="Google Shape;180;p23"/>
          <p:cNvPicPr preferRelativeResize="0"/>
          <p:nvPr/>
        </p:nvPicPr>
        <p:blipFill rotWithShape="1">
          <a:blip r:embed="rId4">
            <a:alphaModFix/>
          </a:blip>
          <a:srcRect b="0" l="0" r="0" t="0"/>
          <a:stretch/>
        </p:blipFill>
        <p:spPr>
          <a:xfrm>
            <a:off x="2071687" y="1133475"/>
            <a:ext cx="3465512" cy="21447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186" name="Google Shape;186;p2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187" name="Google Shape;187;p24"/>
          <p:cNvSpPr txBox="1"/>
          <p:nvPr>
            <p:ph type="title"/>
          </p:nvPr>
        </p:nvSpPr>
        <p:spPr>
          <a:xfrm>
            <a:off x="687387" y="457200"/>
            <a:ext cx="7770812" cy="6858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b="0" i="0" lang="en-US" sz="4000" u="none">
                <a:solidFill>
                  <a:schemeClr val="dk2"/>
                </a:solidFill>
                <a:latin typeface="Calibri"/>
                <a:ea typeface="Calibri"/>
                <a:cs typeface="Calibri"/>
                <a:sym typeface="Calibri"/>
              </a:rPr>
              <a:t>Factorial Function – Iterative Definition</a:t>
            </a:r>
            <a:endParaRPr/>
          </a:p>
        </p:txBody>
      </p:sp>
      <p:sp>
        <p:nvSpPr>
          <p:cNvPr id="188" name="Google Shape;188;p24"/>
          <p:cNvSpPr txBox="1"/>
          <p:nvPr>
            <p:ph idx="1" type="body"/>
          </p:nvPr>
        </p:nvSpPr>
        <p:spPr>
          <a:xfrm>
            <a:off x="457200" y="1524000"/>
            <a:ext cx="8458200" cy="45720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1900"/>
              <a:buNone/>
            </a:pPr>
            <a:r>
              <a:rPr b="0" i="0" lang="en-US" sz="2000" u="none">
                <a:solidFill>
                  <a:schemeClr val="dk1"/>
                </a:solidFill>
                <a:latin typeface="Constantia"/>
                <a:ea typeface="Constantia"/>
                <a:cs typeface="Constantia"/>
                <a:sym typeface="Constantia"/>
              </a:rPr>
              <a:t>n! = n * (n-1) * (n-2) *  … * 2 * 1		for any integer n&gt;0</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0! = 1</a:t>
            </a:r>
            <a:endParaRPr/>
          </a:p>
          <a:p>
            <a:pPr indent="-273050" lvl="0" marL="273050" rtl="0" algn="l">
              <a:lnSpc>
                <a:spcPct val="100000"/>
              </a:lnSpc>
              <a:spcBef>
                <a:spcPts val="520"/>
              </a:spcBef>
              <a:spcAft>
                <a:spcPts val="0"/>
              </a:spcAft>
              <a:buSzPts val="2470"/>
              <a:buNone/>
            </a:pPr>
            <a:r>
              <a:t/>
            </a:r>
            <a:endParaRPr b="0" i="0" sz="2600" u="none">
              <a:solidFill>
                <a:schemeClr val="dk1"/>
              </a:solidFill>
              <a:latin typeface="Constantia"/>
              <a:ea typeface="Constantia"/>
              <a:cs typeface="Constantia"/>
              <a:sym typeface="Constantia"/>
            </a:endParaRPr>
          </a:p>
          <a:p>
            <a:pPr indent="-273050" lvl="0" marL="273050" rtl="0" algn="l">
              <a:lnSpc>
                <a:spcPct val="100000"/>
              </a:lnSpc>
              <a:spcBef>
                <a:spcPts val="520"/>
              </a:spcBef>
              <a:spcAft>
                <a:spcPts val="0"/>
              </a:spcAft>
              <a:buSzPts val="2470"/>
              <a:buNone/>
            </a:pPr>
            <a:r>
              <a:rPr b="1" i="0" lang="en-US" sz="2600" u="sng">
                <a:solidFill>
                  <a:schemeClr val="dk1"/>
                </a:solidFill>
                <a:latin typeface="Constantia"/>
                <a:ea typeface="Constantia"/>
                <a:cs typeface="Constantia"/>
                <a:sym typeface="Constantia"/>
              </a:rPr>
              <a:t>Iterative Definition in C:</a:t>
            </a:r>
            <a:endParaRPr b="0" i="0" sz="2600" u="sng">
              <a:solidFill>
                <a:schemeClr val="dk1"/>
              </a:solidFill>
              <a:latin typeface="Constantia"/>
              <a:ea typeface="Constantia"/>
              <a:cs typeface="Constantia"/>
              <a:sym typeface="Constantia"/>
            </a:endParaRPr>
          </a:p>
          <a:p>
            <a:pPr indent="-273050" lvl="0" marL="27305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fval = 1;</a:t>
            </a:r>
            <a:endParaRPr b="0" i="0" sz="2000" u="none">
              <a:solidFill>
                <a:schemeClr val="dk1"/>
              </a:solidFill>
              <a:latin typeface="Courier New"/>
              <a:ea typeface="Courier New"/>
              <a:cs typeface="Courier New"/>
              <a:sym typeface="Courier New"/>
            </a:endParaRPr>
          </a:p>
          <a:p>
            <a:pPr indent="-273050" lvl="0" marL="27305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for (i = n; i &gt;= 1; i--)</a:t>
            </a:r>
            <a:endParaRPr b="0" i="0" sz="2000" u="none">
              <a:solidFill>
                <a:schemeClr val="dk1"/>
              </a:solidFill>
              <a:latin typeface="Courier New"/>
              <a:ea typeface="Courier New"/>
              <a:cs typeface="Courier New"/>
              <a:sym typeface="Courier New"/>
            </a:endParaRPr>
          </a:p>
          <a:p>
            <a:pPr indent="-273050" lvl="0" marL="27305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fval = fval * i;</a:t>
            </a:r>
            <a:endParaRPr/>
          </a:p>
          <a:p>
            <a:pPr indent="-273050" lvl="0" marL="27305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return fval;</a:t>
            </a:r>
            <a:endParaRPr/>
          </a:p>
        </p:txBody>
      </p:sp>
      <p:pic>
        <p:nvPicPr>
          <p:cNvPr id="189" name="Google Shape;189;p24"/>
          <p:cNvPicPr preferRelativeResize="0"/>
          <p:nvPr/>
        </p:nvPicPr>
        <p:blipFill rotWithShape="1">
          <a:blip r:embed="rId3">
            <a:alphaModFix/>
          </a:blip>
          <a:srcRect b="0" l="0" r="0" t="0"/>
          <a:stretch/>
        </p:blipFill>
        <p:spPr>
          <a:xfrm>
            <a:off x="1401762" y="1928812"/>
            <a:ext cx="4733925" cy="9477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195" name="Google Shape;195;p2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196" name="Google Shape;196;p25"/>
          <p:cNvSpPr txBox="1"/>
          <p:nvPr>
            <p:ph type="title"/>
          </p:nvPr>
        </p:nvSpPr>
        <p:spPr>
          <a:xfrm>
            <a:off x="687387" y="457200"/>
            <a:ext cx="7770812" cy="6858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Factorial Function - Recursive Definition</a:t>
            </a:r>
            <a:endParaRPr/>
          </a:p>
        </p:txBody>
      </p:sp>
      <p:sp>
        <p:nvSpPr>
          <p:cNvPr id="197" name="Google Shape;197;p25"/>
          <p:cNvSpPr txBox="1"/>
          <p:nvPr>
            <p:ph idx="1" type="body"/>
          </p:nvPr>
        </p:nvSpPr>
        <p:spPr>
          <a:xfrm>
            <a:off x="304800" y="1219200"/>
            <a:ext cx="8534400" cy="4876800"/>
          </a:xfrm>
          <a:prstGeom prst="rect">
            <a:avLst/>
          </a:prstGeom>
          <a:noFill/>
          <a:ln>
            <a:noFill/>
          </a:ln>
        </p:spPr>
        <p:txBody>
          <a:bodyPr anchorCtr="0" anchor="t" bIns="45700" lIns="91425" spcFirstLastPara="1" rIns="91425" wrap="square" tIns="45700">
            <a:normAutofit/>
          </a:bodyPr>
          <a:lstStyle/>
          <a:p>
            <a:pPr indent="-273050" lvl="0" marL="273050" rtl="0" algn="just">
              <a:lnSpc>
                <a:spcPct val="90000"/>
              </a:lnSpc>
              <a:spcBef>
                <a:spcPts val="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To define </a:t>
            </a:r>
            <a:r>
              <a:rPr b="1" i="1" lang="en-US" sz="2600" u="none">
                <a:solidFill>
                  <a:schemeClr val="dk1"/>
                </a:solidFill>
                <a:latin typeface="Constantia"/>
                <a:ea typeface="Constantia"/>
                <a:cs typeface="Constantia"/>
                <a:sym typeface="Constantia"/>
              </a:rPr>
              <a:t>n!</a:t>
            </a:r>
            <a:r>
              <a:rPr b="0" i="0" lang="en-US" sz="2600" u="none">
                <a:solidFill>
                  <a:schemeClr val="dk1"/>
                </a:solidFill>
                <a:latin typeface="Constantia"/>
                <a:ea typeface="Constantia"/>
                <a:cs typeface="Constantia"/>
                <a:sym typeface="Constantia"/>
              </a:rPr>
              <a:t> recursively,  </a:t>
            </a:r>
            <a:r>
              <a:rPr b="1" i="1" lang="en-US" sz="2600" u="none">
                <a:solidFill>
                  <a:schemeClr val="dk1"/>
                </a:solidFill>
                <a:latin typeface="Constantia"/>
                <a:ea typeface="Constantia"/>
                <a:cs typeface="Constantia"/>
                <a:sym typeface="Constantia"/>
              </a:rPr>
              <a:t>n!</a:t>
            </a:r>
            <a:r>
              <a:rPr b="0" i="0" lang="en-US" sz="2600" u="none">
                <a:solidFill>
                  <a:schemeClr val="dk1"/>
                </a:solidFill>
                <a:latin typeface="Constantia"/>
                <a:ea typeface="Constantia"/>
                <a:cs typeface="Constantia"/>
                <a:sym typeface="Constantia"/>
              </a:rPr>
              <a:t> must be defined  in terms of the factorial of a smaller number.</a:t>
            </a:r>
            <a:endParaRPr/>
          </a:p>
          <a:p>
            <a:pPr indent="-273050" lvl="0" marL="273050" rtl="0" algn="just">
              <a:lnSpc>
                <a:spcPct val="9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Observation (problem size is reduced):</a:t>
            </a:r>
            <a:endParaRPr/>
          </a:p>
          <a:p>
            <a:pPr indent="-273050" lvl="0" marL="273050" rtl="0" algn="just">
              <a:lnSpc>
                <a:spcPct val="9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		n! = n * (n-1)!			</a:t>
            </a:r>
            <a:endParaRPr/>
          </a:p>
          <a:p>
            <a:pPr indent="-273050" lvl="0" marL="273050" rtl="0" algn="just">
              <a:lnSpc>
                <a:spcPct val="9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Base case:	0! = 1</a:t>
            </a:r>
            <a:endParaRPr/>
          </a:p>
          <a:p>
            <a:pPr indent="-273050" lvl="0" marL="273050" rtl="0" algn="just">
              <a:lnSpc>
                <a:spcPct val="9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We can reach the base case, by subtracting 1 from n if n is a positive integer.</a:t>
            </a:r>
            <a:endParaRPr/>
          </a:p>
          <a:p>
            <a:pPr indent="-273050" lvl="0" marL="273050" rtl="0" algn="just">
              <a:lnSpc>
                <a:spcPct val="90000"/>
              </a:lnSpc>
              <a:spcBef>
                <a:spcPts val="520"/>
              </a:spcBef>
              <a:spcAft>
                <a:spcPts val="0"/>
              </a:spcAft>
              <a:buSzPts val="2470"/>
              <a:buNone/>
            </a:pPr>
            <a:r>
              <a:t/>
            </a:r>
            <a:endParaRPr b="0" i="0" sz="2600" u="none">
              <a:solidFill>
                <a:schemeClr val="dk1"/>
              </a:solidFill>
              <a:latin typeface="Constantia"/>
              <a:ea typeface="Constantia"/>
              <a:cs typeface="Constantia"/>
              <a:sym typeface="Constantia"/>
            </a:endParaRPr>
          </a:p>
          <a:p>
            <a:pPr indent="-273050" lvl="0" marL="273050" rtl="0" algn="just">
              <a:lnSpc>
                <a:spcPct val="90000"/>
              </a:lnSpc>
              <a:spcBef>
                <a:spcPts val="520"/>
              </a:spcBef>
              <a:spcAft>
                <a:spcPts val="0"/>
              </a:spcAft>
              <a:buSzPts val="2470"/>
              <a:buNone/>
            </a:pPr>
            <a:r>
              <a:rPr b="1" i="1" lang="en-US" sz="2600" u="sng">
                <a:solidFill>
                  <a:schemeClr val="dk1"/>
                </a:solidFill>
                <a:latin typeface="Constantia"/>
                <a:ea typeface="Constantia"/>
                <a:cs typeface="Constantia"/>
                <a:sym typeface="Constantia"/>
              </a:rPr>
              <a:t>Recursive Definition:</a:t>
            </a:r>
            <a:endParaRPr/>
          </a:p>
          <a:p>
            <a:pPr indent="-273050" lvl="0" marL="273050" rtl="0" algn="just">
              <a:lnSpc>
                <a:spcPct val="90000"/>
              </a:lnSpc>
              <a:spcBef>
                <a:spcPts val="520"/>
              </a:spcBef>
              <a:spcAft>
                <a:spcPts val="0"/>
              </a:spcAft>
              <a:buSzPts val="2470"/>
              <a:buNone/>
            </a:pPr>
            <a:r>
              <a:rPr b="0" i="1" lang="en-US" sz="2600" u="none">
                <a:solidFill>
                  <a:schemeClr val="dk1"/>
                </a:solidFill>
                <a:latin typeface="Constantia"/>
                <a:ea typeface="Constantia"/>
                <a:cs typeface="Constantia"/>
                <a:sym typeface="Constantia"/>
              </a:rPr>
              <a:t>  		n! = 1 			</a:t>
            </a:r>
            <a:r>
              <a:rPr b="0" i="0" lang="en-US" sz="2600" u="none">
                <a:solidFill>
                  <a:schemeClr val="dk1"/>
                </a:solidFill>
                <a:latin typeface="Constantia"/>
                <a:ea typeface="Constantia"/>
                <a:cs typeface="Constantia"/>
                <a:sym typeface="Constantia"/>
              </a:rPr>
              <a:t>if</a:t>
            </a:r>
            <a:r>
              <a:rPr b="0" i="1" lang="en-US" sz="2600" u="none">
                <a:solidFill>
                  <a:schemeClr val="dk1"/>
                </a:solidFill>
                <a:latin typeface="Constantia"/>
                <a:ea typeface="Constantia"/>
                <a:cs typeface="Constantia"/>
                <a:sym typeface="Constantia"/>
              </a:rPr>
              <a:t> n = 0</a:t>
            </a:r>
            <a:endParaRPr/>
          </a:p>
          <a:p>
            <a:pPr indent="-273050" lvl="0" marL="273050" rtl="0" algn="just">
              <a:lnSpc>
                <a:spcPct val="90000"/>
              </a:lnSpc>
              <a:spcBef>
                <a:spcPts val="520"/>
              </a:spcBef>
              <a:spcAft>
                <a:spcPts val="0"/>
              </a:spcAft>
              <a:buSzPts val="2470"/>
              <a:buNone/>
            </a:pPr>
            <a:r>
              <a:rPr b="0" i="1" lang="en-US" sz="2600" u="none">
                <a:solidFill>
                  <a:schemeClr val="dk1"/>
                </a:solidFill>
                <a:latin typeface="Constantia"/>
                <a:ea typeface="Constantia"/>
                <a:cs typeface="Constantia"/>
                <a:sym typeface="Constantia"/>
              </a:rPr>
              <a:t>  		n! = n*(n-1)! 		</a:t>
            </a:r>
            <a:r>
              <a:rPr b="0" i="0" lang="en-US" sz="2600" u="none">
                <a:solidFill>
                  <a:schemeClr val="dk1"/>
                </a:solidFill>
                <a:latin typeface="Constantia"/>
                <a:ea typeface="Constantia"/>
                <a:cs typeface="Constantia"/>
                <a:sym typeface="Constantia"/>
              </a:rPr>
              <a:t>if</a:t>
            </a:r>
            <a:r>
              <a:rPr b="0" i="1" lang="en-US" sz="2600" u="none">
                <a:solidFill>
                  <a:schemeClr val="dk1"/>
                </a:solidFill>
                <a:latin typeface="Constantia"/>
                <a:ea typeface="Constantia"/>
                <a:cs typeface="Constantia"/>
                <a:sym typeface="Constantia"/>
              </a:rPr>
              <a:t> n &gt; 0</a:t>
            </a:r>
            <a:endParaRPr/>
          </a:p>
          <a:p>
            <a:pPr indent="-116204" lvl="0" marL="273050" rtl="0" algn="l">
              <a:spcBef>
                <a:spcPts val="520"/>
              </a:spcBef>
              <a:spcAft>
                <a:spcPts val="0"/>
              </a:spcAft>
              <a:buSzPts val="2470"/>
              <a:buNone/>
            </a:pPr>
            <a:r>
              <a:t/>
            </a:r>
            <a:endParaRPr b="0" i="1" sz="2600" u="none">
              <a:solidFill>
                <a:schemeClr val="dk1"/>
              </a:solidFill>
              <a:latin typeface="Constantia"/>
              <a:ea typeface="Constantia"/>
              <a:cs typeface="Constantia"/>
              <a:sym typeface="Constantia"/>
            </a:endParaRPr>
          </a:p>
        </p:txBody>
      </p:sp>
      <p:pic>
        <p:nvPicPr>
          <p:cNvPr id="198" name="Google Shape;198;p25"/>
          <p:cNvPicPr preferRelativeResize="0"/>
          <p:nvPr/>
        </p:nvPicPr>
        <p:blipFill rotWithShape="1">
          <a:blip r:embed="rId3">
            <a:alphaModFix/>
          </a:blip>
          <a:srcRect b="0" l="0" r="0" t="0"/>
          <a:stretch/>
        </p:blipFill>
        <p:spPr>
          <a:xfrm>
            <a:off x="1316037" y="2344737"/>
            <a:ext cx="3776662" cy="941387"/>
          </a:xfrm>
          <a:prstGeom prst="rect">
            <a:avLst/>
          </a:prstGeom>
          <a:noFill/>
          <a:ln>
            <a:noFill/>
          </a:ln>
        </p:spPr>
      </p:pic>
      <p:pic>
        <p:nvPicPr>
          <p:cNvPr id="199" name="Google Shape;199;p25"/>
          <p:cNvPicPr preferRelativeResize="0"/>
          <p:nvPr/>
        </p:nvPicPr>
        <p:blipFill rotWithShape="1">
          <a:blip r:embed="rId4">
            <a:alphaModFix/>
          </a:blip>
          <a:srcRect b="0" l="0" r="0" t="0"/>
          <a:stretch/>
        </p:blipFill>
        <p:spPr>
          <a:xfrm>
            <a:off x="1276350" y="4035425"/>
            <a:ext cx="7537450" cy="2546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381000" y="38100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Pseudocode recursive factorial</a:t>
            </a:r>
            <a:endParaRPr/>
          </a:p>
        </p:txBody>
      </p:sp>
      <p:sp>
        <p:nvSpPr>
          <p:cNvPr id="205" name="Google Shape;205;p26"/>
          <p:cNvSpPr txBox="1"/>
          <p:nvPr>
            <p:ph idx="1" type="body"/>
          </p:nvPr>
        </p:nvSpPr>
        <p:spPr>
          <a:xfrm>
            <a:off x="457200" y="1524000"/>
            <a:ext cx="8229600" cy="43894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 Computes the factorial of a nonnegative integer. Precondition: n must be greater than or equal to 0. Postcondition: Returns the factorial of n; n is unchanged.*/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int fact(int n)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if (n ==0)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return (1);</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else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return (n * fact(n-1));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nstantia"/>
                <a:ea typeface="Constantia"/>
                <a:cs typeface="Constantia"/>
                <a:sym typeface="Constantia"/>
              </a:rPr>
              <a:t>• This fact function satisfies the four criteria of a recursive solution. </a:t>
            </a:r>
            <a:endParaRPr/>
          </a:p>
        </p:txBody>
      </p:sp>
      <p:pic>
        <p:nvPicPr>
          <p:cNvPr id="206" name="Google Shape;206;p26"/>
          <p:cNvPicPr preferRelativeResize="0"/>
          <p:nvPr/>
        </p:nvPicPr>
        <p:blipFill rotWithShape="1">
          <a:blip r:embed="rId3">
            <a:alphaModFix/>
          </a:blip>
          <a:srcRect b="0" l="0" r="0" t="0"/>
          <a:stretch/>
        </p:blipFill>
        <p:spPr>
          <a:xfrm>
            <a:off x="2598737" y="5338762"/>
            <a:ext cx="6350000" cy="1216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457200" y="704850"/>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500"/>
              <a:buFont typeface="Calibri"/>
              <a:buNone/>
            </a:pPr>
            <a:r>
              <a:rPr b="0" i="0" lang="en-US" sz="4500" u="none">
                <a:solidFill>
                  <a:schemeClr val="dk2"/>
                </a:solidFill>
                <a:latin typeface="Calibri"/>
                <a:ea typeface="Calibri"/>
                <a:cs typeface="Calibri"/>
                <a:sym typeface="Calibri"/>
              </a:rPr>
              <a:t>Factorial Function - Recursive Definition</a:t>
            </a:r>
            <a:endParaRPr/>
          </a:p>
        </p:txBody>
      </p:sp>
      <p:sp>
        <p:nvSpPr>
          <p:cNvPr id="212" name="Google Shape;212;p27"/>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 Computes the factorial of a nonnegative integer. Precondition: n must be greater than or equal to 0. Postcondition: Returns the factorial of n; n is unchanged.*/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int facto(int n)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if (n ==0)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return (1);</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else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return (n * facto(n-1));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urier New"/>
                <a:ea typeface="Courier New"/>
                <a:cs typeface="Courier New"/>
                <a:sym typeface="Courier New"/>
              </a:rPr>
              <a:t>  } </a:t>
            </a:r>
            <a:endParaRPr/>
          </a:p>
          <a:p>
            <a:pPr indent="-273050" lvl="0" marL="273050" marR="0" rtl="0" algn="l">
              <a:lnSpc>
                <a:spcPct val="90000"/>
              </a:lnSpc>
              <a:spcBef>
                <a:spcPts val="480"/>
              </a:spcBef>
              <a:spcAft>
                <a:spcPts val="0"/>
              </a:spcAft>
              <a:buClr>
                <a:srgbClr val="0BD0D9"/>
              </a:buClr>
              <a:buSzPts val="2280"/>
              <a:buFont typeface="Noto Sans Symbols"/>
              <a:buNone/>
            </a:pPr>
            <a:r>
              <a:rPr b="0" i="0" lang="en-US" sz="2400" u="none">
                <a:solidFill>
                  <a:schemeClr val="dk1"/>
                </a:solidFill>
                <a:latin typeface="Constantia"/>
                <a:ea typeface="Constantia"/>
                <a:cs typeface="Constantia"/>
                <a:sym typeface="Constantia"/>
              </a:rPr>
              <a:t>• This fact function satisfies the four criteria of a recursive solution.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18" name="Google Shape;218;p2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19" name="Google Shape;219;p28"/>
          <p:cNvSpPr txBox="1"/>
          <p:nvPr>
            <p:ph type="title"/>
          </p:nvPr>
        </p:nvSpPr>
        <p:spPr>
          <a:xfrm>
            <a:off x="687387" y="457200"/>
            <a:ext cx="7770812" cy="51435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2200"/>
              <a:buFont typeface="Calibri"/>
              <a:buNone/>
            </a:pPr>
            <a:r>
              <a:rPr b="0" i="0" lang="en-US" sz="2200" u="none">
                <a:solidFill>
                  <a:schemeClr val="dk2"/>
                </a:solidFill>
                <a:latin typeface="Calibri"/>
                <a:ea typeface="Calibri"/>
                <a:cs typeface="Calibri"/>
                <a:sym typeface="Calibri"/>
              </a:rPr>
              <a:t>Tracing a Recursive Function</a:t>
            </a:r>
            <a:r>
              <a:rPr b="0" i="0" lang="en-US" sz="4500" u="none">
                <a:solidFill>
                  <a:schemeClr val="dk2"/>
                </a:solidFill>
                <a:latin typeface="Calibri"/>
                <a:ea typeface="Calibri"/>
                <a:cs typeface="Calibri"/>
                <a:sym typeface="Calibri"/>
              </a:rPr>
              <a:t> </a:t>
            </a:r>
            <a:endParaRPr/>
          </a:p>
        </p:txBody>
      </p:sp>
      <p:sp>
        <p:nvSpPr>
          <p:cNvPr id="220" name="Google Shape;220;p28"/>
          <p:cNvSpPr txBox="1"/>
          <p:nvPr>
            <p:ph idx="1" type="body"/>
          </p:nvPr>
        </p:nvSpPr>
        <p:spPr>
          <a:xfrm>
            <a:off x="533400" y="1143000"/>
            <a:ext cx="8305800" cy="4953000"/>
          </a:xfrm>
          <a:prstGeom prst="rect">
            <a:avLst/>
          </a:prstGeom>
          <a:noFill/>
          <a:ln>
            <a:noFill/>
          </a:ln>
        </p:spPr>
        <p:txBody>
          <a:bodyPr anchorCtr="0" anchor="t" bIns="45700" lIns="91425" spcFirstLastPara="1" rIns="91425" wrap="square" tIns="45700">
            <a:normAutofit/>
          </a:bodyPr>
          <a:lstStyle/>
          <a:p>
            <a:pPr indent="-273050" lvl="0" marL="273050" rtl="0" algn="just">
              <a:lnSpc>
                <a:spcPct val="90000"/>
              </a:lnSpc>
              <a:spcBef>
                <a:spcPts val="0"/>
              </a:spcBef>
              <a:spcAft>
                <a:spcPts val="0"/>
              </a:spcAft>
              <a:buClr>
                <a:srgbClr val="0BD0D9"/>
              </a:buClr>
              <a:buSzPts val="1900"/>
              <a:buFont typeface="Noto Sans Symbols"/>
              <a:buChar char="⚫"/>
            </a:pPr>
            <a:r>
              <a:rPr b="0" i="0" lang="en-US" sz="2000" u="none">
                <a:solidFill>
                  <a:schemeClr val="dk1"/>
                </a:solidFill>
                <a:latin typeface="Constantia"/>
                <a:ea typeface="Constantia"/>
                <a:cs typeface="Constantia"/>
                <a:sym typeface="Constantia"/>
              </a:rPr>
              <a:t>A </a:t>
            </a:r>
            <a:r>
              <a:rPr b="1" i="0" lang="en-US" sz="2000" u="none">
                <a:solidFill>
                  <a:schemeClr val="dk1"/>
                </a:solidFill>
                <a:latin typeface="Constantia"/>
                <a:ea typeface="Constantia"/>
                <a:cs typeface="Constantia"/>
                <a:sym typeface="Constantia"/>
              </a:rPr>
              <a:t>stack</a:t>
            </a:r>
            <a:r>
              <a:rPr b="0" i="0" lang="en-US" sz="2000" u="none">
                <a:solidFill>
                  <a:schemeClr val="dk1"/>
                </a:solidFill>
                <a:latin typeface="Constantia"/>
                <a:ea typeface="Constantia"/>
                <a:cs typeface="Constantia"/>
                <a:sym typeface="Constantia"/>
              </a:rPr>
              <a:t> is used to keep track of function calls.</a:t>
            </a:r>
            <a:endParaRPr/>
          </a:p>
          <a:p>
            <a:pPr indent="-273050" lvl="0" marL="273050" rtl="0" algn="just">
              <a:lnSpc>
                <a:spcPct val="90000"/>
              </a:lnSpc>
              <a:spcBef>
                <a:spcPts val="400"/>
              </a:spcBef>
              <a:spcAft>
                <a:spcPts val="0"/>
              </a:spcAft>
              <a:buClr>
                <a:srgbClr val="0BD0D9"/>
              </a:buClr>
              <a:buSzPts val="1900"/>
              <a:buFont typeface="Noto Sans Symbols"/>
              <a:buChar char="⚫"/>
            </a:pPr>
            <a:r>
              <a:rPr b="0" i="0" lang="en-US" sz="2000" u="none">
                <a:solidFill>
                  <a:schemeClr val="dk1"/>
                </a:solidFill>
                <a:latin typeface="Constantia"/>
                <a:ea typeface="Constantia"/>
                <a:cs typeface="Constantia"/>
                <a:sym typeface="Constantia"/>
              </a:rPr>
              <a:t>Whenever a new function is called, all its parameters and local variables are pushed onto the stack along with the memory address of the calling statement (this gives the computer the return point after execution of the function)</a:t>
            </a:r>
            <a:endParaRPr/>
          </a:p>
          <a:p>
            <a:pPr indent="-246062" lvl="1" marL="639762" rtl="0" algn="just">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For each function call, an </a:t>
            </a:r>
            <a:r>
              <a:rPr b="1" i="1" lang="en-US" sz="2400" u="none">
                <a:solidFill>
                  <a:schemeClr val="dk1"/>
                </a:solidFill>
                <a:latin typeface="Constantia"/>
                <a:ea typeface="Constantia"/>
                <a:cs typeface="Constantia"/>
                <a:sym typeface="Constantia"/>
              </a:rPr>
              <a:t>activation record</a:t>
            </a:r>
            <a:r>
              <a:rPr b="0" i="0" lang="en-US" sz="2400" u="none">
                <a:solidFill>
                  <a:schemeClr val="dk1"/>
                </a:solidFill>
                <a:latin typeface="Constantia"/>
                <a:ea typeface="Constantia"/>
                <a:cs typeface="Constantia"/>
                <a:sym typeface="Constantia"/>
              </a:rPr>
              <a:t> is created on the stack.</a:t>
            </a:r>
            <a:endParaRPr/>
          </a:p>
          <a:p>
            <a:pPr indent="-273050" lvl="0" marL="273050" rtl="0" algn="just">
              <a:lnSpc>
                <a:spcPct val="90000"/>
              </a:lnSpc>
              <a:spcBef>
                <a:spcPts val="400"/>
              </a:spcBef>
              <a:spcAft>
                <a:spcPts val="0"/>
              </a:spcAft>
              <a:buClr>
                <a:srgbClr val="0BD0D9"/>
              </a:buClr>
              <a:buSzPts val="1900"/>
              <a:buFont typeface="Noto Sans Symbols"/>
              <a:buChar char="⚫"/>
            </a:pPr>
            <a:r>
              <a:rPr b="0" i="0" lang="en-US" sz="2000" u="none">
                <a:solidFill>
                  <a:schemeClr val="dk1"/>
                </a:solidFill>
                <a:latin typeface="Constantia"/>
                <a:ea typeface="Constantia"/>
                <a:cs typeface="Constantia"/>
                <a:sym typeface="Constantia"/>
              </a:rPr>
              <a:t>To trace a recursive function, the </a:t>
            </a:r>
            <a:r>
              <a:rPr b="1" i="1" lang="en-US" sz="2000" u="none">
                <a:solidFill>
                  <a:schemeClr val="dk1"/>
                </a:solidFill>
                <a:latin typeface="Constantia"/>
                <a:ea typeface="Constantia"/>
                <a:cs typeface="Constantia"/>
                <a:sym typeface="Constantia"/>
              </a:rPr>
              <a:t>box method</a:t>
            </a:r>
            <a:r>
              <a:rPr b="0" i="0" lang="en-US" sz="2000" u="none">
                <a:solidFill>
                  <a:schemeClr val="dk1"/>
                </a:solidFill>
                <a:latin typeface="Constantia"/>
                <a:ea typeface="Constantia"/>
                <a:cs typeface="Constantia"/>
                <a:sym typeface="Constantia"/>
              </a:rPr>
              <a:t> can be used.</a:t>
            </a:r>
            <a:endParaRPr/>
          </a:p>
          <a:p>
            <a:pPr indent="-246062" lvl="1" marL="639762" rtl="0" algn="just">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The box method is a systematic way to trace the actions of a recursive function.</a:t>
            </a:r>
            <a:endParaRPr/>
          </a:p>
          <a:p>
            <a:pPr indent="-246062" lvl="1" marL="639762" rtl="0" algn="just">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The box method illustrates how compilers implement recursion.</a:t>
            </a:r>
            <a:endParaRPr/>
          </a:p>
          <a:p>
            <a:pPr indent="-246062" lvl="1" marL="639762" rtl="0" algn="just">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Each box in the box method roughly corresponds to an activation record.</a:t>
            </a:r>
            <a:endParaRPr/>
          </a:p>
          <a:p>
            <a:pPr indent="-128270" lvl="0" marL="273050" rtl="0" algn="l">
              <a:spcBef>
                <a:spcPts val="480"/>
              </a:spcBef>
              <a:spcAft>
                <a:spcPts val="0"/>
              </a:spcAft>
              <a:buSzPts val="2280"/>
              <a:buNone/>
            </a:pPr>
            <a:r>
              <a:t/>
            </a:r>
            <a:endParaRPr b="0" i="0" sz="2400" u="none">
              <a:solidFill>
                <a:schemeClr val="dk1"/>
              </a:solidFill>
              <a:latin typeface="Constantia"/>
              <a:ea typeface="Constantia"/>
              <a:cs typeface="Constantia"/>
              <a:sym typeface="Constant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26" name="Google Shape;226;p2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27" name="Google Shape;227;p29"/>
          <p:cNvSpPr txBox="1"/>
          <p:nvPr>
            <p:ph type="title"/>
          </p:nvPr>
        </p:nvSpPr>
        <p:spPr>
          <a:xfrm>
            <a:off x="685800" y="457200"/>
            <a:ext cx="7772400" cy="5143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The Box Method (for a valued function)</a:t>
            </a:r>
            <a:endParaRPr/>
          </a:p>
        </p:txBody>
      </p:sp>
      <p:sp>
        <p:nvSpPr>
          <p:cNvPr id="228" name="Google Shape;228;p29"/>
          <p:cNvSpPr txBox="1"/>
          <p:nvPr>
            <p:ph idx="1" type="body"/>
          </p:nvPr>
        </p:nvSpPr>
        <p:spPr>
          <a:xfrm>
            <a:off x="609600" y="1143000"/>
            <a:ext cx="8153400" cy="4953000"/>
          </a:xfrm>
          <a:prstGeom prst="rect">
            <a:avLst/>
          </a:prstGeom>
          <a:noFill/>
          <a:ln>
            <a:noFill/>
          </a:ln>
        </p:spPr>
        <p:txBody>
          <a:bodyPr anchorCtr="0" anchor="t" bIns="45700" lIns="91425" spcFirstLastPara="1" rIns="91425" wrap="square" tIns="45700">
            <a:noAutofit/>
          </a:bodyPr>
          <a:lstStyle/>
          <a:p>
            <a:pPr indent="-457200" lvl="0" marL="457200" rtl="0" algn="l">
              <a:lnSpc>
                <a:spcPct val="100000"/>
              </a:lnSpc>
              <a:spcBef>
                <a:spcPts val="0"/>
              </a:spcBef>
              <a:spcAft>
                <a:spcPts val="0"/>
              </a:spcAft>
              <a:buClr>
                <a:srgbClr val="0BD0D9"/>
              </a:buClr>
              <a:buSzPts val="1900"/>
              <a:buAutoNum type="arabicPeriod"/>
            </a:pPr>
            <a:r>
              <a:rPr b="0" i="0" lang="en-US" sz="2000" u="none">
                <a:solidFill>
                  <a:schemeClr val="dk1"/>
                </a:solidFill>
                <a:latin typeface="Constantia"/>
                <a:ea typeface="Constantia"/>
                <a:cs typeface="Constantia"/>
                <a:sym typeface="Constantia"/>
              </a:rPr>
              <a:t>Label each recursive call in the body of the recursive function.</a:t>
            </a:r>
            <a:endParaRPr/>
          </a:p>
          <a:p>
            <a:pPr indent="-342900" lvl="1" marL="800100" rtl="0" algn="l">
              <a:lnSpc>
                <a:spcPct val="100000"/>
              </a:lnSpc>
              <a:spcBef>
                <a:spcPts val="360"/>
              </a:spcBef>
              <a:spcAft>
                <a:spcPts val="0"/>
              </a:spcAft>
              <a:buClr>
                <a:schemeClr val="accent1"/>
              </a:buClr>
              <a:buSzPts val="1530"/>
              <a:buChar char="•"/>
            </a:pPr>
            <a:r>
              <a:rPr b="0" i="0" lang="en-US" sz="1800" u="none">
                <a:solidFill>
                  <a:schemeClr val="dk1"/>
                </a:solidFill>
                <a:latin typeface="Constantia"/>
                <a:ea typeface="Constantia"/>
                <a:cs typeface="Constantia"/>
                <a:sym typeface="Constantia"/>
              </a:rPr>
              <a:t>For each recursive call, we use a different label to distinguish different recursive calls in the body.</a:t>
            </a:r>
            <a:endParaRPr/>
          </a:p>
          <a:p>
            <a:pPr indent="-342900" lvl="1" marL="800100" rtl="0" algn="l">
              <a:lnSpc>
                <a:spcPct val="100000"/>
              </a:lnSpc>
              <a:spcBef>
                <a:spcPts val="360"/>
              </a:spcBef>
              <a:spcAft>
                <a:spcPts val="0"/>
              </a:spcAft>
              <a:buClr>
                <a:schemeClr val="accent1"/>
              </a:buClr>
              <a:buSzPts val="1530"/>
              <a:buChar char="•"/>
            </a:pPr>
            <a:r>
              <a:rPr b="0" i="0" lang="en-US" sz="1800" u="none">
                <a:solidFill>
                  <a:schemeClr val="dk1"/>
                </a:solidFill>
                <a:latin typeface="Constantia"/>
                <a:ea typeface="Constantia"/>
                <a:cs typeface="Constantia"/>
                <a:sym typeface="Constantia"/>
              </a:rPr>
              <a:t>These labels help us to keep track of the correct place to which we must return after a function call completes.</a:t>
            </a:r>
            <a:endParaRPr/>
          </a:p>
          <a:p>
            <a:pPr indent="-342900" lvl="1" marL="800100" rtl="0" algn="l">
              <a:lnSpc>
                <a:spcPct val="100000"/>
              </a:lnSpc>
              <a:spcBef>
                <a:spcPts val="360"/>
              </a:spcBef>
              <a:spcAft>
                <a:spcPts val="0"/>
              </a:spcAft>
              <a:buClr>
                <a:schemeClr val="accent1"/>
              </a:buClr>
              <a:buSzPts val="1530"/>
              <a:buChar char="•"/>
            </a:pPr>
            <a:r>
              <a:rPr b="0" i="0" lang="en-US" sz="1800" u="none">
                <a:solidFill>
                  <a:schemeClr val="dk1"/>
                </a:solidFill>
                <a:latin typeface="Constantia"/>
                <a:ea typeface="Constantia"/>
                <a:cs typeface="Constantia"/>
                <a:sym typeface="Constantia"/>
              </a:rPr>
              <a:t>After each recursive call, we return to the labeled location, and substitute that recursive call with returned valued.</a:t>
            </a:r>
            <a:endParaRPr/>
          </a:p>
          <a:p>
            <a:pPr indent="-336550" lvl="0" marL="457200" rtl="0" algn="l">
              <a:lnSpc>
                <a:spcPct val="100000"/>
              </a:lnSpc>
              <a:spcBef>
                <a:spcPts val="400"/>
              </a:spcBef>
              <a:spcAft>
                <a:spcPts val="0"/>
              </a:spcAft>
              <a:buClr>
                <a:srgbClr val="0BD0D9"/>
              </a:buClr>
              <a:buSzPts val="1900"/>
              <a:buFont typeface="Noto Sans Symbols"/>
              <a:buNone/>
            </a:pPr>
            <a:r>
              <a:t/>
            </a:r>
            <a:endParaRPr b="0" i="0" sz="2000" u="none">
              <a:solidFill>
                <a:schemeClr val="dk1"/>
              </a:solidFill>
              <a:latin typeface="Constantia"/>
              <a:ea typeface="Constantia"/>
              <a:cs typeface="Constantia"/>
              <a:sym typeface="Constantia"/>
            </a:endParaRPr>
          </a:p>
          <a:p>
            <a:pPr indent="-457200" lvl="0" marL="45720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if (n ==0) </a:t>
            </a:r>
            <a:endParaRPr b="0" i="0" sz="2000" u="none">
              <a:solidFill>
                <a:schemeClr val="dk1"/>
              </a:solidFill>
              <a:latin typeface="Courier New"/>
              <a:ea typeface="Courier New"/>
              <a:cs typeface="Courier New"/>
              <a:sym typeface="Courier New"/>
            </a:endParaRPr>
          </a:p>
          <a:p>
            <a:pPr indent="-457200" lvl="0" marL="45720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return (1);</a:t>
            </a:r>
            <a:endParaRPr b="0" i="0" sz="2000" u="none">
              <a:solidFill>
                <a:schemeClr val="dk1"/>
              </a:solidFill>
              <a:latin typeface="Courier New"/>
              <a:ea typeface="Courier New"/>
              <a:cs typeface="Courier New"/>
              <a:sym typeface="Courier New"/>
            </a:endParaRPr>
          </a:p>
          <a:p>
            <a:pPr indent="-457200" lvl="0" marL="45720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else </a:t>
            </a:r>
            <a:endParaRPr b="0" i="0" sz="2000" u="none">
              <a:solidFill>
                <a:schemeClr val="dk1"/>
              </a:solidFill>
              <a:latin typeface="Courier New"/>
              <a:ea typeface="Courier New"/>
              <a:cs typeface="Courier New"/>
              <a:sym typeface="Courier New"/>
            </a:endParaRPr>
          </a:p>
          <a:p>
            <a:pPr indent="-457200" lvl="0" marL="457200" rtl="0" algn="l">
              <a:lnSpc>
                <a:spcPct val="100000"/>
              </a:lnSpc>
              <a:spcBef>
                <a:spcPts val="400"/>
              </a:spcBef>
              <a:spcAft>
                <a:spcPts val="0"/>
              </a:spcAft>
              <a:buSzPts val="1900"/>
              <a:buNone/>
            </a:pPr>
            <a:r>
              <a:rPr b="0" i="0" lang="en-US" sz="2000" u="none">
                <a:solidFill>
                  <a:schemeClr val="dk1"/>
                </a:solidFill>
                <a:latin typeface="Courier New"/>
                <a:ea typeface="Courier New"/>
                <a:cs typeface="Courier New"/>
                <a:sym typeface="Courier New"/>
              </a:rPr>
              <a:t>     return (n * </a:t>
            </a:r>
            <a:r>
              <a:rPr b="0" i="1" lang="en-US" sz="2000" u="sng">
                <a:solidFill>
                  <a:schemeClr val="dk1"/>
                </a:solidFill>
                <a:latin typeface="Courier New"/>
                <a:ea typeface="Courier New"/>
                <a:cs typeface="Courier New"/>
                <a:sym typeface="Courier New"/>
              </a:rPr>
              <a:t>fact(n-1)</a:t>
            </a:r>
            <a:r>
              <a:rPr b="0" i="0" lang="en-US" sz="2000" u="none">
                <a:solidFill>
                  <a:schemeClr val="dk1"/>
                </a:solidFill>
                <a:latin typeface="Courier New"/>
                <a:ea typeface="Courier New"/>
                <a:cs typeface="Courier New"/>
                <a:sym typeface="Courier New"/>
              </a:rPr>
              <a:t> )</a:t>
            </a:r>
            <a:endParaRPr/>
          </a:p>
          <a:p>
            <a:pPr indent="-457200" lvl="0" marL="457200" rtl="0" algn="l">
              <a:lnSpc>
                <a:spcPct val="100000"/>
              </a:lnSpc>
              <a:spcBef>
                <a:spcPts val="520"/>
              </a:spcBef>
              <a:spcAft>
                <a:spcPts val="0"/>
              </a:spcAft>
              <a:buSzPts val="1900"/>
              <a:buNone/>
            </a:pPr>
            <a:r>
              <a:rPr b="0" i="0" lang="en-US" sz="2000" u="none">
                <a:solidFill>
                  <a:schemeClr val="dk1"/>
                </a:solidFill>
                <a:latin typeface="Courier New"/>
                <a:ea typeface="Courier New"/>
                <a:cs typeface="Courier New"/>
                <a:sym typeface="Courier New"/>
              </a:rPr>
              <a:t>					</a:t>
            </a:r>
            <a:r>
              <a:rPr b="1" i="1" lang="en-US" sz="2600" u="none">
                <a:solidFill>
                  <a:schemeClr val="dk1"/>
                </a:solidFill>
                <a:latin typeface="Courier New"/>
                <a:ea typeface="Courier New"/>
                <a:cs typeface="Courier New"/>
                <a:sym typeface="Courier New"/>
              </a:rPr>
              <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34" name="Google Shape;234;p3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35" name="Google Shape;235;p30"/>
          <p:cNvSpPr txBox="1"/>
          <p:nvPr>
            <p:ph type="title"/>
          </p:nvPr>
        </p:nvSpPr>
        <p:spPr>
          <a:xfrm>
            <a:off x="685800" y="457200"/>
            <a:ext cx="7772400" cy="5143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The Box Method (continued)</a:t>
            </a:r>
            <a:endParaRPr/>
          </a:p>
        </p:txBody>
      </p:sp>
      <p:sp>
        <p:nvSpPr>
          <p:cNvPr id="236" name="Google Shape;236;p30"/>
          <p:cNvSpPr txBox="1"/>
          <p:nvPr>
            <p:ph idx="1" type="body"/>
          </p:nvPr>
        </p:nvSpPr>
        <p:spPr>
          <a:xfrm>
            <a:off x="685800" y="1219200"/>
            <a:ext cx="7772400" cy="4876800"/>
          </a:xfrm>
          <a:prstGeom prst="rect">
            <a:avLst/>
          </a:prstGeom>
          <a:noFill/>
          <a:ln>
            <a:noFill/>
          </a:ln>
        </p:spPr>
        <p:txBody>
          <a:bodyPr anchorCtr="0" anchor="t" bIns="45700" lIns="91425" spcFirstLastPara="1" rIns="91425" wrap="square" tIns="45700">
            <a:noAutofit/>
          </a:bodyPr>
          <a:lstStyle/>
          <a:p>
            <a:pPr indent="-457200" lvl="0" marL="457200" rtl="0" algn="l">
              <a:lnSpc>
                <a:spcPct val="100000"/>
              </a:lnSpc>
              <a:spcBef>
                <a:spcPts val="0"/>
              </a:spcBef>
              <a:spcAft>
                <a:spcPts val="0"/>
              </a:spcAft>
              <a:buClr>
                <a:srgbClr val="0BD0D9"/>
              </a:buClr>
              <a:buSzPts val="1900"/>
              <a:buAutoNum type="arabicPeriod" startAt="2"/>
            </a:pPr>
            <a:r>
              <a:rPr b="0" i="0" lang="en-US" sz="2000" u="none">
                <a:solidFill>
                  <a:schemeClr val="dk1"/>
                </a:solidFill>
                <a:latin typeface="Constantia"/>
                <a:ea typeface="Constantia"/>
                <a:cs typeface="Constantia"/>
                <a:sym typeface="Constantia"/>
              </a:rPr>
              <a:t>Each time a function is called, a new box represents its local environment. Each box contains: </a:t>
            </a:r>
            <a:endParaRPr/>
          </a:p>
          <a:p>
            <a:pPr indent="-342900" lvl="1" marL="800100" rtl="0" algn="l">
              <a:lnSpc>
                <a:spcPct val="100000"/>
              </a:lnSpc>
              <a:spcBef>
                <a:spcPts val="360"/>
              </a:spcBef>
              <a:spcAft>
                <a:spcPts val="0"/>
              </a:spcAft>
              <a:buClr>
                <a:schemeClr val="accent1"/>
              </a:buClr>
              <a:buSzPts val="1530"/>
              <a:buFont typeface="Noto Sans Symbols"/>
              <a:buChar char="⚫"/>
            </a:pPr>
            <a:r>
              <a:rPr b="0" i="0" lang="en-US" sz="1800" u="none">
                <a:solidFill>
                  <a:schemeClr val="dk1"/>
                </a:solidFill>
                <a:latin typeface="Constantia"/>
                <a:ea typeface="Constantia"/>
                <a:cs typeface="Constantia"/>
                <a:sym typeface="Constantia"/>
              </a:rPr>
              <a:t>the values of the arguments, </a:t>
            </a:r>
            <a:endParaRPr/>
          </a:p>
          <a:p>
            <a:pPr indent="-342900" lvl="1" marL="800100" rtl="0" algn="l">
              <a:lnSpc>
                <a:spcPct val="100000"/>
              </a:lnSpc>
              <a:spcBef>
                <a:spcPts val="360"/>
              </a:spcBef>
              <a:spcAft>
                <a:spcPts val="0"/>
              </a:spcAft>
              <a:buClr>
                <a:schemeClr val="accent1"/>
              </a:buClr>
              <a:buSzPts val="1530"/>
              <a:buFont typeface="Noto Sans Symbols"/>
              <a:buChar char="⚫"/>
            </a:pPr>
            <a:r>
              <a:rPr b="0" i="0" lang="en-US" sz="1800" u="none">
                <a:solidFill>
                  <a:schemeClr val="dk1"/>
                </a:solidFill>
                <a:latin typeface="Constantia"/>
                <a:ea typeface="Constantia"/>
                <a:cs typeface="Constantia"/>
                <a:sym typeface="Constantia"/>
              </a:rPr>
              <a:t>the function local variables</a:t>
            </a:r>
            <a:endParaRPr/>
          </a:p>
          <a:p>
            <a:pPr indent="-342900" lvl="1" marL="800100" rtl="0" algn="l">
              <a:lnSpc>
                <a:spcPct val="100000"/>
              </a:lnSpc>
              <a:spcBef>
                <a:spcPts val="360"/>
              </a:spcBef>
              <a:spcAft>
                <a:spcPts val="0"/>
              </a:spcAft>
              <a:buClr>
                <a:schemeClr val="accent1"/>
              </a:buClr>
              <a:buSzPts val="1530"/>
              <a:buFont typeface="Noto Sans Symbols"/>
              <a:buChar char="⚫"/>
            </a:pPr>
            <a:r>
              <a:rPr b="0" i="0" lang="en-US" sz="1800" u="none">
                <a:solidFill>
                  <a:schemeClr val="dk1"/>
                </a:solidFill>
                <a:latin typeface="Constantia"/>
                <a:ea typeface="Constantia"/>
                <a:cs typeface="Constantia"/>
                <a:sym typeface="Constantia"/>
              </a:rPr>
              <a:t>A placeholder for the value returned from each recursive call from the current box. (label in step 1)</a:t>
            </a:r>
            <a:endParaRPr/>
          </a:p>
          <a:p>
            <a:pPr indent="-342900" lvl="1" marL="800100" rtl="0" algn="l">
              <a:lnSpc>
                <a:spcPct val="100000"/>
              </a:lnSpc>
              <a:spcBef>
                <a:spcPts val="360"/>
              </a:spcBef>
              <a:spcAft>
                <a:spcPts val="0"/>
              </a:spcAft>
              <a:buClr>
                <a:schemeClr val="accent1"/>
              </a:buClr>
              <a:buSzPts val="1530"/>
              <a:buFont typeface="Noto Sans Symbols"/>
              <a:buChar char="⚫"/>
            </a:pPr>
            <a:r>
              <a:rPr b="0" i="0" lang="en-US" sz="1800" u="none">
                <a:solidFill>
                  <a:schemeClr val="dk1"/>
                </a:solidFill>
                <a:latin typeface="Constantia"/>
                <a:ea typeface="Constantia"/>
                <a:cs typeface="Constantia"/>
                <a:sym typeface="Constantia"/>
              </a:rPr>
              <a:t>The value of the function itself.</a:t>
            </a:r>
            <a:endParaRPr/>
          </a:p>
          <a:p>
            <a:pPr indent="-164465" lvl="0" marL="273050" rtl="0" algn="l">
              <a:spcBef>
                <a:spcPts val="360"/>
              </a:spcBef>
              <a:spcAft>
                <a:spcPts val="0"/>
              </a:spcAft>
              <a:buSzPts val="1710"/>
              <a:buNone/>
            </a:pPr>
            <a:r>
              <a:t/>
            </a:r>
            <a:endParaRPr b="0" i="0" sz="1800" u="none">
              <a:solidFill>
                <a:schemeClr val="dk1"/>
              </a:solidFill>
              <a:latin typeface="Constantia"/>
              <a:ea typeface="Constantia"/>
              <a:cs typeface="Constantia"/>
              <a:sym typeface="Constantia"/>
            </a:endParaRPr>
          </a:p>
        </p:txBody>
      </p:sp>
      <p:pic>
        <p:nvPicPr>
          <p:cNvPr descr="Carrano0203" id="237" name="Google Shape;237;p30"/>
          <p:cNvPicPr preferRelativeResize="0"/>
          <p:nvPr/>
        </p:nvPicPr>
        <p:blipFill rotWithShape="1">
          <a:blip r:embed="rId3">
            <a:alphaModFix/>
          </a:blip>
          <a:srcRect b="0" l="0" r="0" t="0"/>
          <a:stretch/>
        </p:blipFill>
        <p:spPr>
          <a:xfrm>
            <a:off x="2039937" y="3886200"/>
            <a:ext cx="4702175" cy="22463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43" name="Google Shape;243;p3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44" name="Google Shape;244;p31"/>
          <p:cNvSpPr txBox="1"/>
          <p:nvPr>
            <p:ph type="title"/>
          </p:nvPr>
        </p:nvSpPr>
        <p:spPr>
          <a:xfrm>
            <a:off x="685800" y="457200"/>
            <a:ext cx="7772400" cy="5143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The Box Method (continued)</a:t>
            </a:r>
            <a:endParaRPr/>
          </a:p>
        </p:txBody>
      </p:sp>
      <p:sp>
        <p:nvSpPr>
          <p:cNvPr id="245" name="Google Shape;245;p31"/>
          <p:cNvSpPr txBox="1"/>
          <p:nvPr>
            <p:ph idx="1" type="body"/>
          </p:nvPr>
        </p:nvSpPr>
        <p:spPr>
          <a:xfrm>
            <a:off x="685800" y="1219200"/>
            <a:ext cx="7772400" cy="4876800"/>
          </a:xfrm>
          <a:prstGeom prst="rect">
            <a:avLst/>
          </a:prstGeom>
          <a:noFill/>
          <a:ln>
            <a:noFill/>
          </a:ln>
        </p:spPr>
        <p:txBody>
          <a:bodyPr anchorCtr="0" anchor="t" bIns="45700" lIns="91425" spcFirstLastPara="1" rIns="91425" wrap="square" tIns="45700">
            <a:noAutofit/>
          </a:bodyPr>
          <a:lstStyle/>
          <a:p>
            <a:pPr indent="-457200" lvl="0" marL="457200" rtl="0" algn="l">
              <a:lnSpc>
                <a:spcPct val="100000"/>
              </a:lnSpc>
              <a:spcBef>
                <a:spcPts val="0"/>
              </a:spcBef>
              <a:spcAft>
                <a:spcPts val="0"/>
              </a:spcAft>
              <a:buClr>
                <a:srgbClr val="0BD0D9"/>
              </a:buClr>
              <a:buSzPts val="1900"/>
              <a:buAutoNum type="arabicPeriod" startAt="3"/>
            </a:pPr>
            <a:r>
              <a:rPr b="0" i="0" lang="en-US" sz="2000" u="none">
                <a:solidFill>
                  <a:schemeClr val="dk1"/>
                </a:solidFill>
                <a:latin typeface="Constantia"/>
                <a:ea typeface="Constantia"/>
                <a:cs typeface="Constantia"/>
                <a:sym typeface="Constantia"/>
              </a:rPr>
              <a:t>Draw an arrow from the statement that initiates the recursive process to the first box. </a:t>
            </a:r>
            <a:endParaRPr/>
          </a:p>
          <a:p>
            <a:pPr indent="-342900" lvl="1" marL="800100" rtl="0" algn="l">
              <a:lnSpc>
                <a:spcPct val="100000"/>
              </a:lnSpc>
              <a:spcBef>
                <a:spcPts val="360"/>
              </a:spcBef>
              <a:spcAft>
                <a:spcPts val="0"/>
              </a:spcAft>
              <a:buClr>
                <a:schemeClr val="accent1"/>
              </a:buClr>
              <a:buSzPts val="1530"/>
              <a:buFont typeface="Noto Sans Symbols"/>
              <a:buChar char="⚫"/>
            </a:pPr>
            <a:r>
              <a:rPr b="0" i="0" lang="en-US" sz="1800" u="none">
                <a:solidFill>
                  <a:schemeClr val="dk1"/>
                </a:solidFill>
                <a:latin typeface="Constantia"/>
                <a:ea typeface="Constantia"/>
                <a:cs typeface="Constantia"/>
                <a:sym typeface="Constantia"/>
              </a:rPr>
              <a:t>Then draw an arrow to a new box created after a recursive call, put a label on that arrow. </a:t>
            </a:r>
            <a:endParaRPr/>
          </a:p>
          <a:p>
            <a:pPr indent="-245744" lvl="1" marL="800100" rtl="0" algn="l">
              <a:lnSpc>
                <a:spcPct val="100000"/>
              </a:lnSpc>
              <a:spcBef>
                <a:spcPts val="360"/>
              </a:spcBef>
              <a:spcAft>
                <a:spcPts val="0"/>
              </a:spcAft>
              <a:buClr>
                <a:schemeClr val="accent1"/>
              </a:buClr>
              <a:buSzPts val="1530"/>
              <a:buFont typeface="Noto Sans Symbols"/>
              <a:buNone/>
            </a:pPr>
            <a:r>
              <a:t/>
            </a:r>
            <a:endParaRPr b="0" i="0" sz="1800" u="none">
              <a:solidFill>
                <a:schemeClr val="dk1"/>
              </a:solidFill>
              <a:latin typeface="Constantia"/>
              <a:ea typeface="Constantia"/>
              <a:cs typeface="Constantia"/>
              <a:sym typeface="Constantia"/>
            </a:endParaRPr>
          </a:p>
          <a:p>
            <a:pPr indent="-213359" lvl="1" marL="800100" rtl="0" algn="l">
              <a:lnSpc>
                <a:spcPct val="100000"/>
              </a:lnSpc>
              <a:spcBef>
                <a:spcPts val="480"/>
              </a:spcBef>
              <a:spcAft>
                <a:spcPts val="0"/>
              </a:spcAft>
              <a:buClr>
                <a:schemeClr val="accent1"/>
              </a:buClr>
              <a:buSzPts val="2040"/>
              <a:buFont typeface="Noto Sans Symbols"/>
              <a:buNone/>
            </a:pPr>
            <a:r>
              <a:t/>
            </a:r>
            <a:endParaRPr b="0" i="0" sz="2400" u="none">
              <a:solidFill>
                <a:schemeClr val="dk1"/>
              </a:solidFill>
              <a:latin typeface="Constantia"/>
              <a:ea typeface="Constantia"/>
              <a:cs typeface="Constantia"/>
              <a:sym typeface="Constantia"/>
            </a:endParaRPr>
          </a:p>
          <a:p>
            <a:pPr indent="-128270" lvl="0" marL="273050" rtl="0" algn="l">
              <a:spcBef>
                <a:spcPts val="480"/>
              </a:spcBef>
              <a:spcAft>
                <a:spcPts val="0"/>
              </a:spcAft>
              <a:buSzPts val="2280"/>
              <a:buNone/>
            </a:pPr>
            <a:r>
              <a:t/>
            </a:r>
            <a:endParaRPr b="0" i="0" sz="2400" u="none">
              <a:solidFill>
                <a:schemeClr val="dk1"/>
              </a:solidFill>
              <a:latin typeface="Constantia"/>
              <a:ea typeface="Constantia"/>
              <a:cs typeface="Constantia"/>
              <a:sym typeface="Constantia"/>
            </a:endParaRPr>
          </a:p>
        </p:txBody>
      </p:sp>
      <p:pic>
        <p:nvPicPr>
          <p:cNvPr descr="Carrano0204" id="246" name="Google Shape;246;p31"/>
          <p:cNvPicPr preferRelativeResize="0"/>
          <p:nvPr/>
        </p:nvPicPr>
        <p:blipFill rotWithShape="1">
          <a:blip r:embed="rId3">
            <a:alphaModFix/>
          </a:blip>
          <a:srcRect b="0" l="0" r="0" t="0"/>
          <a:stretch/>
        </p:blipFill>
        <p:spPr>
          <a:xfrm>
            <a:off x="422275" y="3124200"/>
            <a:ext cx="8299450" cy="1398587"/>
          </a:xfrm>
          <a:prstGeom prst="rect">
            <a:avLst/>
          </a:prstGeom>
          <a:noFill/>
          <a:ln>
            <a:noFill/>
          </a:ln>
        </p:spPr>
      </p:pic>
      <p:sp>
        <p:nvSpPr>
          <p:cNvPr id="247" name="Google Shape;247;p31"/>
          <p:cNvSpPr txBox="1"/>
          <p:nvPr/>
        </p:nvSpPr>
        <p:spPr>
          <a:xfrm>
            <a:off x="304800" y="3048000"/>
            <a:ext cx="2209800" cy="3667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printf(“%d”, fact (3));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53" name="Google Shape;253;p3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54" name="Google Shape;254;p32"/>
          <p:cNvSpPr txBox="1"/>
          <p:nvPr>
            <p:ph type="title"/>
          </p:nvPr>
        </p:nvSpPr>
        <p:spPr>
          <a:xfrm>
            <a:off x="685800" y="457200"/>
            <a:ext cx="7772400" cy="457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The Box Method (continued)</a:t>
            </a:r>
            <a:endParaRPr/>
          </a:p>
        </p:txBody>
      </p:sp>
      <p:sp>
        <p:nvSpPr>
          <p:cNvPr id="255" name="Google Shape;255;p32"/>
          <p:cNvSpPr txBox="1"/>
          <p:nvPr>
            <p:ph idx="1" type="body"/>
          </p:nvPr>
        </p:nvSpPr>
        <p:spPr>
          <a:xfrm>
            <a:off x="609600" y="1066800"/>
            <a:ext cx="7772400" cy="4572000"/>
          </a:xfrm>
          <a:prstGeom prst="rect">
            <a:avLst/>
          </a:prstGeom>
          <a:noFill/>
          <a:ln>
            <a:noFill/>
          </a:ln>
        </p:spPr>
        <p:txBody>
          <a:bodyPr anchorCtr="0" anchor="t" bIns="45700" lIns="91425" spcFirstLastPara="1" rIns="91425" wrap="square" tIns="45700">
            <a:normAutofit/>
          </a:bodyPr>
          <a:lstStyle/>
          <a:p>
            <a:pPr indent="-342900" lvl="1" marL="800100" rtl="0" algn="l">
              <a:lnSpc>
                <a:spcPct val="90000"/>
              </a:lnSpc>
              <a:spcBef>
                <a:spcPts val="0"/>
              </a:spcBef>
              <a:spcAft>
                <a:spcPts val="0"/>
              </a:spcAft>
              <a:buSzPts val="1870"/>
              <a:buNone/>
            </a:pPr>
            <a:r>
              <a:t/>
            </a:r>
            <a:endParaRPr b="0" i="0" sz="22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startAt="4"/>
            </a:pPr>
            <a:r>
              <a:rPr b="0" i="0" lang="en-US" sz="2400" u="none">
                <a:solidFill>
                  <a:schemeClr val="dk1"/>
                </a:solidFill>
                <a:latin typeface="Constantia"/>
                <a:ea typeface="Constantia"/>
                <a:cs typeface="Constantia"/>
                <a:sym typeface="Constantia"/>
              </a:rPr>
              <a:t>After a new box is created, we start to execute the body of the function.</a:t>
            </a:r>
            <a:endParaRPr/>
          </a:p>
          <a:p>
            <a:pPr indent="-457200" lvl="0" marL="457200" rtl="0" algn="l">
              <a:lnSpc>
                <a:spcPct val="90000"/>
              </a:lnSpc>
              <a:spcBef>
                <a:spcPts val="480"/>
              </a:spcBef>
              <a:spcAft>
                <a:spcPts val="0"/>
              </a:spcAft>
              <a:buSzPts val="2280"/>
              <a:buNone/>
            </a:pPr>
            <a:r>
              <a:t/>
            </a:r>
            <a:endParaRPr b="0" i="0" sz="2400" u="none">
              <a:solidFill>
                <a:schemeClr val="dk1"/>
              </a:solidFill>
              <a:latin typeface="Constantia"/>
              <a:ea typeface="Constantia"/>
              <a:cs typeface="Constantia"/>
              <a:sym typeface="Constantia"/>
            </a:endParaRPr>
          </a:p>
          <a:p>
            <a:pPr indent="-457200" lvl="0" marL="457200" rtl="0" algn="l">
              <a:lnSpc>
                <a:spcPct val="90000"/>
              </a:lnSpc>
              <a:spcBef>
                <a:spcPts val="480"/>
              </a:spcBef>
              <a:spcAft>
                <a:spcPts val="0"/>
              </a:spcAft>
              <a:buClr>
                <a:srgbClr val="0BD0D9"/>
              </a:buClr>
              <a:buSzPts val="2280"/>
              <a:buAutoNum type="arabicPeriod" startAt="4"/>
            </a:pPr>
            <a:r>
              <a:rPr b="0" i="0" lang="en-US" sz="2400" u="none">
                <a:solidFill>
                  <a:schemeClr val="dk1"/>
                </a:solidFill>
                <a:latin typeface="Constantia"/>
                <a:ea typeface="Constantia"/>
                <a:cs typeface="Constantia"/>
                <a:sym typeface="Constantia"/>
              </a:rPr>
              <a:t>On exiting a function, cross off the current box and follow its arrow back to the box that called the function.</a:t>
            </a:r>
            <a:endParaRPr/>
          </a:p>
          <a:p>
            <a:pPr indent="-342900" lvl="1" marL="800100" rtl="0" algn="l">
              <a:lnSpc>
                <a:spcPct val="90000"/>
              </a:lnSpc>
              <a:spcBef>
                <a:spcPts val="440"/>
              </a:spcBef>
              <a:spcAft>
                <a:spcPts val="0"/>
              </a:spcAft>
              <a:buClr>
                <a:schemeClr val="accent1"/>
              </a:buClr>
              <a:buSzPts val="1870"/>
              <a:buFont typeface="Noto Sans Symbols"/>
              <a:buChar char="⚫"/>
            </a:pPr>
            <a:r>
              <a:rPr b="0" i="0" lang="en-US" sz="2200" u="none">
                <a:solidFill>
                  <a:schemeClr val="dk1"/>
                </a:solidFill>
                <a:latin typeface="Constantia"/>
                <a:ea typeface="Constantia"/>
                <a:cs typeface="Constantia"/>
                <a:sym typeface="Constantia"/>
              </a:rPr>
              <a:t>This box becomes the current box.</a:t>
            </a:r>
            <a:endParaRPr/>
          </a:p>
          <a:p>
            <a:pPr indent="-342900" lvl="1" marL="800100" rtl="0" algn="l">
              <a:lnSpc>
                <a:spcPct val="90000"/>
              </a:lnSpc>
              <a:spcBef>
                <a:spcPts val="440"/>
              </a:spcBef>
              <a:spcAft>
                <a:spcPts val="0"/>
              </a:spcAft>
              <a:buClr>
                <a:schemeClr val="accent1"/>
              </a:buClr>
              <a:buSzPts val="1870"/>
              <a:buFont typeface="Noto Sans Symbols"/>
              <a:buChar char="⚫"/>
            </a:pPr>
            <a:r>
              <a:rPr b="0" i="0" lang="en-US" sz="2200" u="none">
                <a:solidFill>
                  <a:schemeClr val="dk1"/>
                </a:solidFill>
                <a:latin typeface="Constantia"/>
                <a:ea typeface="Constantia"/>
                <a:cs typeface="Constantia"/>
                <a:sym typeface="Constantia"/>
              </a:rPr>
              <a:t>Substitute the value returned by the just-terminated function call into the appropriate item in the current box.</a:t>
            </a:r>
            <a:endParaRPr/>
          </a:p>
          <a:p>
            <a:pPr indent="-342900" lvl="1" marL="800100" rtl="0" algn="l">
              <a:lnSpc>
                <a:spcPct val="90000"/>
              </a:lnSpc>
              <a:spcBef>
                <a:spcPts val="440"/>
              </a:spcBef>
              <a:spcAft>
                <a:spcPts val="0"/>
              </a:spcAft>
              <a:buClr>
                <a:schemeClr val="accent1"/>
              </a:buClr>
              <a:buSzPts val="1870"/>
              <a:buFont typeface="Noto Sans Symbols"/>
              <a:buChar char="⚫"/>
            </a:pPr>
            <a:r>
              <a:rPr b="0" i="0" lang="en-US" sz="2200" u="none">
                <a:solidFill>
                  <a:schemeClr val="dk1"/>
                </a:solidFill>
                <a:latin typeface="Constantia"/>
                <a:ea typeface="Constantia"/>
                <a:cs typeface="Constantia"/>
                <a:sym typeface="Constantia"/>
              </a:rPr>
              <a:t>Continue the execution from the returned point.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3"/>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61" name="Google Shape;261;p3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62" name="Google Shape;262;p33"/>
          <p:cNvSpPr txBox="1"/>
          <p:nvPr>
            <p:ph idx="4294967295" type="title"/>
          </p:nvPr>
        </p:nvSpPr>
        <p:spPr>
          <a:xfrm>
            <a:off x="685800" y="457200"/>
            <a:ext cx="7772400" cy="514350"/>
          </a:xfrm>
          <a:prstGeom prst="rect">
            <a:avLst/>
          </a:prstGeom>
          <a:noFill/>
          <a:ln>
            <a:noFill/>
          </a:ln>
        </p:spPr>
        <p:txBody>
          <a:bodyPr anchorCtr="0" anchor="b" bIns="0" lIns="0" spcFirstLastPara="1" rIns="0" wrap="square" tIns="45700">
            <a:normAutofit/>
          </a:bodyPr>
          <a:lstStyle/>
          <a:p>
            <a:pPr indent="0" lvl="0" marL="0" marR="0" rtl="0" algn="l">
              <a:lnSpc>
                <a:spcPct val="100000"/>
              </a:lnSpc>
              <a:spcBef>
                <a:spcPts val="0"/>
              </a:spcBef>
              <a:spcAft>
                <a:spcPts val="0"/>
              </a:spcAft>
              <a:buClr>
                <a:schemeClr val="dk2"/>
              </a:buClr>
              <a:buSzPts val="2400"/>
              <a:buFont typeface="Calibri"/>
              <a:buNone/>
            </a:pPr>
            <a:r>
              <a:rPr b="0" i="0" lang="en-US" sz="2400" u="none" cap="none" strike="noStrike">
                <a:solidFill>
                  <a:schemeClr val="dk2"/>
                </a:solidFill>
                <a:latin typeface="Calibri"/>
                <a:ea typeface="Calibri"/>
                <a:cs typeface="Calibri"/>
                <a:sym typeface="Calibri"/>
              </a:rPr>
              <a:t>Box Trace of  fact(3)</a:t>
            </a:r>
            <a:endParaRPr/>
          </a:p>
        </p:txBody>
      </p:sp>
      <p:pic>
        <p:nvPicPr>
          <p:cNvPr id="263" name="Google Shape;263;p33"/>
          <p:cNvPicPr preferRelativeResize="0"/>
          <p:nvPr/>
        </p:nvPicPr>
        <p:blipFill rotWithShape="1">
          <a:blip r:embed="rId3">
            <a:alphaModFix/>
          </a:blip>
          <a:srcRect b="0" l="0" r="0" t="0"/>
          <a:stretch/>
        </p:blipFill>
        <p:spPr>
          <a:xfrm>
            <a:off x="773112" y="1219200"/>
            <a:ext cx="7737475" cy="4826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CENG 707</a:t>
            </a:r>
            <a:endParaRPr/>
          </a:p>
        </p:txBody>
      </p:sp>
      <p:sp>
        <p:nvSpPr>
          <p:cNvPr id="269" name="Google Shape;269;p3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70" name="Google Shape;270;p34"/>
          <p:cNvSpPr txBox="1"/>
          <p:nvPr>
            <p:ph idx="4294967295" type="title"/>
          </p:nvPr>
        </p:nvSpPr>
        <p:spPr>
          <a:xfrm>
            <a:off x="685800" y="76200"/>
            <a:ext cx="7772400" cy="914400"/>
          </a:xfrm>
          <a:prstGeom prst="rect">
            <a:avLst/>
          </a:prstGeom>
          <a:noFill/>
          <a:ln>
            <a:noFill/>
          </a:ln>
        </p:spPr>
        <p:txBody>
          <a:bodyPr anchorCtr="0" anchor="b" bIns="0" lIns="0" spcFirstLastPara="1" rIns="0" wrap="square" tIns="45700">
            <a:normAutofit/>
          </a:bodyPr>
          <a:lstStyle/>
          <a:p>
            <a:pPr indent="0" lvl="0" marL="0" marR="0" rtl="0" algn="l">
              <a:lnSpc>
                <a:spcPct val="100000"/>
              </a:lnSpc>
              <a:spcBef>
                <a:spcPts val="0"/>
              </a:spcBef>
              <a:spcAft>
                <a:spcPts val="0"/>
              </a:spcAft>
              <a:buClr>
                <a:schemeClr val="dk2"/>
              </a:buClr>
              <a:buSzPts val="2400"/>
              <a:buFont typeface="Calibri"/>
              <a:buNone/>
            </a:pPr>
            <a:r>
              <a:rPr b="0" i="0" lang="en-US" sz="2400" u="none" cap="none" strike="noStrike">
                <a:solidFill>
                  <a:schemeClr val="dk2"/>
                </a:solidFill>
                <a:latin typeface="Calibri"/>
                <a:ea typeface="Calibri"/>
                <a:cs typeface="Calibri"/>
                <a:sym typeface="Calibri"/>
              </a:rPr>
              <a:t>Box Trace of  fact(3)  (continued)</a:t>
            </a:r>
            <a:endParaRPr/>
          </a:p>
        </p:txBody>
      </p:sp>
      <p:pic>
        <p:nvPicPr>
          <p:cNvPr id="271" name="Google Shape;271;p34"/>
          <p:cNvPicPr preferRelativeResize="0"/>
          <p:nvPr/>
        </p:nvPicPr>
        <p:blipFill rotWithShape="1">
          <a:blip r:embed="rId3">
            <a:alphaModFix/>
          </a:blip>
          <a:srcRect b="0" l="0" r="0" t="0"/>
          <a:stretch/>
        </p:blipFill>
        <p:spPr>
          <a:xfrm>
            <a:off x="1125537" y="1066800"/>
            <a:ext cx="7173912" cy="50149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idx="4294967295" type="title"/>
          </p:nvPr>
        </p:nvSpPr>
        <p:spPr>
          <a:xfrm>
            <a:off x="685800" y="228600"/>
            <a:ext cx="7772400" cy="685800"/>
          </a:xfrm>
          <a:prstGeom prst="rect">
            <a:avLst/>
          </a:prstGeom>
          <a:noFill/>
          <a:ln>
            <a:noFill/>
          </a:ln>
        </p:spPr>
        <p:txBody>
          <a:bodyPr anchorCtr="0" anchor="b" bIns="0" lIns="0" spcFirstLastPara="1" rIns="0" wrap="square" tIns="45700">
            <a:normAutofit/>
          </a:bodyPr>
          <a:lstStyle/>
          <a:p>
            <a:pPr indent="0" lvl="0" marL="0" marR="0" rtl="0" algn="l">
              <a:lnSpc>
                <a:spcPct val="100000"/>
              </a:lnSpc>
              <a:spcBef>
                <a:spcPts val="0"/>
              </a:spcBef>
              <a:spcAft>
                <a:spcPts val="0"/>
              </a:spcAft>
              <a:buClr>
                <a:schemeClr val="dk2"/>
              </a:buClr>
              <a:buSzPts val="2400"/>
              <a:buFont typeface="Calibri"/>
              <a:buNone/>
            </a:pPr>
            <a:r>
              <a:rPr b="0" i="0" lang="en-US" sz="2400" u="none" cap="none" strike="noStrike">
                <a:solidFill>
                  <a:schemeClr val="dk2"/>
                </a:solidFill>
                <a:latin typeface="Calibri"/>
                <a:ea typeface="Calibri"/>
                <a:cs typeface="Calibri"/>
                <a:sym typeface="Calibri"/>
              </a:rPr>
              <a:t>Box Trace of  fact(3)  (continued)</a:t>
            </a:r>
            <a:endParaRPr/>
          </a:p>
        </p:txBody>
      </p:sp>
      <p:pic>
        <p:nvPicPr>
          <p:cNvPr id="277" name="Google Shape;277;p35"/>
          <p:cNvPicPr preferRelativeResize="0"/>
          <p:nvPr/>
        </p:nvPicPr>
        <p:blipFill rotWithShape="1">
          <a:blip r:embed="rId3">
            <a:alphaModFix/>
          </a:blip>
          <a:srcRect b="0" l="0" r="0" t="0"/>
          <a:stretch/>
        </p:blipFill>
        <p:spPr>
          <a:xfrm>
            <a:off x="1066800" y="914400"/>
            <a:ext cx="7173912" cy="533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609600" y="152400"/>
            <a:ext cx="7772400" cy="9906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2900"/>
              <a:buFont typeface="Calibri"/>
              <a:buNone/>
            </a:pPr>
            <a:r>
              <a:rPr b="0" i="0" lang="en-US" sz="2900" u="none">
                <a:solidFill>
                  <a:schemeClr val="dk2"/>
                </a:solidFill>
                <a:latin typeface="Calibri"/>
                <a:ea typeface="Calibri"/>
                <a:cs typeface="Calibri"/>
                <a:sym typeface="Calibri"/>
              </a:rPr>
              <a:t>More Interesting Example</a:t>
            </a:r>
            <a:br>
              <a:rPr b="0" i="0" lang="en-US" sz="2900" u="none">
                <a:solidFill>
                  <a:schemeClr val="dk2"/>
                </a:solidFill>
                <a:latin typeface="Calibri"/>
                <a:ea typeface="Calibri"/>
                <a:cs typeface="Calibri"/>
                <a:sym typeface="Calibri"/>
              </a:rPr>
            </a:br>
            <a:r>
              <a:rPr b="0" i="0" lang="en-US" sz="2900" u="none">
                <a:solidFill>
                  <a:schemeClr val="dk2"/>
                </a:solidFill>
                <a:latin typeface="Calibri"/>
                <a:ea typeface="Calibri"/>
                <a:cs typeface="Calibri"/>
                <a:sym typeface="Calibri"/>
              </a:rPr>
              <a:t>Towers of Hanoi</a:t>
            </a:r>
            <a:endParaRPr/>
          </a:p>
        </p:txBody>
      </p:sp>
      <p:pic>
        <p:nvPicPr>
          <p:cNvPr descr="Tower_of_Hanoi" id="284" name="Google Shape;284;p36"/>
          <p:cNvPicPr preferRelativeResize="0"/>
          <p:nvPr>
            <p:ph idx="1" type="body"/>
          </p:nvPr>
        </p:nvPicPr>
        <p:blipFill rotWithShape="1">
          <a:blip r:embed="rId3">
            <a:alphaModFix/>
          </a:blip>
          <a:srcRect b="0" l="0" r="0" t="0"/>
          <a:stretch/>
        </p:blipFill>
        <p:spPr>
          <a:xfrm>
            <a:off x="1150937" y="1247775"/>
            <a:ext cx="6840537" cy="3009900"/>
          </a:xfrm>
          <a:prstGeom prst="rect">
            <a:avLst/>
          </a:prstGeom>
          <a:noFill/>
          <a:ln>
            <a:noFill/>
          </a:ln>
        </p:spPr>
      </p:pic>
      <p:sp>
        <p:nvSpPr>
          <p:cNvPr id="285" name="Google Shape;285;p36"/>
          <p:cNvSpPr txBox="1"/>
          <p:nvPr>
            <p:ph idx="1" type="body"/>
          </p:nvPr>
        </p:nvSpPr>
        <p:spPr>
          <a:xfrm>
            <a:off x="685800" y="4343400"/>
            <a:ext cx="7772400" cy="1828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660"/>
              <a:buFont typeface="Noto Sans Symbols"/>
              <a:buChar char="⚫"/>
            </a:pPr>
            <a:r>
              <a:rPr b="0" i="0" lang="en-US" sz="2800" u="none">
                <a:solidFill>
                  <a:schemeClr val="dk1"/>
                </a:solidFill>
                <a:latin typeface="Constantia"/>
                <a:ea typeface="Constantia"/>
                <a:cs typeface="Constantia"/>
                <a:sym typeface="Constantia"/>
              </a:rPr>
              <a:t>Move stack of disks from one peg to another</a:t>
            </a:r>
            <a:endParaRPr/>
          </a:p>
          <a:p>
            <a:pPr indent="-273050" lvl="0" marL="273050" rtl="0" algn="l">
              <a:lnSpc>
                <a:spcPct val="100000"/>
              </a:lnSpc>
              <a:spcBef>
                <a:spcPts val="560"/>
              </a:spcBef>
              <a:spcAft>
                <a:spcPts val="0"/>
              </a:spcAft>
              <a:buClr>
                <a:srgbClr val="0BD0D9"/>
              </a:buClr>
              <a:buSzPts val="2660"/>
              <a:buFont typeface="Noto Sans Symbols"/>
              <a:buChar char="⚫"/>
            </a:pPr>
            <a:r>
              <a:rPr b="0" i="0" lang="en-US" sz="2800" u="none">
                <a:solidFill>
                  <a:schemeClr val="dk1"/>
                </a:solidFill>
                <a:latin typeface="Constantia"/>
                <a:ea typeface="Constantia"/>
                <a:cs typeface="Constantia"/>
                <a:sym typeface="Constantia"/>
              </a:rPr>
              <a:t>Move one disk at a time</a:t>
            </a:r>
            <a:endParaRPr/>
          </a:p>
          <a:p>
            <a:pPr indent="-273050" lvl="0" marL="273050" rtl="0" algn="l">
              <a:lnSpc>
                <a:spcPct val="100000"/>
              </a:lnSpc>
              <a:spcBef>
                <a:spcPts val="560"/>
              </a:spcBef>
              <a:spcAft>
                <a:spcPts val="0"/>
              </a:spcAft>
              <a:buClr>
                <a:srgbClr val="0BD0D9"/>
              </a:buClr>
              <a:buSzPts val="2660"/>
              <a:buFont typeface="Noto Sans Symbols"/>
              <a:buChar char="⚫"/>
            </a:pPr>
            <a:r>
              <a:rPr b="0" i="0" lang="en-US" sz="2800" u="none">
                <a:solidFill>
                  <a:schemeClr val="dk1"/>
                </a:solidFill>
                <a:latin typeface="Constantia"/>
                <a:ea typeface="Constantia"/>
                <a:cs typeface="Constantia"/>
                <a:sym typeface="Constantia"/>
              </a:rPr>
              <a:t>Larger disk may never be on top of smaller disk</a:t>
            </a:r>
            <a:endParaRPr/>
          </a:p>
          <a:p>
            <a:pPr indent="-104140" lvl="0" marL="273050" rtl="0" algn="l">
              <a:spcBef>
                <a:spcPts val="560"/>
              </a:spcBef>
              <a:spcAft>
                <a:spcPts val="0"/>
              </a:spcAft>
              <a:buSzPts val="2660"/>
              <a:buNone/>
            </a:pPr>
            <a:r>
              <a:t/>
            </a:r>
            <a:endParaRPr b="0" i="0" sz="2800" u="none">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37"/>
          <p:cNvGrpSpPr/>
          <p:nvPr/>
        </p:nvGrpSpPr>
        <p:grpSpPr>
          <a:xfrm>
            <a:off x="2362200" y="2590800"/>
            <a:ext cx="4343400" cy="1600200"/>
            <a:chOff x="1152" y="2736"/>
            <a:chExt cx="2736" cy="1008"/>
          </a:xfrm>
        </p:grpSpPr>
        <p:sp>
          <p:nvSpPr>
            <p:cNvPr id="291" name="Google Shape;291;p37"/>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2" name="Google Shape;292;p37"/>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3" name="Google Shape;293;p37"/>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4" name="Google Shape;294;p37"/>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95" name="Google Shape;295;p37"/>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A Legend</a:t>
            </a:r>
            <a:endParaRPr/>
          </a:p>
        </p:txBody>
      </p:sp>
      <p:sp>
        <p:nvSpPr>
          <p:cNvPr id="296" name="Google Shape;296;p37"/>
          <p:cNvSpPr txBox="1"/>
          <p:nvPr>
            <p:ph idx="1" type="body"/>
          </p:nvPr>
        </p:nvSpPr>
        <p:spPr>
          <a:xfrm>
            <a:off x="381000" y="1524000"/>
            <a:ext cx="85344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Legend has it that there were three diamond needles set into the floor of the temple of Brahma in Hanoi.</a:t>
            </a:r>
            <a:endParaRPr/>
          </a:p>
        </p:txBody>
      </p:sp>
      <p:sp>
        <p:nvSpPr>
          <p:cNvPr id="297" name="Google Shape;297;p37"/>
          <p:cNvSpPr txBox="1"/>
          <p:nvPr/>
        </p:nvSpPr>
        <p:spPr>
          <a:xfrm>
            <a:off x="457200" y="46482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Stacked upon the leftmost needle were 64 golden disks, each a different size, stacked in concentric order:</a:t>
            </a:r>
            <a:endParaRPr/>
          </a:p>
        </p:txBody>
      </p:sp>
      <p:grpSp>
        <p:nvGrpSpPr>
          <p:cNvPr id="298" name="Google Shape;298;p37"/>
          <p:cNvGrpSpPr/>
          <p:nvPr/>
        </p:nvGrpSpPr>
        <p:grpSpPr>
          <a:xfrm>
            <a:off x="2209800" y="2819400"/>
            <a:ext cx="1371600" cy="1219200"/>
            <a:chOff x="1056" y="2784"/>
            <a:chExt cx="864" cy="768"/>
          </a:xfrm>
        </p:grpSpPr>
        <p:sp>
          <p:nvSpPr>
            <p:cNvPr id="299" name="Google Shape;299;p37"/>
            <p:cNvSpPr/>
            <p:nvPr/>
          </p:nvSpPr>
          <p:spPr>
            <a:xfrm>
              <a:off x="1056" y="3456"/>
              <a:ext cx="86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0" name="Google Shape;300;p37"/>
            <p:cNvSpPr/>
            <p:nvPr/>
          </p:nvSpPr>
          <p:spPr>
            <a:xfrm>
              <a:off x="1104" y="3360"/>
              <a:ext cx="76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1" name="Google Shape;301;p37"/>
            <p:cNvSpPr/>
            <p:nvPr/>
          </p:nvSpPr>
          <p:spPr>
            <a:xfrm>
              <a:off x="1152" y="3264"/>
              <a:ext cx="67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2" name="Google Shape;302;p37"/>
            <p:cNvSpPr/>
            <p:nvPr/>
          </p:nvSpPr>
          <p:spPr>
            <a:xfrm>
              <a:off x="1200" y="3168"/>
              <a:ext cx="576"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3" name="Google Shape;303;p37"/>
            <p:cNvSpPr/>
            <p:nvPr/>
          </p:nvSpPr>
          <p:spPr>
            <a:xfrm>
              <a:off x="1248" y="3072"/>
              <a:ext cx="480"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4" name="Google Shape;304;p37"/>
            <p:cNvSpPr/>
            <p:nvPr/>
          </p:nvSpPr>
          <p:spPr>
            <a:xfrm>
              <a:off x="1296" y="2976"/>
              <a:ext cx="38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5" name="Google Shape;305;p37"/>
            <p:cNvSpPr/>
            <p:nvPr/>
          </p:nvSpPr>
          <p:spPr>
            <a:xfrm>
              <a:off x="1344" y="2880"/>
              <a:ext cx="28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6" name="Google Shape;306;p37"/>
            <p:cNvSpPr/>
            <p:nvPr/>
          </p:nvSpPr>
          <p:spPr>
            <a:xfrm>
              <a:off x="1392" y="2784"/>
              <a:ext cx="19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grpSp>
        <p:nvGrpSpPr>
          <p:cNvPr id="311" name="Google Shape;311;p38"/>
          <p:cNvGrpSpPr/>
          <p:nvPr/>
        </p:nvGrpSpPr>
        <p:grpSpPr>
          <a:xfrm>
            <a:off x="2362200" y="2667000"/>
            <a:ext cx="4343400" cy="1600200"/>
            <a:chOff x="1152" y="2736"/>
            <a:chExt cx="2736" cy="1008"/>
          </a:xfrm>
        </p:grpSpPr>
        <p:sp>
          <p:nvSpPr>
            <p:cNvPr id="312" name="Google Shape;312;p38"/>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3" name="Google Shape;313;p38"/>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4" name="Google Shape;314;p38"/>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5" name="Google Shape;315;p38"/>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16" name="Google Shape;316;p38"/>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A Legend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317" name="Google Shape;317;p38"/>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The priests were to transfer the disks from the first needle to the second needle, using the third as necessary.</a:t>
            </a:r>
            <a:endParaRPr/>
          </a:p>
        </p:txBody>
      </p:sp>
      <p:sp>
        <p:nvSpPr>
          <p:cNvPr id="318" name="Google Shape;318;p38"/>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But they could </a:t>
            </a:r>
            <a:r>
              <a:rPr b="0" i="1" lang="en-US" sz="2600" u="none">
                <a:solidFill>
                  <a:schemeClr val="dk1"/>
                </a:solidFill>
                <a:latin typeface="Arial"/>
                <a:ea typeface="Arial"/>
                <a:cs typeface="Arial"/>
                <a:sym typeface="Arial"/>
              </a:rPr>
              <a:t>only move</a:t>
            </a:r>
            <a:r>
              <a:rPr b="0" i="0" lang="en-US" sz="2600" u="none">
                <a:solidFill>
                  <a:schemeClr val="dk1"/>
                </a:solidFill>
                <a:latin typeface="Arial"/>
                <a:ea typeface="Arial"/>
                <a:cs typeface="Arial"/>
                <a:sym typeface="Arial"/>
              </a:rPr>
              <a:t> </a:t>
            </a:r>
            <a:r>
              <a:rPr b="0" i="1" lang="en-US" sz="2600" u="none">
                <a:solidFill>
                  <a:schemeClr val="dk1"/>
                </a:solidFill>
                <a:latin typeface="Arial"/>
                <a:ea typeface="Arial"/>
                <a:cs typeface="Arial"/>
                <a:sym typeface="Arial"/>
              </a:rPr>
              <a:t>one disk at a time</a:t>
            </a:r>
            <a:r>
              <a:rPr b="0" i="0" lang="en-US" sz="2600" u="none">
                <a:solidFill>
                  <a:schemeClr val="dk1"/>
                </a:solidFill>
                <a:latin typeface="Arial"/>
                <a:ea typeface="Arial"/>
                <a:cs typeface="Arial"/>
                <a:sym typeface="Arial"/>
              </a:rPr>
              <a:t>, and could </a:t>
            </a:r>
            <a:r>
              <a:rPr b="0" i="1" lang="en-US" sz="2600" u="none">
                <a:solidFill>
                  <a:schemeClr val="dk1"/>
                </a:solidFill>
                <a:latin typeface="Arial"/>
                <a:ea typeface="Arial"/>
                <a:cs typeface="Arial"/>
                <a:sym typeface="Arial"/>
              </a:rPr>
              <a:t>never put a larger disk on top of a smaller one</a:t>
            </a:r>
            <a:r>
              <a:rPr b="0" i="0" lang="en-US" sz="2600" u="none">
                <a:solidFill>
                  <a:schemeClr val="dk1"/>
                </a:solidFill>
                <a:latin typeface="Arial"/>
                <a:ea typeface="Arial"/>
                <a:cs typeface="Arial"/>
                <a:sym typeface="Arial"/>
              </a:rPr>
              <a:t>.</a:t>
            </a:r>
            <a:endParaRPr/>
          </a:p>
          <a:p>
            <a:pPr indent="-342900" lvl="0" marL="342900" marR="0" rtl="0" algn="l">
              <a:lnSpc>
                <a:spcPct val="100000"/>
              </a:lnSpc>
              <a:spcBef>
                <a:spcPts val="156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When they completed this task, </a:t>
            </a:r>
            <a:r>
              <a:rPr b="0" i="0" lang="en-US" sz="2600" u="sng">
                <a:solidFill>
                  <a:schemeClr val="dk1"/>
                </a:solidFill>
                <a:latin typeface="Arial"/>
                <a:ea typeface="Arial"/>
                <a:cs typeface="Arial"/>
                <a:sym typeface="Arial"/>
              </a:rPr>
              <a:t>the world would end</a:t>
            </a:r>
            <a:r>
              <a:rPr b="0" i="0" lang="en-US" sz="2600" u="none">
                <a:solidFill>
                  <a:schemeClr val="dk1"/>
                </a:solidFill>
                <a:latin typeface="Arial"/>
                <a:ea typeface="Arial"/>
                <a:cs typeface="Arial"/>
                <a:sym typeface="Arial"/>
              </a:rPr>
              <a:t>!</a:t>
            </a:r>
            <a:endParaRPr/>
          </a:p>
        </p:txBody>
      </p:sp>
      <p:grpSp>
        <p:nvGrpSpPr>
          <p:cNvPr id="319" name="Google Shape;319;p38"/>
          <p:cNvGrpSpPr/>
          <p:nvPr/>
        </p:nvGrpSpPr>
        <p:grpSpPr>
          <a:xfrm>
            <a:off x="2209800" y="2895600"/>
            <a:ext cx="1371600" cy="1219200"/>
            <a:chOff x="1056" y="2784"/>
            <a:chExt cx="864" cy="768"/>
          </a:xfrm>
        </p:grpSpPr>
        <p:sp>
          <p:nvSpPr>
            <p:cNvPr id="320" name="Google Shape;320;p38"/>
            <p:cNvSpPr/>
            <p:nvPr/>
          </p:nvSpPr>
          <p:spPr>
            <a:xfrm>
              <a:off x="1056" y="3456"/>
              <a:ext cx="86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38"/>
            <p:cNvSpPr/>
            <p:nvPr/>
          </p:nvSpPr>
          <p:spPr>
            <a:xfrm>
              <a:off x="1104" y="3360"/>
              <a:ext cx="76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38"/>
            <p:cNvSpPr/>
            <p:nvPr/>
          </p:nvSpPr>
          <p:spPr>
            <a:xfrm>
              <a:off x="1152" y="3264"/>
              <a:ext cx="67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3" name="Google Shape;323;p38"/>
            <p:cNvSpPr/>
            <p:nvPr/>
          </p:nvSpPr>
          <p:spPr>
            <a:xfrm>
              <a:off x="1200" y="3168"/>
              <a:ext cx="576"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38"/>
            <p:cNvSpPr/>
            <p:nvPr/>
          </p:nvSpPr>
          <p:spPr>
            <a:xfrm>
              <a:off x="1248" y="3072"/>
              <a:ext cx="480"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5" name="Google Shape;325;p38"/>
            <p:cNvSpPr/>
            <p:nvPr/>
          </p:nvSpPr>
          <p:spPr>
            <a:xfrm>
              <a:off x="1296" y="2976"/>
              <a:ext cx="38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6" name="Google Shape;326;p38"/>
            <p:cNvSpPr/>
            <p:nvPr/>
          </p:nvSpPr>
          <p:spPr>
            <a:xfrm>
              <a:off x="1344" y="2880"/>
              <a:ext cx="28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7" name="Google Shape;327;p38"/>
            <p:cNvSpPr/>
            <p:nvPr/>
          </p:nvSpPr>
          <p:spPr>
            <a:xfrm>
              <a:off x="1392" y="2784"/>
              <a:ext cx="19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39"/>
          <p:cNvGrpSpPr/>
          <p:nvPr/>
        </p:nvGrpSpPr>
        <p:grpSpPr>
          <a:xfrm>
            <a:off x="2362200" y="2667000"/>
            <a:ext cx="4343400" cy="1600200"/>
            <a:chOff x="1152" y="2736"/>
            <a:chExt cx="2736" cy="1008"/>
          </a:xfrm>
        </p:grpSpPr>
        <p:sp>
          <p:nvSpPr>
            <p:cNvPr id="333" name="Google Shape;333;p39"/>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4" name="Google Shape;334;p39"/>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5" name="Google Shape;335;p39"/>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6" name="Google Shape;336;p39"/>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37" name="Google Shape;337;p39"/>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To Illustrate</a:t>
            </a:r>
            <a:endParaRPr/>
          </a:p>
        </p:txBody>
      </p:sp>
      <p:sp>
        <p:nvSpPr>
          <p:cNvPr id="338" name="Google Shape;338;p39"/>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339" name="Google Shape;339;p39"/>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Since we can only move one disk at a time, we move the top disk from A to B.</a:t>
            </a:r>
            <a:endParaRPr/>
          </a:p>
        </p:txBody>
      </p:sp>
      <p:sp>
        <p:nvSpPr>
          <p:cNvPr id="340" name="Google Shape;340;p39"/>
          <p:cNvSpPr/>
          <p:nvPr/>
        </p:nvSpPr>
        <p:spPr>
          <a:xfrm>
            <a:off x="25908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1" name="Google Shape;341;p39"/>
          <p:cNvSpPr/>
          <p:nvPr/>
        </p:nvSpPr>
        <p:spPr>
          <a:xfrm>
            <a:off x="2667000" y="38100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2" name="Google Shape;342;p39"/>
          <p:cNvSpPr/>
          <p:nvPr/>
        </p:nvSpPr>
        <p:spPr>
          <a:xfrm>
            <a:off x="2743200" y="36576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40"/>
          <p:cNvGrpSpPr/>
          <p:nvPr/>
        </p:nvGrpSpPr>
        <p:grpSpPr>
          <a:xfrm>
            <a:off x="2362200" y="2667000"/>
            <a:ext cx="4343400" cy="1600200"/>
            <a:chOff x="1152" y="2736"/>
            <a:chExt cx="2736" cy="1008"/>
          </a:xfrm>
        </p:grpSpPr>
        <p:sp>
          <p:nvSpPr>
            <p:cNvPr id="348" name="Google Shape;348;p40"/>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9" name="Google Shape;349;p40"/>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0" name="Google Shape;350;p40"/>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1" name="Google Shape;351;p40"/>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52" name="Google Shape;352;p40"/>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a:t>
            </a:r>
            <a:endParaRPr/>
          </a:p>
        </p:txBody>
      </p:sp>
      <p:sp>
        <p:nvSpPr>
          <p:cNvPr id="353" name="Google Shape;353;p40"/>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354" name="Google Shape;354;p40"/>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A to C.</a:t>
            </a:r>
            <a:endParaRPr/>
          </a:p>
        </p:txBody>
      </p:sp>
      <p:sp>
        <p:nvSpPr>
          <p:cNvPr id="355" name="Google Shape;355;p40"/>
          <p:cNvSpPr/>
          <p:nvPr/>
        </p:nvSpPr>
        <p:spPr>
          <a:xfrm>
            <a:off x="25908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6" name="Google Shape;356;p40"/>
          <p:cNvSpPr/>
          <p:nvPr/>
        </p:nvSpPr>
        <p:spPr>
          <a:xfrm>
            <a:off x="2667000" y="38100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7" name="Google Shape;357;p40"/>
          <p:cNvSpPr/>
          <p:nvPr/>
        </p:nvSpPr>
        <p:spPr>
          <a:xfrm>
            <a:off x="4419600" y="39624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grpSp>
        <p:nvGrpSpPr>
          <p:cNvPr id="362" name="Google Shape;362;p41"/>
          <p:cNvGrpSpPr/>
          <p:nvPr/>
        </p:nvGrpSpPr>
        <p:grpSpPr>
          <a:xfrm>
            <a:off x="2362200" y="2667000"/>
            <a:ext cx="4343400" cy="1600200"/>
            <a:chOff x="1152" y="2736"/>
            <a:chExt cx="2736" cy="1008"/>
          </a:xfrm>
        </p:grpSpPr>
        <p:sp>
          <p:nvSpPr>
            <p:cNvPr id="363" name="Google Shape;363;p41"/>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4" name="Google Shape;364;p41"/>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41"/>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41"/>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67" name="Google Shape;367;p41"/>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368" name="Google Shape;368;p41"/>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369" name="Google Shape;369;p41"/>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B to C.</a:t>
            </a:r>
            <a:endParaRPr/>
          </a:p>
        </p:txBody>
      </p:sp>
      <p:sp>
        <p:nvSpPr>
          <p:cNvPr id="370" name="Google Shape;370;p41"/>
          <p:cNvSpPr/>
          <p:nvPr/>
        </p:nvSpPr>
        <p:spPr>
          <a:xfrm>
            <a:off x="25908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1" name="Google Shape;371;p41"/>
          <p:cNvSpPr/>
          <p:nvPr/>
        </p:nvSpPr>
        <p:spPr>
          <a:xfrm>
            <a:off x="6019800" y="3962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2" name="Google Shape;372;p41"/>
          <p:cNvSpPr/>
          <p:nvPr/>
        </p:nvSpPr>
        <p:spPr>
          <a:xfrm>
            <a:off x="4419600" y="39624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42"/>
          <p:cNvGrpSpPr/>
          <p:nvPr/>
        </p:nvGrpSpPr>
        <p:grpSpPr>
          <a:xfrm>
            <a:off x="2362200" y="2667000"/>
            <a:ext cx="4343400" cy="1600200"/>
            <a:chOff x="1152" y="2736"/>
            <a:chExt cx="2736" cy="1008"/>
          </a:xfrm>
        </p:grpSpPr>
        <p:sp>
          <p:nvSpPr>
            <p:cNvPr id="378" name="Google Shape;378;p42"/>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9" name="Google Shape;379;p42"/>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0" name="Google Shape;380;p42"/>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1" name="Google Shape;381;p42"/>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82" name="Google Shape;382;p42"/>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383" name="Google Shape;383;p42"/>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384" name="Google Shape;384;p42"/>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A to B.</a:t>
            </a:r>
            <a:endParaRPr/>
          </a:p>
        </p:txBody>
      </p:sp>
      <p:sp>
        <p:nvSpPr>
          <p:cNvPr id="385" name="Google Shape;385;p42"/>
          <p:cNvSpPr/>
          <p:nvPr/>
        </p:nvSpPr>
        <p:spPr>
          <a:xfrm>
            <a:off x="25908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6" name="Google Shape;386;p42"/>
          <p:cNvSpPr/>
          <p:nvPr/>
        </p:nvSpPr>
        <p:spPr>
          <a:xfrm>
            <a:off x="6019800" y="3962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7" name="Google Shape;387;p42"/>
          <p:cNvSpPr/>
          <p:nvPr/>
        </p:nvSpPr>
        <p:spPr>
          <a:xfrm>
            <a:off x="6096000" y="38100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grpSp>
        <p:nvGrpSpPr>
          <p:cNvPr id="392" name="Google Shape;392;p43"/>
          <p:cNvGrpSpPr/>
          <p:nvPr/>
        </p:nvGrpSpPr>
        <p:grpSpPr>
          <a:xfrm>
            <a:off x="2362200" y="2667000"/>
            <a:ext cx="4343400" cy="1600200"/>
            <a:chOff x="1152" y="2736"/>
            <a:chExt cx="2736" cy="1008"/>
          </a:xfrm>
        </p:grpSpPr>
        <p:sp>
          <p:nvSpPr>
            <p:cNvPr id="393" name="Google Shape;393;p43"/>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4" name="Google Shape;394;p43"/>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5" name="Google Shape;395;p43"/>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6" name="Google Shape;396;p43"/>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97" name="Google Shape;397;p43"/>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398" name="Google Shape;398;p43"/>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399" name="Google Shape;399;p43"/>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C to A.</a:t>
            </a:r>
            <a:endParaRPr/>
          </a:p>
        </p:txBody>
      </p:sp>
      <p:sp>
        <p:nvSpPr>
          <p:cNvPr id="400" name="Google Shape;400;p43"/>
          <p:cNvSpPr/>
          <p:nvPr/>
        </p:nvSpPr>
        <p:spPr>
          <a:xfrm>
            <a:off x="42672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1" name="Google Shape;401;p43"/>
          <p:cNvSpPr/>
          <p:nvPr/>
        </p:nvSpPr>
        <p:spPr>
          <a:xfrm>
            <a:off x="6019800" y="3962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2" name="Google Shape;402;p43"/>
          <p:cNvSpPr/>
          <p:nvPr/>
        </p:nvSpPr>
        <p:spPr>
          <a:xfrm>
            <a:off x="6096000" y="38100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grpSp>
        <p:nvGrpSpPr>
          <p:cNvPr id="407" name="Google Shape;407;p44"/>
          <p:cNvGrpSpPr/>
          <p:nvPr/>
        </p:nvGrpSpPr>
        <p:grpSpPr>
          <a:xfrm>
            <a:off x="2362200" y="2667000"/>
            <a:ext cx="4343400" cy="1600200"/>
            <a:chOff x="1152" y="2736"/>
            <a:chExt cx="2736" cy="1008"/>
          </a:xfrm>
        </p:grpSpPr>
        <p:sp>
          <p:nvSpPr>
            <p:cNvPr id="408" name="Google Shape;408;p44"/>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9" name="Google Shape;409;p44"/>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44"/>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1" name="Google Shape;411;p44"/>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12" name="Google Shape;412;p44"/>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413" name="Google Shape;413;p44"/>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414" name="Google Shape;414;p44"/>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C to B.</a:t>
            </a:r>
            <a:endParaRPr/>
          </a:p>
        </p:txBody>
      </p:sp>
      <p:sp>
        <p:nvSpPr>
          <p:cNvPr id="415" name="Google Shape;415;p44"/>
          <p:cNvSpPr/>
          <p:nvPr/>
        </p:nvSpPr>
        <p:spPr>
          <a:xfrm>
            <a:off x="42672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6" name="Google Shape;416;p44"/>
          <p:cNvSpPr/>
          <p:nvPr/>
        </p:nvSpPr>
        <p:spPr>
          <a:xfrm>
            <a:off x="6019800" y="3962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7" name="Google Shape;417;p44"/>
          <p:cNvSpPr/>
          <p:nvPr/>
        </p:nvSpPr>
        <p:spPr>
          <a:xfrm>
            <a:off x="2743200" y="39624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pSp>
        <p:nvGrpSpPr>
          <p:cNvPr id="422" name="Google Shape;422;p45"/>
          <p:cNvGrpSpPr/>
          <p:nvPr/>
        </p:nvGrpSpPr>
        <p:grpSpPr>
          <a:xfrm>
            <a:off x="2362200" y="2667000"/>
            <a:ext cx="4343400" cy="1600200"/>
            <a:chOff x="1152" y="2736"/>
            <a:chExt cx="2736" cy="1008"/>
          </a:xfrm>
        </p:grpSpPr>
        <p:sp>
          <p:nvSpPr>
            <p:cNvPr id="423" name="Google Shape;423;p45"/>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4" name="Google Shape;424;p45"/>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5" name="Google Shape;425;p45"/>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6" name="Google Shape;426;p45"/>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27" name="Google Shape;427;p45"/>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428" name="Google Shape;428;p45"/>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429" name="Google Shape;429;p45"/>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We then move the top disk from A to B.</a:t>
            </a:r>
            <a:endParaRPr/>
          </a:p>
        </p:txBody>
      </p:sp>
      <p:sp>
        <p:nvSpPr>
          <p:cNvPr id="430" name="Google Shape;430;p45"/>
          <p:cNvSpPr/>
          <p:nvPr/>
        </p:nvSpPr>
        <p:spPr>
          <a:xfrm>
            <a:off x="42672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1" name="Google Shape;431;p45"/>
          <p:cNvSpPr/>
          <p:nvPr/>
        </p:nvSpPr>
        <p:spPr>
          <a:xfrm>
            <a:off x="4343400" y="38100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2" name="Google Shape;432;p45"/>
          <p:cNvSpPr/>
          <p:nvPr/>
        </p:nvSpPr>
        <p:spPr>
          <a:xfrm>
            <a:off x="2743200" y="39624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pSp>
        <p:nvGrpSpPr>
          <p:cNvPr id="437" name="Google Shape;437;p46"/>
          <p:cNvGrpSpPr/>
          <p:nvPr/>
        </p:nvGrpSpPr>
        <p:grpSpPr>
          <a:xfrm>
            <a:off x="2362200" y="2667000"/>
            <a:ext cx="4343400" cy="1600200"/>
            <a:chOff x="1152" y="2736"/>
            <a:chExt cx="2736" cy="1008"/>
          </a:xfrm>
        </p:grpSpPr>
        <p:sp>
          <p:nvSpPr>
            <p:cNvPr id="438" name="Google Shape;438;p46"/>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9" name="Google Shape;439;p46"/>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0" name="Google Shape;440;p46"/>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1" name="Google Shape;441;p46"/>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42" name="Google Shape;442;p46"/>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Example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443" name="Google Shape;443;p46"/>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For simplicity, suppose there were just 3 disks, and we’ll refer to the three needles as A, B, and C...</a:t>
            </a:r>
            <a:endParaRPr/>
          </a:p>
        </p:txBody>
      </p:sp>
      <p:sp>
        <p:nvSpPr>
          <p:cNvPr id="444" name="Google Shape;444;p46"/>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and we’re done!</a:t>
            </a:r>
            <a:endParaRPr/>
          </a:p>
          <a:p>
            <a:pPr indent="-342900" lvl="0" marL="342900" marR="0" rtl="0" algn="l">
              <a:lnSpc>
                <a:spcPct val="100000"/>
              </a:lnSpc>
              <a:spcBef>
                <a:spcPts val="156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The problem gets more difficult as the number of disks increases...</a:t>
            </a:r>
            <a:endParaRPr/>
          </a:p>
        </p:txBody>
      </p:sp>
      <p:sp>
        <p:nvSpPr>
          <p:cNvPr id="445" name="Google Shape;445;p46"/>
          <p:cNvSpPr/>
          <p:nvPr/>
        </p:nvSpPr>
        <p:spPr>
          <a:xfrm>
            <a:off x="4267200" y="3962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6" name="Google Shape;446;p46"/>
          <p:cNvSpPr/>
          <p:nvPr/>
        </p:nvSpPr>
        <p:spPr>
          <a:xfrm>
            <a:off x="4343400" y="38100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7" name="Google Shape;447;p46"/>
          <p:cNvSpPr/>
          <p:nvPr/>
        </p:nvSpPr>
        <p:spPr>
          <a:xfrm>
            <a:off x="4419600" y="36576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grpSp>
        <p:nvGrpSpPr>
          <p:cNvPr id="452" name="Google Shape;452;p47"/>
          <p:cNvGrpSpPr/>
          <p:nvPr/>
        </p:nvGrpSpPr>
        <p:grpSpPr>
          <a:xfrm>
            <a:off x="2362200" y="2667000"/>
            <a:ext cx="4343400" cy="1600200"/>
            <a:chOff x="1152" y="2736"/>
            <a:chExt cx="2736" cy="1008"/>
          </a:xfrm>
        </p:grpSpPr>
        <p:sp>
          <p:nvSpPr>
            <p:cNvPr id="453" name="Google Shape;453;p47"/>
            <p:cNvSpPr/>
            <p:nvPr/>
          </p:nvSpPr>
          <p:spPr>
            <a:xfrm>
              <a:off x="1440"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4" name="Google Shape;454;p47"/>
            <p:cNvSpPr/>
            <p:nvPr/>
          </p:nvSpPr>
          <p:spPr>
            <a:xfrm>
              <a:off x="2496"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5" name="Google Shape;455;p47"/>
            <p:cNvSpPr/>
            <p:nvPr/>
          </p:nvSpPr>
          <p:spPr>
            <a:xfrm>
              <a:off x="3552" y="2736"/>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6" name="Google Shape;456;p47"/>
            <p:cNvSpPr txBox="1"/>
            <p:nvPr/>
          </p:nvSpPr>
          <p:spPr>
            <a:xfrm>
              <a:off x="1152" y="3648"/>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57" name="Google Shape;457;p47"/>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Our Problem</a:t>
            </a:r>
            <a:endParaRPr/>
          </a:p>
        </p:txBody>
      </p:sp>
      <p:sp>
        <p:nvSpPr>
          <p:cNvPr id="458" name="Google Shape;458;p47"/>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Today’s problem is to write a program that generates the instructions for the priests to follow in moving the disks.</a:t>
            </a:r>
            <a:endParaRPr/>
          </a:p>
        </p:txBody>
      </p:sp>
      <p:sp>
        <p:nvSpPr>
          <p:cNvPr id="459" name="Google Shape;459;p47"/>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While quite difficult to solve iteratively, this problem has a simple and elegant </a:t>
            </a:r>
            <a:r>
              <a:rPr b="0" i="1" lang="en-US" sz="2600" u="none">
                <a:solidFill>
                  <a:schemeClr val="dk1"/>
                </a:solidFill>
                <a:latin typeface="Arial"/>
                <a:ea typeface="Arial"/>
                <a:cs typeface="Arial"/>
                <a:sym typeface="Arial"/>
              </a:rPr>
              <a:t>recursive</a:t>
            </a:r>
            <a:r>
              <a:rPr b="0" i="0" lang="en-US" sz="2600" u="none">
                <a:solidFill>
                  <a:schemeClr val="dk1"/>
                </a:solidFill>
                <a:latin typeface="Arial"/>
                <a:ea typeface="Arial"/>
                <a:cs typeface="Arial"/>
                <a:sym typeface="Arial"/>
              </a:rPr>
              <a:t> solution.</a:t>
            </a:r>
            <a:endParaRPr/>
          </a:p>
        </p:txBody>
      </p:sp>
      <p:grpSp>
        <p:nvGrpSpPr>
          <p:cNvPr id="460" name="Google Shape;460;p47"/>
          <p:cNvGrpSpPr/>
          <p:nvPr/>
        </p:nvGrpSpPr>
        <p:grpSpPr>
          <a:xfrm>
            <a:off x="2209800" y="2895600"/>
            <a:ext cx="1371600" cy="1219200"/>
            <a:chOff x="1056" y="2784"/>
            <a:chExt cx="864" cy="768"/>
          </a:xfrm>
        </p:grpSpPr>
        <p:sp>
          <p:nvSpPr>
            <p:cNvPr id="461" name="Google Shape;461;p47"/>
            <p:cNvSpPr/>
            <p:nvPr/>
          </p:nvSpPr>
          <p:spPr>
            <a:xfrm>
              <a:off x="1056" y="3456"/>
              <a:ext cx="86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2" name="Google Shape;462;p47"/>
            <p:cNvSpPr/>
            <p:nvPr/>
          </p:nvSpPr>
          <p:spPr>
            <a:xfrm>
              <a:off x="1104" y="3360"/>
              <a:ext cx="76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3" name="Google Shape;463;p47"/>
            <p:cNvSpPr/>
            <p:nvPr/>
          </p:nvSpPr>
          <p:spPr>
            <a:xfrm>
              <a:off x="1152" y="3264"/>
              <a:ext cx="67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4" name="Google Shape;464;p47"/>
            <p:cNvSpPr/>
            <p:nvPr/>
          </p:nvSpPr>
          <p:spPr>
            <a:xfrm>
              <a:off x="1200" y="3168"/>
              <a:ext cx="576"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5" name="Google Shape;465;p47"/>
            <p:cNvSpPr/>
            <p:nvPr/>
          </p:nvSpPr>
          <p:spPr>
            <a:xfrm>
              <a:off x="1248" y="3072"/>
              <a:ext cx="480"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6" name="Google Shape;466;p47"/>
            <p:cNvSpPr/>
            <p:nvPr/>
          </p:nvSpPr>
          <p:spPr>
            <a:xfrm>
              <a:off x="1296" y="2976"/>
              <a:ext cx="38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7" name="Google Shape;467;p47"/>
            <p:cNvSpPr/>
            <p:nvPr/>
          </p:nvSpPr>
          <p:spPr>
            <a:xfrm>
              <a:off x="1344" y="2880"/>
              <a:ext cx="28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8" name="Google Shape;468;p47"/>
            <p:cNvSpPr/>
            <p:nvPr/>
          </p:nvSpPr>
          <p:spPr>
            <a:xfrm>
              <a:off x="1392" y="2784"/>
              <a:ext cx="19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8"/>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a:t>
            </a:r>
            <a:endParaRPr/>
          </a:p>
        </p:txBody>
      </p:sp>
      <p:sp>
        <p:nvSpPr>
          <p:cNvPr id="474" name="Google Shape;474;p48"/>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Basis: What is an instance of the problem that is trivial?</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a:t>
            </a:r>
            <a:r>
              <a:rPr b="0" i="0" lang="en-US" sz="2600" u="none">
                <a:solidFill>
                  <a:schemeClr val="dk1"/>
                </a:solidFill>
                <a:latin typeface="Constantia"/>
                <a:ea typeface="Constantia"/>
                <a:cs typeface="Constantia"/>
                <a:sym typeface="Constantia"/>
              </a:rPr>
              <a:t> n == 1</a:t>
            </a:r>
            <a:endParaRPr/>
          </a:p>
        </p:txBody>
      </p:sp>
      <p:sp>
        <p:nvSpPr>
          <p:cNvPr id="475" name="Google Shape;475;p48"/>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Since this base case could occur when the disk is on any needle, we simply output the instruction to move the top disk from </a:t>
            </a:r>
            <a:r>
              <a:rPr b="0" i="1" lang="en-US" sz="2600" u="none">
                <a:solidFill>
                  <a:schemeClr val="dk1"/>
                </a:solidFill>
                <a:latin typeface="Arial"/>
                <a:ea typeface="Arial"/>
                <a:cs typeface="Arial"/>
                <a:sym typeface="Arial"/>
              </a:rPr>
              <a:t>src</a:t>
            </a:r>
            <a:r>
              <a:rPr b="0" i="0" lang="en-US" sz="2600" u="none">
                <a:solidFill>
                  <a:schemeClr val="dk1"/>
                </a:solidFill>
                <a:latin typeface="Arial"/>
                <a:ea typeface="Arial"/>
                <a:cs typeface="Arial"/>
                <a:sym typeface="Arial"/>
              </a:rPr>
              <a:t> to </a:t>
            </a:r>
            <a:r>
              <a:rPr b="0" i="1" lang="en-US" sz="2600" u="none">
                <a:solidFill>
                  <a:schemeClr val="dk1"/>
                </a:solidFill>
                <a:latin typeface="Arial"/>
                <a:ea typeface="Arial"/>
                <a:cs typeface="Arial"/>
                <a:sym typeface="Arial"/>
              </a:rPr>
              <a:t>dest</a:t>
            </a:r>
            <a:r>
              <a:rPr b="0" i="0" lang="en-US" sz="2600" u="none">
                <a:solidFill>
                  <a:schemeClr val="dk1"/>
                </a:solidFill>
                <a:latin typeface="Arial"/>
                <a:ea typeface="Arial"/>
                <a:cs typeface="Arial"/>
                <a:sym typeface="Arial"/>
              </a:rPr>
              <a:t>.</a:t>
            </a:r>
            <a:endParaRPr/>
          </a:p>
        </p:txBody>
      </p:sp>
      <p:grpSp>
        <p:nvGrpSpPr>
          <p:cNvPr id="476" name="Google Shape;476;p48"/>
          <p:cNvGrpSpPr/>
          <p:nvPr/>
        </p:nvGrpSpPr>
        <p:grpSpPr>
          <a:xfrm>
            <a:off x="2362200" y="2667000"/>
            <a:ext cx="4343400" cy="1600200"/>
            <a:chOff x="1488" y="1680"/>
            <a:chExt cx="2736" cy="1008"/>
          </a:xfrm>
        </p:grpSpPr>
        <p:sp>
          <p:nvSpPr>
            <p:cNvPr id="477" name="Google Shape;477;p48"/>
            <p:cNvSpPr/>
            <p:nvPr/>
          </p:nvSpPr>
          <p:spPr>
            <a:xfrm>
              <a:off x="1776"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8" name="Google Shape;478;p48"/>
            <p:cNvSpPr/>
            <p:nvPr/>
          </p:nvSpPr>
          <p:spPr>
            <a:xfrm>
              <a:off x="2832"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9" name="Google Shape;479;p48"/>
            <p:cNvSpPr/>
            <p:nvPr/>
          </p:nvSpPr>
          <p:spPr>
            <a:xfrm>
              <a:off x="3888"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0" name="Google Shape;480;p48"/>
            <p:cNvSpPr txBox="1"/>
            <p:nvPr/>
          </p:nvSpPr>
          <p:spPr>
            <a:xfrm>
              <a:off x="1488" y="2592"/>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1" name="Google Shape;481;p48"/>
            <p:cNvSpPr/>
            <p:nvPr/>
          </p:nvSpPr>
          <p:spPr>
            <a:xfrm>
              <a:off x="1728" y="2496"/>
              <a:ext cx="19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9"/>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a:t>
            </a:r>
            <a:endParaRPr/>
          </a:p>
        </p:txBody>
      </p:sp>
      <p:sp>
        <p:nvSpPr>
          <p:cNvPr id="487" name="Google Shape;487;p49"/>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Basis: What is an instance of the problem that is trivial?</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a:t>
            </a:r>
            <a:r>
              <a:rPr b="0" i="0" lang="en-US" sz="2600" u="none">
                <a:solidFill>
                  <a:schemeClr val="dk1"/>
                </a:solidFill>
                <a:latin typeface="Constantia"/>
                <a:ea typeface="Constantia"/>
                <a:cs typeface="Constantia"/>
                <a:sym typeface="Constantia"/>
              </a:rPr>
              <a:t> n == 1</a:t>
            </a:r>
            <a:endParaRPr/>
          </a:p>
        </p:txBody>
      </p:sp>
      <p:sp>
        <p:nvSpPr>
          <p:cNvPr id="488" name="Google Shape;488;p49"/>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Since this base case could occur when the disk is on any needle, we simply output the instruction to move the top disk from </a:t>
            </a:r>
            <a:r>
              <a:rPr b="0" i="1" lang="en-US" sz="2600" u="none">
                <a:solidFill>
                  <a:schemeClr val="dk1"/>
                </a:solidFill>
                <a:latin typeface="Arial"/>
                <a:ea typeface="Arial"/>
                <a:cs typeface="Arial"/>
                <a:sym typeface="Arial"/>
              </a:rPr>
              <a:t>src</a:t>
            </a:r>
            <a:r>
              <a:rPr b="0" i="0" lang="en-US" sz="2600" u="none">
                <a:solidFill>
                  <a:schemeClr val="dk1"/>
                </a:solidFill>
                <a:latin typeface="Arial"/>
                <a:ea typeface="Arial"/>
                <a:cs typeface="Arial"/>
                <a:sym typeface="Arial"/>
              </a:rPr>
              <a:t> to </a:t>
            </a:r>
            <a:r>
              <a:rPr b="0" i="1" lang="en-US" sz="2600" u="none">
                <a:solidFill>
                  <a:schemeClr val="dk1"/>
                </a:solidFill>
                <a:latin typeface="Arial"/>
                <a:ea typeface="Arial"/>
                <a:cs typeface="Arial"/>
                <a:sym typeface="Arial"/>
              </a:rPr>
              <a:t>dest</a:t>
            </a:r>
            <a:r>
              <a:rPr b="0" i="0" lang="en-US" sz="2600" u="none">
                <a:solidFill>
                  <a:schemeClr val="dk1"/>
                </a:solidFill>
                <a:latin typeface="Arial"/>
                <a:ea typeface="Arial"/>
                <a:cs typeface="Arial"/>
                <a:sym typeface="Arial"/>
              </a:rPr>
              <a:t>.</a:t>
            </a:r>
            <a:endParaRPr/>
          </a:p>
        </p:txBody>
      </p:sp>
      <p:sp>
        <p:nvSpPr>
          <p:cNvPr id="489" name="Google Shape;489;p49"/>
          <p:cNvSpPr/>
          <p:nvPr/>
        </p:nvSpPr>
        <p:spPr>
          <a:xfrm>
            <a:off x="28194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0" name="Google Shape;490;p49"/>
          <p:cNvSpPr/>
          <p:nvPr/>
        </p:nvSpPr>
        <p:spPr>
          <a:xfrm>
            <a:off x="44958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1" name="Google Shape;491;p49"/>
          <p:cNvSpPr/>
          <p:nvPr/>
        </p:nvSpPr>
        <p:spPr>
          <a:xfrm>
            <a:off x="61722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2" name="Google Shape;492;p49"/>
          <p:cNvSpPr txBox="1"/>
          <p:nvPr/>
        </p:nvSpPr>
        <p:spPr>
          <a:xfrm>
            <a:off x="2362200" y="4114800"/>
            <a:ext cx="4343400" cy="152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3" name="Google Shape;493;p49"/>
          <p:cNvSpPr/>
          <p:nvPr/>
        </p:nvSpPr>
        <p:spPr>
          <a:xfrm>
            <a:off x="4419600" y="39624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499" name="Google Shape;499;p50"/>
          <p:cNvSpPr txBox="1"/>
          <p:nvPr>
            <p:ph idx="1" type="body"/>
          </p:nvPr>
        </p:nvSpPr>
        <p:spPr>
          <a:xfrm>
            <a:off x="228600" y="14478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Induction Step: n &gt; 1</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 </a:t>
            </a:r>
            <a:r>
              <a:rPr b="0" i="0" lang="en-US" sz="2200" u="none">
                <a:solidFill>
                  <a:schemeClr val="dk1"/>
                </a:solidFill>
                <a:latin typeface="Constantia"/>
                <a:ea typeface="Constantia"/>
                <a:cs typeface="Constantia"/>
                <a:sym typeface="Constantia"/>
              </a:rPr>
              <a:t>How can recursion help us out?</a:t>
            </a:r>
            <a:endParaRPr/>
          </a:p>
        </p:txBody>
      </p:sp>
      <p:sp>
        <p:nvSpPr>
          <p:cNvPr id="500" name="Google Shape;500;p50"/>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a. </a:t>
            </a:r>
            <a:r>
              <a:rPr b="0" i="0" lang="en-US" sz="2600" u="sng">
                <a:solidFill>
                  <a:schemeClr val="dk1"/>
                </a:solidFill>
                <a:latin typeface="Arial"/>
                <a:ea typeface="Arial"/>
                <a:cs typeface="Arial"/>
                <a:sym typeface="Arial"/>
              </a:rPr>
              <a:t>Recursively</a:t>
            </a:r>
            <a:r>
              <a:rPr b="0" i="0" lang="en-US" sz="2600" u="none">
                <a:solidFill>
                  <a:schemeClr val="dk1"/>
                </a:solidFill>
                <a:latin typeface="Arial"/>
                <a:ea typeface="Arial"/>
                <a:cs typeface="Arial"/>
                <a:sym typeface="Arial"/>
              </a:rPr>
              <a:t> move n-1 disks from </a:t>
            </a:r>
            <a:r>
              <a:rPr b="0" i="1" lang="en-US" sz="2600" u="none">
                <a:solidFill>
                  <a:schemeClr val="dk1"/>
                </a:solidFill>
                <a:latin typeface="Arial"/>
                <a:ea typeface="Arial"/>
                <a:cs typeface="Arial"/>
                <a:sym typeface="Arial"/>
              </a:rPr>
              <a:t>src</a:t>
            </a:r>
            <a:r>
              <a:rPr b="0" i="0" lang="en-US" sz="2600" u="none">
                <a:solidFill>
                  <a:schemeClr val="dk1"/>
                </a:solidFill>
                <a:latin typeface="Arial"/>
                <a:ea typeface="Arial"/>
                <a:cs typeface="Arial"/>
                <a:sym typeface="Arial"/>
              </a:rPr>
              <a:t> to </a:t>
            </a:r>
            <a:r>
              <a:rPr b="0" i="1" lang="en-US" sz="2600" u="none">
                <a:solidFill>
                  <a:schemeClr val="dk1"/>
                </a:solidFill>
                <a:latin typeface="Arial"/>
                <a:ea typeface="Arial"/>
                <a:cs typeface="Arial"/>
                <a:sym typeface="Arial"/>
              </a:rPr>
              <a:t>aux</a:t>
            </a:r>
            <a:r>
              <a:rPr b="0" i="0" lang="en-US" sz="2600" u="none">
                <a:solidFill>
                  <a:schemeClr val="dk1"/>
                </a:solidFill>
                <a:latin typeface="Arial"/>
                <a:ea typeface="Arial"/>
                <a:cs typeface="Arial"/>
                <a:sym typeface="Arial"/>
              </a:rPr>
              <a:t>.</a:t>
            </a:r>
            <a:endParaRPr/>
          </a:p>
        </p:txBody>
      </p:sp>
      <p:grpSp>
        <p:nvGrpSpPr>
          <p:cNvPr id="501" name="Google Shape;501;p50"/>
          <p:cNvGrpSpPr/>
          <p:nvPr/>
        </p:nvGrpSpPr>
        <p:grpSpPr>
          <a:xfrm>
            <a:off x="2209800" y="2667000"/>
            <a:ext cx="4495800" cy="1600200"/>
            <a:chOff x="1392" y="1680"/>
            <a:chExt cx="2832" cy="1008"/>
          </a:xfrm>
        </p:grpSpPr>
        <p:sp>
          <p:nvSpPr>
            <p:cNvPr id="502" name="Google Shape;502;p50"/>
            <p:cNvSpPr/>
            <p:nvPr/>
          </p:nvSpPr>
          <p:spPr>
            <a:xfrm>
              <a:off x="1776"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3" name="Google Shape;503;p50"/>
            <p:cNvSpPr/>
            <p:nvPr/>
          </p:nvSpPr>
          <p:spPr>
            <a:xfrm>
              <a:off x="2832"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4" name="Google Shape;504;p50"/>
            <p:cNvSpPr/>
            <p:nvPr/>
          </p:nvSpPr>
          <p:spPr>
            <a:xfrm>
              <a:off x="3888" y="1680"/>
              <a:ext cx="96" cy="912"/>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5" name="Google Shape;505;p50"/>
            <p:cNvSpPr txBox="1"/>
            <p:nvPr/>
          </p:nvSpPr>
          <p:spPr>
            <a:xfrm>
              <a:off x="1488" y="2592"/>
              <a:ext cx="2736" cy="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506" name="Google Shape;506;p50"/>
            <p:cNvGrpSpPr/>
            <p:nvPr/>
          </p:nvGrpSpPr>
          <p:grpSpPr>
            <a:xfrm>
              <a:off x="1392" y="1824"/>
              <a:ext cx="864" cy="768"/>
              <a:chOff x="1056" y="2784"/>
              <a:chExt cx="864" cy="768"/>
            </a:xfrm>
          </p:grpSpPr>
          <p:sp>
            <p:nvSpPr>
              <p:cNvPr id="507" name="Google Shape;507;p50"/>
              <p:cNvSpPr/>
              <p:nvPr/>
            </p:nvSpPr>
            <p:spPr>
              <a:xfrm>
                <a:off x="1056" y="3456"/>
                <a:ext cx="86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8" name="Google Shape;508;p50"/>
              <p:cNvSpPr/>
              <p:nvPr/>
            </p:nvSpPr>
            <p:spPr>
              <a:xfrm>
                <a:off x="1104" y="3360"/>
                <a:ext cx="76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9" name="Google Shape;509;p50"/>
              <p:cNvSpPr/>
              <p:nvPr/>
            </p:nvSpPr>
            <p:spPr>
              <a:xfrm>
                <a:off x="1152" y="3264"/>
                <a:ext cx="67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0" name="Google Shape;510;p50"/>
              <p:cNvSpPr/>
              <p:nvPr/>
            </p:nvSpPr>
            <p:spPr>
              <a:xfrm>
                <a:off x="1200" y="3168"/>
                <a:ext cx="576"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1" name="Google Shape;511;p50"/>
              <p:cNvSpPr/>
              <p:nvPr/>
            </p:nvSpPr>
            <p:spPr>
              <a:xfrm>
                <a:off x="1248" y="3072"/>
                <a:ext cx="480"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2" name="Google Shape;512;p50"/>
              <p:cNvSpPr/>
              <p:nvPr/>
            </p:nvSpPr>
            <p:spPr>
              <a:xfrm>
                <a:off x="1296" y="2976"/>
                <a:ext cx="384"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3" name="Google Shape;513;p50"/>
              <p:cNvSpPr/>
              <p:nvPr/>
            </p:nvSpPr>
            <p:spPr>
              <a:xfrm>
                <a:off x="1344" y="2880"/>
                <a:ext cx="288"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4" name="Google Shape;514;p50"/>
              <p:cNvSpPr/>
              <p:nvPr/>
            </p:nvSpPr>
            <p:spPr>
              <a:xfrm>
                <a:off x="1392" y="2784"/>
                <a:ext cx="192" cy="96"/>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1"/>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520" name="Google Shape;520;p51"/>
          <p:cNvSpPr txBox="1"/>
          <p:nvPr>
            <p:ph idx="1" type="body"/>
          </p:nvPr>
        </p:nvSpPr>
        <p:spPr>
          <a:xfrm>
            <a:off x="228600" y="14478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Induction Step: n &gt; 1</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 </a:t>
            </a:r>
            <a:r>
              <a:rPr b="0" i="0" lang="en-US" sz="2200" u="none">
                <a:solidFill>
                  <a:schemeClr val="dk1"/>
                </a:solidFill>
                <a:latin typeface="Constantia"/>
                <a:ea typeface="Constantia"/>
                <a:cs typeface="Constantia"/>
                <a:sym typeface="Constantia"/>
              </a:rPr>
              <a:t>How can recursion help us out?</a:t>
            </a:r>
            <a:endParaRPr/>
          </a:p>
        </p:txBody>
      </p:sp>
      <p:sp>
        <p:nvSpPr>
          <p:cNvPr id="521" name="Google Shape;521;p51"/>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b. Move the one remaining disk from </a:t>
            </a:r>
            <a:r>
              <a:rPr b="0" i="1" lang="en-US" sz="2600" u="none">
                <a:solidFill>
                  <a:schemeClr val="dk1"/>
                </a:solidFill>
                <a:latin typeface="Arial"/>
                <a:ea typeface="Arial"/>
                <a:cs typeface="Arial"/>
                <a:sym typeface="Arial"/>
              </a:rPr>
              <a:t>src</a:t>
            </a:r>
            <a:r>
              <a:rPr b="0" i="0" lang="en-US" sz="2600" u="none">
                <a:solidFill>
                  <a:schemeClr val="dk1"/>
                </a:solidFill>
                <a:latin typeface="Arial"/>
                <a:ea typeface="Arial"/>
                <a:cs typeface="Arial"/>
                <a:sym typeface="Arial"/>
              </a:rPr>
              <a:t> to </a:t>
            </a:r>
            <a:r>
              <a:rPr b="0" i="1" lang="en-US" sz="2600" u="none">
                <a:solidFill>
                  <a:schemeClr val="dk1"/>
                </a:solidFill>
                <a:latin typeface="Arial"/>
                <a:ea typeface="Arial"/>
                <a:cs typeface="Arial"/>
                <a:sym typeface="Arial"/>
              </a:rPr>
              <a:t>dest</a:t>
            </a:r>
            <a:r>
              <a:rPr b="0" i="0" lang="en-US" sz="2600" u="none">
                <a:solidFill>
                  <a:schemeClr val="dk1"/>
                </a:solidFill>
                <a:latin typeface="Arial"/>
                <a:ea typeface="Arial"/>
                <a:cs typeface="Arial"/>
                <a:sym typeface="Arial"/>
              </a:rPr>
              <a:t>.</a:t>
            </a:r>
            <a:endParaRPr/>
          </a:p>
        </p:txBody>
      </p:sp>
      <p:sp>
        <p:nvSpPr>
          <p:cNvPr id="522" name="Google Shape;522;p51"/>
          <p:cNvSpPr/>
          <p:nvPr/>
        </p:nvSpPr>
        <p:spPr>
          <a:xfrm>
            <a:off x="28194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3" name="Google Shape;523;p51"/>
          <p:cNvSpPr/>
          <p:nvPr/>
        </p:nvSpPr>
        <p:spPr>
          <a:xfrm>
            <a:off x="44958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4" name="Google Shape;524;p51"/>
          <p:cNvSpPr/>
          <p:nvPr/>
        </p:nvSpPr>
        <p:spPr>
          <a:xfrm>
            <a:off x="61722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5" name="Google Shape;525;p51"/>
          <p:cNvSpPr txBox="1"/>
          <p:nvPr/>
        </p:nvSpPr>
        <p:spPr>
          <a:xfrm>
            <a:off x="2362200" y="4114800"/>
            <a:ext cx="4343400" cy="152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6" name="Google Shape;526;p51"/>
          <p:cNvSpPr/>
          <p:nvPr/>
        </p:nvSpPr>
        <p:spPr>
          <a:xfrm>
            <a:off x="2209800" y="3962400"/>
            <a:ext cx="1371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7" name="Google Shape;527;p51"/>
          <p:cNvSpPr/>
          <p:nvPr/>
        </p:nvSpPr>
        <p:spPr>
          <a:xfrm>
            <a:off x="5638800" y="3962400"/>
            <a:ext cx="1219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8" name="Google Shape;528;p51"/>
          <p:cNvSpPr/>
          <p:nvPr/>
        </p:nvSpPr>
        <p:spPr>
          <a:xfrm>
            <a:off x="5715000" y="3810000"/>
            <a:ext cx="1066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9" name="Google Shape;529;p51"/>
          <p:cNvSpPr/>
          <p:nvPr/>
        </p:nvSpPr>
        <p:spPr>
          <a:xfrm>
            <a:off x="5791200" y="3657600"/>
            <a:ext cx="9144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0" name="Google Shape;530;p51"/>
          <p:cNvSpPr/>
          <p:nvPr/>
        </p:nvSpPr>
        <p:spPr>
          <a:xfrm>
            <a:off x="5867400" y="3505200"/>
            <a:ext cx="7620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1" name="Google Shape;531;p51"/>
          <p:cNvSpPr/>
          <p:nvPr/>
        </p:nvSpPr>
        <p:spPr>
          <a:xfrm>
            <a:off x="5943600" y="33528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2" name="Google Shape;532;p51"/>
          <p:cNvSpPr/>
          <p:nvPr/>
        </p:nvSpPr>
        <p:spPr>
          <a:xfrm>
            <a:off x="6019800" y="3200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3" name="Google Shape;533;p51"/>
          <p:cNvSpPr/>
          <p:nvPr/>
        </p:nvSpPr>
        <p:spPr>
          <a:xfrm>
            <a:off x="6096000" y="30480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2"/>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539" name="Google Shape;539;p52"/>
          <p:cNvSpPr txBox="1"/>
          <p:nvPr>
            <p:ph idx="1" type="body"/>
          </p:nvPr>
        </p:nvSpPr>
        <p:spPr>
          <a:xfrm>
            <a:off x="228600" y="14478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Induction Step: n &gt; 1</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 </a:t>
            </a:r>
            <a:r>
              <a:rPr b="0" i="0" lang="en-US" sz="2200" u="none">
                <a:solidFill>
                  <a:schemeClr val="dk1"/>
                </a:solidFill>
                <a:latin typeface="Constantia"/>
                <a:ea typeface="Constantia"/>
                <a:cs typeface="Constantia"/>
                <a:sym typeface="Constantia"/>
              </a:rPr>
              <a:t>How can recursion help us out?</a:t>
            </a:r>
            <a:endParaRPr/>
          </a:p>
        </p:txBody>
      </p:sp>
      <p:sp>
        <p:nvSpPr>
          <p:cNvPr id="540" name="Google Shape;540;p52"/>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c. </a:t>
            </a:r>
            <a:r>
              <a:rPr b="0" i="1" lang="en-US" sz="2600" u="none">
                <a:solidFill>
                  <a:schemeClr val="dk1"/>
                </a:solidFill>
                <a:latin typeface="Arial"/>
                <a:ea typeface="Arial"/>
                <a:cs typeface="Arial"/>
                <a:sym typeface="Arial"/>
              </a:rPr>
              <a:t>Recursively</a:t>
            </a:r>
            <a:r>
              <a:rPr b="0" i="0" lang="en-US" sz="2600" u="none">
                <a:solidFill>
                  <a:schemeClr val="dk1"/>
                </a:solidFill>
                <a:latin typeface="Arial"/>
                <a:ea typeface="Arial"/>
                <a:cs typeface="Arial"/>
                <a:sym typeface="Arial"/>
              </a:rPr>
              <a:t> move n-1 disks from </a:t>
            </a:r>
            <a:r>
              <a:rPr b="0" i="1" lang="en-US" sz="2600" u="none">
                <a:solidFill>
                  <a:schemeClr val="dk1"/>
                </a:solidFill>
                <a:latin typeface="Arial"/>
                <a:ea typeface="Arial"/>
                <a:cs typeface="Arial"/>
                <a:sym typeface="Arial"/>
              </a:rPr>
              <a:t>aux</a:t>
            </a:r>
            <a:r>
              <a:rPr b="0" i="0" lang="en-US" sz="2600" u="none">
                <a:solidFill>
                  <a:schemeClr val="dk1"/>
                </a:solidFill>
                <a:latin typeface="Arial"/>
                <a:ea typeface="Arial"/>
                <a:cs typeface="Arial"/>
                <a:sym typeface="Arial"/>
              </a:rPr>
              <a:t> to </a:t>
            </a:r>
            <a:r>
              <a:rPr b="0" i="1" lang="en-US" sz="2600" u="none">
                <a:solidFill>
                  <a:schemeClr val="dk1"/>
                </a:solidFill>
                <a:latin typeface="Arial"/>
                <a:ea typeface="Arial"/>
                <a:cs typeface="Arial"/>
                <a:sym typeface="Arial"/>
              </a:rPr>
              <a:t>dest</a:t>
            </a:r>
            <a:r>
              <a:rPr b="0" i="0" lang="en-US" sz="2600" u="none">
                <a:solidFill>
                  <a:schemeClr val="dk1"/>
                </a:solidFill>
                <a:latin typeface="Arial"/>
                <a:ea typeface="Arial"/>
                <a:cs typeface="Arial"/>
                <a:sym typeface="Arial"/>
              </a:rPr>
              <a:t>...</a:t>
            </a:r>
            <a:endParaRPr/>
          </a:p>
        </p:txBody>
      </p:sp>
      <p:sp>
        <p:nvSpPr>
          <p:cNvPr id="541" name="Google Shape;541;p52"/>
          <p:cNvSpPr/>
          <p:nvPr/>
        </p:nvSpPr>
        <p:spPr>
          <a:xfrm>
            <a:off x="28194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2" name="Google Shape;542;p52"/>
          <p:cNvSpPr/>
          <p:nvPr/>
        </p:nvSpPr>
        <p:spPr>
          <a:xfrm>
            <a:off x="44958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3" name="Google Shape;543;p52"/>
          <p:cNvSpPr/>
          <p:nvPr/>
        </p:nvSpPr>
        <p:spPr>
          <a:xfrm>
            <a:off x="61722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4" name="Google Shape;544;p52"/>
          <p:cNvSpPr txBox="1"/>
          <p:nvPr/>
        </p:nvSpPr>
        <p:spPr>
          <a:xfrm>
            <a:off x="2362200" y="4114800"/>
            <a:ext cx="4343400" cy="152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5" name="Google Shape;545;p52"/>
          <p:cNvSpPr/>
          <p:nvPr/>
        </p:nvSpPr>
        <p:spPr>
          <a:xfrm>
            <a:off x="3886200" y="3962400"/>
            <a:ext cx="1371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6" name="Google Shape;546;p52"/>
          <p:cNvSpPr/>
          <p:nvPr/>
        </p:nvSpPr>
        <p:spPr>
          <a:xfrm>
            <a:off x="5638800" y="3962400"/>
            <a:ext cx="1219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7" name="Google Shape;547;p52"/>
          <p:cNvSpPr/>
          <p:nvPr/>
        </p:nvSpPr>
        <p:spPr>
          <a:xfrm>
            <a:off x="5715000" y="3810000"/>
            <a:ext cx="1066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8" name="Google Shape;548;p52"/>
          <p:cNvSpPr/>
          <p:nvPr/>
        </p:nvSpPr>
        <p:spPr>
          <a:xfrm>
            <a:off x="5791200" y="3657600"/>
            <a:ext cx="9144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9" name="Google Shape;549;p52"/>
          <p:cNvSpPr/>
          <p:nvPr/>
        </p:nvSpPr>
        <p:spPr>
          <a:xfrm>
            <a:off x="5867400" y="3505200"/>
            <a:ext cx="7620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0" name="Google Shape;550;p52"/>
          <p:cNvSpPr/>
          <p:nvPr/>
        </p:nvSpPr>
        <p:spPr>
          <a:xfrm>
            <a:off x="5943600" y="33528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1" name="Google Shape;551;p52"/>
          <p:cNvSpPr/>
          <p:nvPr/>
        </p:nvSpPr>
        <p:spPr>
          <a:xfrm>
            <a:off x="6019800" y="32004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2" name="Google Shape;552;p52"/>
          <p:cNvSpPr/>
          <p:nvPr/>
        </p:nvSpPr>
        <p:spPr>
          <a:xfrm>
            <a:off x="6096000" y="30480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3"/>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Design (</a:t>
            </a:r>
            <a:r>
              <a:rPr b="0" i="1" lang="en-US" sz="5000" u="none">
                <a:solidFill>
                  <a:schemeClr val="dk2"/>
                </a:solidFill>
                <a:latin typeface="Calibri"/>
                <a:ea typeface="Calibri"/>
                <a:cs typeface="Calibri"/>
                <a:sym typeface="Calibri"/>
              </a:rPr>
              <a:t>Ct’d</a:t>
            </a:r>
            <a:r>
              <a:rPr b="0" i="0" lang="en-US" sz="5000" u="none">
                <a:solidFill>
                  <a:schemeClr val="dk2"/>
                </a:solidFill>
                <a:latin typeface="Calibri"/>
                <a:ea typeface="Calibri"/>
                <a:cs typeface="Calibri"/>
                <a:sym typeface="Calibri"/>
              </a:rPr>
              <a:t>)</a:t>
            </a:r>
            <a:endParaRPr/>
          </a:p>
        </p:txBody>
      </p:sp>
      <p:sp>
        <p:nvSpPr>
          <p:cNvPr id="558" name="Google Shape;558;p53"/>
          <p:cNvSpPr txBox="1"/>
          <p:nvPr>
            <p:ph idx="1" type="body"/>
          </p:nvPr>
        </p:nvSpPr>
        <p:spPr>
          <a:xfrm>
            <a:off x="228600" y="14478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Induction Step: n &gt; 1</a:t>
            </a:r>
            <a:endParaRPr/>
          </a:p>
          <a:p>
            <a:pPr indent="-273050" lvl="0" marL="273050" rtl="0" algn="l">
              <a:lnSpc>
                <a:spcPct val="100000"/>
              </a:lnSpc>
              <a:spcBef>
                <a:spcPts val="520"/>
              </a:spcBef>
              <a:spcAft>
                <a:spcPts val="0"/>
              </a:spcAft>
              <a:buSzPts val="2470"/>
              <a:buNone/>
            </a:pPr>
            <a:r>
              <a:rPr b="0" i="0" lang="en-US" sz="2600" u="none">
                <a:solidFill>
                  <a:schemeClr val="dk1"/>
                </a:solidFill>
                <a:latin typeface="Noto Sans Symbols"/>
                <a:ea typeface="Noto Sans Symbols"/>
                <a:cs typeface="Noto Sans Symbols"/>
                <a:sym typeface="Noto Sans Symbols"/>
              </a:rPr>
              <a:t>→ </a:t>
            </a:r>
            <a:r>
              <a:rPr b="0" i="0" lang="en-US" sz="2200" u="none">
                <a:solidFill>
                  <a:schemeClr val="dk1"/>
                </a:solidFill>
                <a:latin typeface="Constantia"/>
                <a:ea typeface="Constantia"/>
                <a:cs typeface="Constantia"/>
                <a:sym typeface="Constantia"/>
              </a:rPr>
              <a:t>How can recursion help us out?</a:t>
            </a:r>
            <a:endParaRPr/>
          </a:p>
        </p:txBody>
      </p:sp>
      <p:sp>
        <p:nvSpPr>
          <p:cNvPr id="559" name="Google Shape;559;p53"/>
          <p:cNvSpPr txBox="1"/>
          <p:nvPr/>
        </p:nvSpPr>
        <p:spPr>
          <a:xfrm>
            <a:off x="381000" y="4724400"/>
            <a:ext cx="85344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d. We’re done!</a:t>
            </a:r>
            <a:endParaRPr/>
          </a:p>
        </p:txBody>
      </p:sp>
      <p:sp>
        <p:nvSpPr>
          <p:cNvPr id="560" name="Google Shape;560;p53"/>
          <p:cNvSpPr/>
          <p:nvPr/>
        </p:nvSpPr>
        <p:spPr>
          <a:xfrm>
            <a:off x="28194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1" name="Google Shape;561;p53"/>
          <p:cNvSpPr/>
          <p:nvPr/>
        </p:nvSpPr>
        <p:spPr>
          <a:xfrm>
            <a:off x="44958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2" name="Google Shape;562;p53"/>
          <p:cNvSpPr/>
          <p:nvPr/>
        </p:nvSpPr>
        <p:spPr>
          <a:xfrm>
            <a:off x="6172200" y="2667000"/>
            <a:ext cx="152400" cy="1447800"/>
          </a:xfrm>
          <a:prstGeom prst="triangle">
            <a:avLst>
              <a:gd fmla="val 9000" name="adj"/>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3" name="Google Shape;563;p53"/>
          <p:cNvSpPr txBox="1"/>
          <p:nvPr/>
        </p:nvSpPr>
        <p:spPr>
          <a:xfrm>
            <a:off x="2362200" y="4114800"/>
            <a:ext cx="4343400" cy="152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4" name="Google Shape;564;p53"/>
          <p:cNvSpPr/>
          <p:nvPr/>
        </p:nvSpPr>
        <p:spPr>
          <a:xfrm>
            <a:off x="3886200" y="3962400"/>
            <a:ext cx="1371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5" name="Google Shape;565;p53"/>
          <p:cNvSpPr/>
          <p:nvPr/>
        </p:nvSpPr>
        <p:spPr>
          <a:xfrm>
            <a:off x="3962400" y="3810000"/>
            <a:ext cx="1219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6" name="Google Shape;566;p53"/>
          <p:cNvSpPr/>
          <p:nvPr/>
        </p:nvSpPr>
        <p:spPr>
          <a:xfrm>
            <a:off x="4038600" y="3657600"/>
            <a:ext cx="1066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7" name="Google Shape;567;p53"/>
          <p:cNvSpPr/>
          <p:nvPr/>
        </p:nvSpPr>
        <p:spPr>
          <a:xfrm>
            <a:off x="4114800" y="3505200"/>
            <a:ext cx="9144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8" name="Google Shape;568;p53"/>
          <p:cNvSpPr/>
          <p:nvPr/>
        </p:nvSpPr>
        <p:spPr>
          <a:xfrm>
            <a:off x="4191000" y="3352800"/>
            <a:ext cx="7620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9" name="Google Shape;569;p53"/>
          <p:cNvSpPr/>
          <p:nvPr/>
        </p:nvSpPr>
        <p:spPr>
          <a:xfrm>
            <a:off x="4267200" y="3200400"/>
            <a:ext cx="6096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0" name="Google Shape;570;p53"/>
          <p:cNvSpPr/>
          <p:nvPr/>
        </p:nvSpPr>
        <p:spPr>
          <a:xfrm>
            <a:off x="4343400" y="3048000"/>
            <a:ext cx="4572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1" name="Google Shape;571;p53"/>
          <p:cNvSpPr/>
          <p:nvPr/>
        </p:nvSpPr>
        <p:spPr>
          <a:xfrm>
            <a:off x="4419600" y="2895600"/>
            <a:ext cx="304800" cy="152400"/>
          </a:xfrm>
          <a:prstGeom prst="can">
            <a:avLst>
              <a:gd fmla="val 25000"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4"/>
          <p:cNvSpPr txBox="1"/>
          <p:nvPr>
            <p:ph type="title"/>
          </p:nvPr>
        </p:nvSpPr>
        <p:spPr>
          <a:xfrm>
            <a:off x="914400" y="304800"/>
            <a:ext cx="73152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Algorithm</a:t>
            </a:r>
            <a:endParaRPr/>
          </a:p>
        </p:txBody>
      </p:sp>
      <p:sp>
        <p:nvSpPr>
          <p:cNvPr id="577" name="Google Shape;577;p54"/>
          <p:cNvSpPr txBox="1"/>
          <p:nvPr>
            <p:ph idx="1" type="body"/>
          </p:nvPr>
        </p:nvSpPr>
        <p:spPr>
          <a:xfrm>
            <a:off x="228600" y="1524000"/>
            <a:ext cx="8763000" cy="914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We can combine these steps into the following algorithm:</a:t>
            </a:r>
            <a:endParaRPr/>
          </a:p>
          <a:p>
            <a:pPr indent="-246062" lvl="1" marL="639762" rtl="0" algn="l">
              <a:lnSpc>
                <a:spcPct val="100000"/>
              </a:lnSpc>
              <a:spcBef>
                <a:spcPts val="440"/>
              </a:spcBef>
              <a:spcAft>
                <a:spcPts val="0"/>
              </a:spcAft>
              <a:buSzPts val="1870"/>
              <a:buNone/>
            </a:pPr>
            <a:r>
              <a:rPr b="0" i="0" lang="en-US" sz="2200" u="none">
                <a:solidFill>
                  <a:schemeClr val="dk1"/>
                </a:solidFill>
                <a:latin typeface="Constantia"/>
                <a:ea typeface="Constantia"/>
                <a:cs typeface="Constantia"/>
                <a:sym typeface="Constantia"/>
              </a:rPr>
              <a:t>0.	Receive </a:t>
            </a:r>
            <a:r>
              <a:rPr b="0" i="1" lang="en-US" sz="2200" u="none">
                <a:solidFill>
                  <a:schemeClr val="dk1"/>
                </a:solidFill>
                <a:latin typeface="Constantia"/>
                <a:ea typeface="Constantia"/>
                <a:cs typeface="Constantia"/>
                <a:sym typeface="Constantia"/>
              </a:rPr>
              <a:t>n, src, dest, aux</a:t>
            </a:r>
            <a:r>
              <a:rPr b="0" i="0" lang="en-US" sz="2200" u="none">
                <a:solidFill>
                  <a:schemeClr val="dk1"/>
                </a:solidFill>
                <a:latin typeface="Constantia"/>
                <a:ea typeface="Constantia"/>
                <a:cs typeface="Constantia"/>
                <a:sym typeface="Constantia"/>
              </a:rPr>
              <a:t>.</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1.	If </a:t>
            </a:r>
            <a:r>
              <a:rPr b="0" i="1" lang="en-US" sz="2200" u="none">
                <a:solidFill>
                  <a:schemeClr val="dk1"/>
                </a:solidFill>
                <a:latin typeface="Constantia"/>
                <a:ea typeface="Constantia"/>
                <a:cs typeface="Constantia"/>
                <a:sym typeface="Constantia"/>
              </a:rPr>
              <a:t>n</a:t>
            </a:r>
            <a:r>
              <a:rPr b="0" i="0" lang="en-US" sz="2200" u="none">
                <a:solidFill>
                  <a:schemeClr val="dk1"/>
                </a:solidFill>
                <a:latin typeface="Constantia"/>
                <a:ea typeface="Constantia"/>
                <a:cs typeface="Constantia"/>
                <a:sym typeface="Constantia"/>
              </a:rPr>
              <a:t> &gt; 1:</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a. Move(</a:t>
            </a:r>
            <a:r>
              <a:rPr b="0" i="1" lang="en-US" sz="2200" u="none">
                <a:solidFill>
                  <a:schemeClr val="dk1"/>
                </a:solidFill>
                <a:latin typeface="Constantia"/>
                <a:ea typeface="Constantia"/>
                <a:cs typeface="Constantia"/>
                <a:sym typeface="Constantia"/>
              </a:rPr>
              <a:t>n-1, src, aux, dest</a:t>
            </a:r>
            <a:r>
              <a:rPr b="0" i="0" lang="en-US" sz="2200" u="none">
                <a:solidFill>
                  <a:schemeClr val="dk1"/>
                </a:solidFill>
                <a:latin typeface="Constantia"/>
                <a:ea typeface="Constantia"/>
                <a:cs typeface="Constantia"/>
                <a:sym typeface="Constantia"/>
              </a:rPr>
              <a:t>);</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b. Move(1, </a:t>
            </a:r>
            <a:r>
              <a:rPr b="0" i="1" lang="en-US" sz="2200" u="none">
                <a:solidFill>
                  <a:schemeClr val="dk1"/>
                </a:solidFill>
                <a:latin typeface="Constantia"/>
                <a:ea typeface="Constantia"/>
                <a:cs typeface="Constantia"/>
                <a:sym typeface="Constantia"/>
              </a:rPr>
              <a:t>src, dest, aux</a:t>
            </a:r>
            <a:r>
              <a:rPr b="0" i="0" lang="en-US" sz="2200" u="none">
                <a:solidFill>
                  <a:schemeClr val="dk1"/>
                </a:solidFill>
                <a:latin typeface="Constantia"/>
                <a:ea typeface="Constantia"/>
                <a:cs typeface="Constantia"/>
                <a:sym typeface="Constantia"/>
              </a:rPr>
              <a:t>);</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c. Move(</a:t>
            </a:r>
            <a:r>
              <a:rPr b="0" i="1" lang="en-US" sz="2200" u="none">
                <a:solidFill>
                  <a:schemeClr val="dk1"/>
                </a:solidFill>
                <a:latin typeface="Constantia"/>
                <a:ea typeface="Constantia"/>
                <a:cs typeface="Constantia"/>
                <a:sym typeface="Constantia"/>
              </a:rPr>
              <a:t>n-1, aux, dest, src</a:t>
            </a:r>
            <a:r>
              <a:rPr b="0" i="0" lang="en-US" sz="2200" u="none">
                <a:solidFill>
                  <a:schemeClr val="dk1"/>
                </a:solidFill>
                <a:latin typeface="Constantia"/>
                <a:ea typeface="Constantia"/>
                <a:cs typeface="Constantia"/>
                <a:sym typeface="Constantia"/>
              </a:rPr>
              <a:t>);</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Else</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Display “Move the top disk from “, </a:t>
            </a:r>
            <a:r>
              <a:rPr b="0" i="1" lang="en-US" sz="2200" u="none">
                <a:solidFill>
                  <a:schemeClr val="dk1"/>
                </a:solidFill>
                <a:latin typeface="Constantia"/>
                <a:ea typeface="Constantia"/>
                <a:cs typeface="Constantia"/>
                <a:sym typeface="Constantia"/>
              </a:rPr>
              <a:t>src</a:t>
            </a:r>
            <a:r>
              <a:rPr b="0" i="0" lang="en-US" sz="2200" u="none">
                <a:solidFill>
                  <a:schemeClr val="dk1"/>
                </a:solidFill>
                <a:latin typeface="Constantia"/>
                <a:ea typeface="Constantia"/>
                <a:cs typeface="Constantia"/>
                <a:sym typeface="Constantia"/>
              </a:rPr>
              <a:t>, “ to “, </a:t>
            </a:r>
            <a:r>
              <a:rPr b="0" i="1" lang="en-US" sz="2200" u="none">
                <a:solidFill>
                  <a:schemeClr val="dk1"/>
                </a:solidFill>
                <a:latin typeface="Constantia"/>
                <a:ea typeface="Constantia"/>
                <a:cs typeface="Constantia"/>
                <a:sym typeface="Constantia"/>
              </a:rPr>
              <a:t>dest</a:t>
            </a:r>
            <a:r>
              <a:rPr b="0" i="0" lang="en-US" sz="2200" u="none">
                <a:solidFill>
                  <a:schemeClr val="dk1"/>
                </a:solidFill>
                <a:latin typeface="Constantia"/>
                <a:ea typeface="Constantia"/>
                <a:cs typeface="Constantia"/>
                <a:sym typeface="Constantia"/>
              </a:rPr>
              <a:t>.</a:t>
            </a:r>
            <a:endParaRPr/>
          </a:p>
          <a:p>
            <a:pPr indent="-246062" lvl="1" marL="639762" rtl="0" algn="l">
              <a:lnSpc>
                <a:spcPct val="100000"/>
              </a:lnSpc>
              <a:spcBef>
                <a:spcPts val="220"/>
              </a:spcBef>
              <a:spcAft>
                <a:spcPts val="0"/>
              </a:spcAft>
              <a:buSzPts val="1870"/>
              <a:buNone/>
            </a:pPr>
            <a:r>
              <a:rPr b="0" i="0" lang="en-US" sz="2200" u="none">
                <a:solidFill>
                  <a:schemeClr val="dk1"/>
                </a:solidFill>
                <a:latin typeface="Constantia"/>
                <a:ea typeface="Constantia"/>
                <a:cs typeface="Constantia"/>
                <a:sym typeface="Constantia"/>
              </a:rPr>
              <a:t>	End if.</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5"/>
          <p:cNvSpPr txBox="1"/>
          <p:nvPr>
            <p:ph type="title"/>
          </p:nvPr>
        </p:nvSpPr>
        <p:spPr>
          <a:xfrm>
            <a:off x="457200" y="30480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Tower of Hanoi Program</a:t>
            </a:r>
            <a:endParaRPr/>
          </a:p>
        </p:txBody>
      </p:sp>
      <p:sp>
        <p:nvSpPr>
          <p:cNvPr id="584" name="Google Shape;584;p55"/>
          <p:cNvSpPr txBox="1"/>
          <p:nvPr>
            <p:ph idx="1" type="body"/>
          </p:nvPr>
        </p:nvSpPr>
        <p:spPr>
          <a:xfrm>
            <a:off x="457200" y="1920875"/>
            <a:ext cx="4038600" cy="4433887"/>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520"/>
              <a:buNone/>
            </a:pPr>
            <a:r>
              <a:rPr b="1" i="0" lang="en-US" sz="1600" u="none">
                <a:solidFill>
                  <a:schemeClr val="dk1"/>
                </a:solidFill>
                <a:latin typeface="Courier New"/>
                <a:ea typeface="Courier New"/>
                <a:cs typeface="Courier New"/>
                <a:sym typeface="Courier New"/>
              </a:rPr>
              <a:t>#include &lt;stdio.h&gt;</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void move (int n, int a, int c, int b);</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int main() {</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int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printf ("How many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scanf ("%d", &amp;disks);</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move (disks, 1, 3, 2);</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return 0;</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 main</a:t>
            </a:r>
            <a:endParaRPr/>
          </a:p>
          <a:p>
            <a:pPr indent="-176530" lvl="0" marL="273050" rtl="0" algn="l">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p:txBody>
      </p:sp>
      <p:sp>
        <p:nvSpPr>
          <p:cNvPr id="585" name="Google Shape;585;p55"/>
          <p:cNvSpPr txBox="1"/>
          <p:nvPr>
            <p:ph idx="1" type="body"/>
          </p:nvPr>
        </p:nvSpPr>
        <p:spPr>
          <a:xfrm>
            <a:off x="4648200" y="1524000"/>
            <a:ext cx="3962400" cy="4648200"/>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330"/>
              <a:buNone/>
            </a:pPr>
            <a:r>
              <a:rPr b="1" i="0" lang="en-US" sz="1400" u="none">
                <a:solidFill>
                  <a:schemeClr val="dk1"/>
                </a:solidFill>
                <a:latin typeface="Courier New"/>
                <a:ea typeface="Courier New"/>
                <a:cs typeface="Courier New"/>
                <a:sym typeface="Courier New"/>
              </a:rPr>
              <a:t>/* PRE:  n &gt;= 0. Disks are arranged small to large on the pegs a, b, and c. At least n disks on peg a. No disk on b or c is smaller than the top n disks of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POST: The n disks have been moved from a to c. Small to large order is preserved. Other disks on a, b, c are undisturbed. */</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void move (int n, int a, int c, int b)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if (n &gt; 0)</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a, b,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printf ("Move one disk    from %d to %d\n", a,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b, c,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 if (n &gt; 0)</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return;</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move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6"/>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Tower of Hanoi Program</a:t>
            </a:r>
            <a:endParaRPr/>
          </a:p>
        </p:txBody>
      </p:sp>
      <p:sp>
        <p:nvSpPr>
          <p:cNvPr id="592" name="Google Shape;592;p56"/>
          <p:cNvSpPr txBox="1"/>
          <p:nvPr>
            <p:ph idx="1" type="body"/>
          </p:nvPr>
        </p:nvSpPr>
        <p:spPr>
          <a:xfrm>
            <a:off x="457200" y="1920875"/>
            <a:ext cx="4038600" cy="4433887"/>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520"/>
              <a:buNone/>
            </a:pPr>
            <a:r>
              <a:rPr b="1" i="0" lang="en-US" sz="1600" u="none">
                <a:solidFill>
                  <a:schemeClr val="dk1"/>
                </a:solidFill>
                <a:latin typeface="Courier New"/>
                <a:ea typeface="Courier New"/>
                <a:cs typeface="Courier New"/>
                <a:sym typeface="Courier New"/>
              </a:rPr>
              <a:t>#include &lt;stdio.h&gt;</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void move (int n, int a, int c, int b);</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int main() {</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int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printf ("How many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scanf ("%d", &amp;disks);</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move (disks, 1, 3, 2);</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return 0;</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 main</a:t>
            </a:r>
            <a:endParaRPr/>
          </a:p>
          <a:p>
            <a:pPr indent="-176530" lvl="0" marL="273050" rtl="0" algn="l">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p:txBody>
      </p:sp>
      <p:sp>
        <p:nvSpPr>
          <p:cNvPr id="593" name="Google Shape;593;p56"/>
          <p:cNvSpPr txBox="1"/>
          <p:nvPr>
            <p:ph idx="1" type="body"/>
          </p:nvPr>
        </p:nvSpPr>
        <p:spPr>
          <a:xfrm>
            <a:off x="4648200" y="1524000"/>
            <a:ext cx="3962400" cy="4648200"/>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330"/>
              <a:buNone/>
            </a:pPr>
            <a:r>
              <a:rPr b="1" i="0" lang="en-US" sz="1400" u="none">
                <a:solidFill>
                  <a:schemeClr val="dk1"/>
                </a:solidFill>
                <a:latin typeface="Courier New"/>
                <a:ea typeface="Courier New"/>
                <a:cs typeface="Courier New"/>
                <a:sym typeface="Courier New"/>
              </a:rPr>
              <a:t>/* PRE:  n &gt;= 0. Disks are arranged small to large on the pegs a, b, and c. At least n disks on peg a. No disk on b or c is smaller than the top n disks of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POST: The n disks have been moved from a to c. Small to large order is preserved. Other disks on a, b, c are undisturbed. */</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void move (int n, int a, int c, int b)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if (n &gt; 0)</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a, b,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printf ("Move one disk    from %d to %d\n", a,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b, c,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 if (n &gt; 0)</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return;</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move</a:t>
            </a:r>
            <a:endParaRPr/>
          </a:p>
        </p:txBody>
      </p:sp>
      <p:grpSp>
        <p:nvGrpSpPr>
          <p:cNvPr id="594" name="Google Shape;594;p56"/>
          <p:cNvGrpSpPr/>
          <p:nvPr/>
        </p:nvGrpSpPr>
        <p:grpSpPr>
          <a:xfrm>
            <a:off x="152400" y="3352800"/>
            <a:ext cx="5105400" cy="1828800"/>
            <a:chOff x="96" y="2112"/>
            <a:chExt cx="3216" cy="1152"/>
          </a:xfrm>
        </p:grpSpPr>
        <p:cxnSp>
          <p:nvCxnSpPr>
            <p:cNvPr id="595" name="Google Shape;595;p56"/>
            <p:cNvCxnSpPr/>
            <p:nvPr/>
          </p:nvCxnSpPr>
          <p:spPr>
            <a:xfrm flipH="1" rot="10800000">
              <a:off x="2544" y="2112"/>
              <a:ext cx="768" cy="720"/>
            </a:xfrm>
            <a:prstGeom prst="straightConnector1">
              <a:avLst/>
            </a:prstGeom>
            <a:noFill/>
            <a:ln cap="flat" cmpd="sng" w="9525">
              <a:solidFill>
                <a:schemeClr val="dk1"/>
              </a:solidFill>
              <a:prstDash val="solid"/>
              <a:miter lim="800000"/>
              <a:headEnd len="med" w="med" type="none"/>
              <a:tailEnd len="lg" w="lg" type="stealth"/>
            </a:ln>
          </p:spPr>
        </p:cxnSp>
        <p:sp>
          <p:nvSpPr>
            <p:cNvPr id="596" name="Google Shape;596;p56"/>
            <p:cNvSpPr txBox="1"/>
            <p:nvPr/>
          </p:nvSpPr>
          <p:spPr>
            <a:xfrm>
              <a:off x="96" y="2816"/>
              <a:ext cx="2976" cy="448"/>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33361" lvl="0" marL="233361" marR="0" rtl="0" algn="l">
                <a:lnSpc>
                  <a:spcPct val="100000"/>
                </a:lnSpc>
                <a:spcBef>
                  <a:spcPts val="0"/>
                </a:spcBef>
                <a:spcAft>
                  <a:spcPts val="0"/>
                </a:spcAft>
                <a:buClr>
                  <a:schemeClr val="dk1"/>
                </a:buClr>
                <a:buSzPts val="2000"/>
                <a:buFont typeface="Constantia"/>
                <a:buChar char="•"/>
              </a:pPr>
              <a:r>
                <a:rPr b="0" i="0" lang="en-US" sz="2000" u="none">
                  <a:solidFill>
                    <a:schemeClr val="dk1"/>
                  </a:solidFill>
                  <a:latin typeface="Constantia"/>
                  <a:ea typeface="Constantia"/>
                  <a:cs typeface="Constantia"/>
                  <a:sym typeface="Constantia"/>
                </a:rPr>
                <a:t>If pre-condition is satisfied here, is it still satisfied here?</a:t>
              </a:r>
              <a:endParaRPr/>
            </a:p>
          </p:txBody>
        </p:sp>
      </p:grpSp>
      <p:sp>
        <p:nvSpPr>
          <p:cNvPr id="597" name="Google Shape;597;p56"/>
          <p:cNvSpPr/>
          <p:nvPr/>
        </p:nvSpPr>
        <p:spPr>
          <a:xfrm>
            <a:off x="3276600" y="4114800"/>
            <a:ext cx="2057400" cy="1028700"/>
          </a:xfrm>
          <a:custGeom>
            <a:rect b="b" l="l" r="r" t="t"/>
            <a:pathLst>
              <a:path extrusionOk="0" h="648" w="1296">
                <a:moveTo>
                  <a:pt x="0" y="624"/>
                </a:moveTo>
                <a:cubicBezTo>
                  <a:pt x="152" y="636"/>
                  <a:pt x="304" y="648"/>
                  <a:pt x="432" y="624"/>
                </a:cubicBezTo>
                <a:cubicBezTo>
                  <a:pt x="560" y="600"/>
                  <a:pt x="672" y="568"/>
                  <a:pt x="768" y="480"/>
                </a:cubicBezTo>
                <a:cubicBezTo>
                  <a:pt x="864" y="392"/>
                  <a:pt x="920" y="176"/>
                  <a:pt x="1008" y="96"/>
                </a:cubicBezTo>
                <a:cubicBezTo>
                  <a:pt x="1096" y="16"/>
                  <a:pt x="1196" y="8"/>
                  <a:pt x="1296"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598" name="Google Shape;598;p56"/>
          <p:cNvGrpSpPr/>
          <p:nvPr/>
        </p:nvGrpSpPr>
        <p:grpSpPr>
          <a:xfrm>
            <a:off x="5867400" y="4724400"/>
            <a:ext cx="3025775" cy="950912"/>
            <a:chOff x="3696" y="2976"/>
            <a:chExt cx="1906" cy="599"/>
          </a:xfrm>
        </p:grpSpPr>
        <p:sp>
          <p:nvSpPr>
            <p:cNvPr id="599" name="Google Shape;599;p56"/>
            <p:cNvSpPr txBox="1"/>
            <p:nvPr/>
          </p:nvSpPr>
          <p:spPr>
            <a:xfrm>
              <a:off x="4742" y="3319"/>
              <a:ext cx="860" cy="256"/>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nstantia"/>
                <a:buNone/>
              </a:pPr>
              <a:r>
                <a:rPr b="0" i="0" lang="en-US" sz="2000" u="none">
                  <a:solidFill>
                    <a:schemeClr val="dk1"/>
                  </a:solidFill>
                  <a:latin typeface="Constantia"/>
                  <a:ea typeface="Constantia"/>
                  <a:cs typeface="Constantia"/>
                  <a:sym typeface="Constantia"/>
                </a:rPr>
                <a:t>And here?</a:t>
              </a:r>
              <a:endParaRPr/>
            </a:p>
          </p:txBody>
        </p:sp>
        <p:sp>
          <p:nvSpPr>
            <p:cNvPr id="600" name="Google Shape;600;p56"/>
            <p:cNvSpPr/>
            <p:nvPr/>
          </p:nvSpPr>
          <p:spPr>
            <a:xfrm>
              <a:off x="3696" y="2976"/>
              <a:ext cx="1056" cy="480"/>
            </a:xfrm>
            <a:custGeom>
              <a:rect b="b" l="l" r="r" t="t"/>
              <a:pathLst>
                <a:path extrusionOk="0" h="480" w="1056">
                  <a:moveTo>
                    <a:pt x="1056" y="480"/>
                  </a:moveTo>
                  <a:cubicBezTo>
                    <a:pt x="1009" y="473"/>
                    <a:pt x="855" y="477"/>
                    <a:pt x="774" y="438"/>
                  </a:cubicBezTo>
                  <a:cubicBezTo>
                    <a:pt x="693" y="399"/>
                    <a:pt x="648" y="310"/>
                    <a:pt x="570" y="246"/>
                  </a:cubicBezTo>
                  <a:cubicBezTo>
                    <a:pt x="492" y="182"/>
                    <a:pt x="401" y="95"/>
                    <a:pt x="306" y="54"/>
                  </a:cubicBezTo>
                  <a:cubicBezTo>
                    <a:pt x="211" y="13"/>
                    <a:pt x="64" y="11"/>
                    <a:pt x="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7"/>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Tower of Hanoi Program</a:t>
            </a:r>
            <a:endParaRPr/>
          </a:p>
        </p:txBody>
      </p:sp>
      <p:sp>
        <p:nvSpPr>
          <p:cNvPr id="607" name="Google Shape;607;p57"/>
          <p:cNvSpPr txBox="1"/>
          <p:nvPr>
            <p:ph idx="1" type="body"/>
          </p:nvPr>
        </p:nvSpPr>
        <p:spPr>
          <a:xfrm>
            <a:off x="457200" y="1920875"/>
            <a:ext cx="4038600" cy="4433887"/>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520"/>
              <a:buNone/>
            </a:pPr>
            <a:r>
              <a:rPr b="1" i="0" lang="en-US" sz="1600" u="none">
                <a:solidFill>
                  <a:schemeClr val="dk1"/>
                </a:solidFill>
                <a:latin typeface="Courier New"/>
                <a:ea typeface="Courier New"/>
                <a:cs typeface="Courier New"/>
                <a:sym typeface="Courier New"/>
              </a:rPr>
              <a:t>#include &lt;stdio.h&gt;</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void move (int n, int a, int c, int b);</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int main() {</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int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printf ("How many disks?");</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scanf ("%d", &amp;disks);</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move (disks, 1, 3, 2);</a:t>
            </a:r>
            <a:endParaRPr/>
          </a:p>
          <a:p>
            <a:pPr indent="-273050" lvl="0" marL="273050" rtl="0" algn="l">
              <a:lnSpc>
                <a:spcPct val="80000"/>
              </a:lnSpc>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return 0;</a:t>
            </a:r>
            <a:endParaRPr/>
          </a:p>
          <a:p>
            <a:pPr indent="-273050" lvl="0" marL="273050" rtl="0" algn="l">
              <a:lnSpc>
                <a:spcPct val="80000"/>
              </a:lnSpc>
              <a:spcBef>
                <a:spcPts val="320"/>
              </a:spcBef>
              <a:spcAft>
                <a:spcPts val="0"/>
              </a:spcAft>
              <a:buSzPts val="1520"/>
              <a:buNone/>
            </a:pPr>
            <a:r>
              <a:rPr b="1" i="0" lang="en-US" sz="1600" u="none">
                <a:solidFill>
                  <a:schemeClr val="dk1"/>
                </a:solidFill>
                <a:latin typeface="Courier New"/>
                <a:ea typeface="Courier New"/>
                <a:cs typeface="Courier New"/>
                <a:sym typeface="Courier New"/>
              </a:rPr>
              <a:t>}	// main</a:t>
            </a:r>
            <a:endParaRPr/>
          </a:p>
          <a:p>
            <a:pPr indent="-176530" lvl="0" marL="273050" rtl="0" algn="l">
              <a:spcBef>
                <a:spcPts val="320"/>
              </a:spcBef>
              <a:spcAft>
                <a:spcPts val="0"/>
              </a:spcAft>
              <a:buSzPts val="1520"/>
              <a:buNone/>
            </a:pPr>
            <a:r>
              <a:t/>
            </a:r>
            <a:endParaRPr b="1" i="0" sz="1600" u="none">
              <a:solidFill>
                <a:schemeClr val="dk1"/>
              </a:solidFill>
              <a:latin typeface="Courier New"/>
              <a:ea typeface="Courier New"/>
              <a:cs typeface="Courier New"/>
              <a:sym typeface="Courier New"/>
            </a:endParaRPr>
          </a:p>
        </p:txBody>
      </p:sp>
      <p:sp>
        <p:nvSpPr>
          <p:cNvPr id="608" name="Google Shape;608;p57"/>
          <p:cNvSpPr txBox="1"/>
          <p:nvPr>
            <p:ph idx="1" type="body"/>
          </p:nvPr>
        </p:nvSpPr>
        <p:spPr>
          <a:xfrm>
            <a:off x="4648200" y="1524000"/>
            <a:ext cx="3962400" cy="4648200"/>
          </a:xfrm>
          <a:prstGeom prst="rect">
            <a:avLst/>
          </a:prstGeom>
          <a:noFill/>
          <a:ln>
            <a:noFill/>
          </a:ln>
        </p:spPr>
        <p:txBody>
          <a:bodyPr anchorCtr="0" anchor="t" bIns="45700" lIns="91425" spcFirstLastPara="1" rIns="91425" wrap="square" tIns="45700">
            <a:noAutofit/>
          </a:bodyPr>
          <a:lstStyle/>
          <a:p>
            <a:pPr indent="-273050" lvl="0" marL="273050" rtl="0" algn="l">
              <a:lnSpc>
                <a:spcPct val="80000"/>
              </a:lnSpc>
              <a:spcBef>
                <a:spcPts val="0"/>
              </a:spcBef>
              <a:spcAft>
                <a:spcPts val="0"/>
              </a:spcAft>
              <a:buSzPts val="1330"/>
              <a:buNone/>
            </a:pPr>
            <a:r>
              <a:rPr b="1" i="0" lang="en-US" sz="1400" u="none">
                <a:solidFill>
                  <a:schemeClr val="dk1"/>
                </a:solidFill>
                <a:latin typeface="Courier New"/>
                <a:ea typeface="Courier New"/>
                <a:cs typeface="Courier New"/>
                <a:sym typeface="Courier New"/>
              </a:rPr>
              <a:t>/* PRE:  n &gt;= 0. Disks are arranged small to large on the pegs a, b, and c. At least n disks on peg a. No disk on b or c is smaller than the top n disks of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POST: The n disks have been moved from a to c. Small to large order is preserved. Other disks on a, b, c are undisturbed. */</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void move (int n, int a, int c, int b)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if (n &gt; 0)</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a, b,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printf ("Move one disk    from %d to %d\n", a, c);</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move (n-1, b, c, a);</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 if (n &gt; 0)</a:t>
            </a:r>
            <a:endParaRPr/>
          </a:p>
          <a:p>
            <a:pPr indent="-273050" lvl="0" marL="273050" rtl="0" algn="l">
              <a:lnSpc>
                <a:spcPct val="80000"/>
              </a:lnSpc>
              <a:spcBef>
                <a:spcPts val="280"/>
              </a:spcBef>
              <a:spcAft>
                <a:spcPts val="0"/>
              </a:spcAft>
              <a:buSzPts val="1330"/>
              <a:buNone/>
            </a:pPr>
            <a:r>
              <a:t/>
            </a:r>
            <a:endParaRPr b="1" i="0" sz="1400" u="none">
              <a:solidFill>
                <a:schemeClr val="dk1"/>
              </a:solidFill>
              <a:latin typeface="Courier New"/>
              <a:ea typeface="Courier New"/>
              <a:cs typeface="Courier New"/>
              <a:sym typeface="Courier New"/>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return;</a:t>
            </a:r>
            <a:endParaRPr/>
          </a:p>
          <a:p>
            <a:pPr indent="-273050" lvl="0" marL="273050" rtl="0" algn="l">
              <a:lnSpc>
                <a:spcPct val="80000"/>
              </a:lnSpc>
              <a:spcBef>
                <a:spcPts val="280"/>
              </a:spcBef>
              <a:spcAft>
                <a:spcPts val="0"/>
              </a:spcAft>
              <a:buSzPts val="1330"/>
              <a:buNone/>
            </a:pPr>
            <a:r>
              <a:rPr b="1" i="0" lang="en-US" sz="1400" u="none">
                <a:solidFill>
                  <a:schemeClr val="dk1"/>
                </a:solidFill>
                <a:latin typeface="Courier New"/>
                <a:ea typeface="Courier New"/>
                <a:cs typeface="Courier New"/>
                <a:sym typeface="Courier New"/>
              </a:rPr>
              <a:t>}	//	move</a:t>
            </a:r>
            <a:endParaRPr/>
          </a:p>
        </p:txBody>
      </p:sp>
      <p:grpSp>
        <p:nvGrpSpPr>
          <p:cNvPr id="609" name="Google Shape;609;p57"/>
          <p:cNvGrpSpPr/>
          <p:nvPr/>
        </p:nvGrpSpPr>
        <p:grpSpPr>
          <a:xfrm>
            <a:off x="838200" y="4791075"/>
            <a:ext cx="4343400" cy="1087437"/>
            <a:chOff x="528" y="3018"/>
            <a:chExt cx="2736" cy="685"/>
          </a:xfrm>
        </p:grpSpPr>
        <p:sp>
          <p:nvSpPr>
            <p:cNvPr id="610" name="Google Shape;610;p57"/>
            <p:cNvSpPr/>
            <p:nvPr/>
          </p:nvSpPr>
          <p:spPr>
            <a:xfrm>
              <a:off x="2304" y="3018"/>
              <a:ext cx="960" cy="406"/>
            </a:xfrm>
            <a:custGeom>
              <a:rect b="b" l="l" r="r" t="t"/>
              <a:pathLst>
                <a:path extrusionOk="0" h="406" w="960">
                  <a:moveTo>
                    <a:pt x="0" y="390"/>
                  </a:moveTo>
                  <a:cubicBezTo>
                    <a:pt x="88" y="398"/>
                    <a:pt x="176" y="406"/>
                    <a:pt x="240" y="390"/>
                  </a:cubicBezTo>
                  <a:cubicBezTo>
                    <a:pt x="304" y="374"/>
                    <a:pt x="344" y="334"/>
                    <a:pt x="384" y="294"/>
                  </a:cubicBezTo>
                  <a:cubicBezTo>
                    <a:pt x="424" y="254"/>
                    <a:pt x="439" y="195"/>
                    <a:pt x="480" y="150"/>
                  </a:cubicBezTo>
                  <a:cubicBezTo>
                    <a:pt x="521" y="105"/>
                    <a:pt x="550" y="48"/>
                    <a:pt x="630" y="24"/>
                  </a:cubicBezTo>
                  <a:cubicBezTo>
                    <a:pt x="710" y="0"/>
                    <a:pt x="891" y="10"/>
                    <a:pt x="960" y="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1" name="Google Shape;611;p57"/>
            <p:cNvSpPr txBox="1"/>
            <p:nvPr/>
          </p:nvSpPr>
          <p:spPr>
            <a:xfrm>
              <a:off x="528" y="3120"/>
              <a:ext cx="1786" cy="583"/>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If pre-condition is true and</a:t>
              </a:r>
              <a:br>
                <a:rPr b="0" i="0" lang="en-US" sz="1800" u="none">
                  <a:solidFill>
                    <a:schemeClr val="dk1"/>
                  </a:solidFill>
                  <a:latin typeface="Constantia"/>
                  <a:ea typeface="Constantia"/>
                  <a:cs typeface="Constantia"/>
                  <a:sym typeface="Constantia"/>
                </a:rPr>
              </a:br>
              <a:r>
                <a:rPr b="0" i="0" lang="en-US" sz="1800" u="none">
                  <a:solidFill>
                    <a:schemeClr val="dk1"/>
                  </a:solidFill>
                  <a:latin typeface="Constantia"/>
                  <a:ea typeface="Constantia"/>
                  <a:cs typeface="Constantia"/>
                  <a:sym typeface="Constantia"/>
                </a:rPr>
                <a:t>if n = 1, does </a:t>
              </a:r>
              <a:r>
                <a:rPr b="1" i="0" lang="en-US" sz="1800" u="none">
                  <a:solidFill>
                    <a:schemeClr val="dk1"/>
                  </a:solidFill>
                  <a:latin typeface="Courier New"/>
                  <a:ea typeface="Courier New"/>
                  <a:cs typeface="Courier New"/>
                  <a:sym typeface="Courier New"/>
                </a:rPr>
                <a:t>move</a:t>
              </a:r>
              <a:r>
                <a:rPr b="0" i="0" lang="en-US" sz="1800" u="none">
                  <a:solidFill>
                    <a:schemeClr val="dk1"/>
                  </a:solidFill>
                  <a:latin typeface="Constantia"/>
                  <a:ea typeface="Constantia"/>
                  <a:cs typeface="Constantia"/>
                  <a:sym typeface="Constantia"/>
                </a:rPr>
                <a:t> satisfy</a:t>
              </a:r>
              <a:br>
                <a:rPr b="0" i="0" lang="en-US" sz="1800" u="none">
                  <a:solidFill>
                    <a:schemeClr val="dk1"/>
                  </a:solidFill>
                  <a:latin typeface="Constantia"/>
                  <a:ea typeface="Constantia"/>
                  <a:cs typeface="Constantia"/>
                  <a:sym typeface="Constantia"/>
                </a:rPr>
              </a:br>
              <a:r>
                <a:rPr b="0" i="0" lang="en-US" sz="1800" u="none">
                  <a:solidFill>
                    <a:schemeClr val="dk1"/>
                  </a:solidFill>
                  <a:latin typeface="Constantia"/>
                  <a:ea typeface="Constantia"/>
                  <a:cs typeface="Constantia"/>
                  <a:sym typeface="Constantia"/>
                </a:rPr>
                <a:t>the post-condition?</a:t>
              </a:r>
              <a:endParaRPr/>
            </a:p>
          </p:txBody>
        </p:sp>
      </p:grpSp>
      <p:sp>
        <p:nvSpPr>
          <p:cNvPr id="612" name="Google Shape;612;p57"/>
          <p:cNvSpPr txBox="1"/>
          <p:nvPr/>
        </p:nvSpPr>
        <p:spPr>
          <a:xfrm>
            <a:off x="6550025" y="5638800"/>
            <a:ext cx="2593975" cy="925512"/>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Can we reason that this</a:t>
            </a:r>
            <a:br>
              <a:rPr b="0" i="0" lang="en-US" sz="1800" u="none">
                <a:solidFill>
                  <a:schemeClr val="dk1"/>
                </a:solidFill>
                <a:latin typeface="Constantia"/>
                <a:ea typeface="Constantia"/>
                <a:cs typeface="Constantia"/>
                <a:sym typeface="Constantia"/>
              </a:rPr>
            </a:br>
            <a:r>
              <a:rPr b="0" i="0" lang="en-US" sz="1800" u="none">
                <a:solidFill>
                  <a:schemeClr val="dk1"/>
                </a:solidFill>
                <a:latin typeface="Constantia"/>
                <a:ea typeface="Constantia"/>
                <a:cs typeface="Constantia"/>
                <a:sym typeface="Constantia"/>
              </a:rPr>
              <a:t>program correctly plays</a:t>
            </a:r>
            <a:br>
              <a:rPr b="0" i="0" lang="en-US" sz="1800" u="none">
                <a:solidFill>
                  <a:schemeClr val="dk1"/>
                </a:solidFill>
                <a:latin typeface="Constantia"/>
                <a:ea typeface="Constantia"/>
                <a:cs typeface="Constantia"/>
                <a:sym typeface="Constantia"/>
              </a:rPr>
            </a:br>
            <a:r>
              <a:rPr b="0" i="0" lang="en-US" sz="1800" u="none">
                <a:solidFill>
                  <a:schemeClr val="dk1"/>
                </a:solidFill>
                <a:latin typeface="Constantia"/>
                <a:ea typeface="Constantia"/>
                <a:cs typeface="Constantia"/>
                <a:sym typeface="Constantia"/>
              </a:rPr>
              <a:t>Tower of Hanoi?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8"/>
          <p:cNvSpPr txBox="1"/>
          <p:nvPr>
            <p:ph type="title"/>
          </p:nvPr>
        </p:nvSpPr>
        <p:spPr>
          <a:xfrm>
            <a:off x="457200" y="-3619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800"/>
              <a:buFont typeface="Calibri"/>
              <a:buNone/>
            </a:pPr>
            <a:r>
              <a:rPr b="0" i="0" lang="en-US" sz="4800" u="none">
                <a:solidFill>
                  <a:schemeClr val="dk2"/>
                </a:solidFill>
                <a:latin typeface="Calibri"/>
                <a:ea typeface="Calibri"/>
                <a:cs typeface="Calibri"/>
                <a:sym typeface="Calibri"/>
              </a:rPr>
              <a:t>Assignment</a:t>
            </a:r>
            <a:endParaRPr/>
          </a:p>
        </p:txBody>
      </p:sp>
      <p:sp>
        <p:nvSpPr>
          <p:cNvPr id="618" name="Google Shape;618;p58"/>
          <p:cNvSpPr txBox="1"/>
          <p:nvPr>
            <p:ph idx="1" type="body"/>
          </p:nvPr>
        </p:nvSpPr>
        <p:spPr>
          <a:xfrm>
            <a:off x="457200" y="8683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Write a recursive function to obtain fibonacci series up to the integer entered by the user with the following fibonacci definition:</a:t>
            </a:r>
            <a:endParaRPr/>
          </a:p>
          <a:p>
            <a:pPr indent="-128270" lvl="0" marL="273050" marR="0" rtl="0" algn="l">
              <a:lnSpc>
                <a:spcPct val="100000"/>
              </a:lnSpc>
              <a:spcBef>
                <a:spcPts val="480"/>
              </a:spcBef>
              <a:spcAft>
                <a:spcPts val="0"/>
              </a:spcAft>
              <a:buClr>
                <a:srgbClr val="0BD0D9"/>
              </a:buClr>
              <a:buSzPts val="2280"/>
              <a:buFont typeface="Noto Sans Symbols"/>
              <a:buNone/>
            </a:pPr>
            <a:r>
              <a:t/>
            </a:r>
            <a:endParaRPr b="0" i="0" sz="2400" u="none">
              <a:solidFill>
                <a:schemeClr val="dk1"/>
              </a:solidFill>
              <a:latin typeface="Constantia"/>
              <a:ea typeface="Constantia"/>
              <a:cs typeface="Constantia"/>
              <a:sym typeface="Constantia"/>
            </a:endParaRPr>
          </a:p>
          <a:p>
            <a:pPr indent="-128270" lvl="0" marL="273050" marR="0" rtl="0" algn="l">
              <a:lnSpc>
                <a:spcPct val="100000"/>
              </a:lnSpc>
              <a:spcBef>
                <a:spcPts val="480"/>
              </a:spcBef>
              <a:spcAft>
                <a:spcPts val="0"/>
              </a:spcAft>
              <a:buClr>
                <a:srgbClr val="0BD0D9"/>
              </a:buClr>
              <a:buSzPts val="2280"/>
              <a:buFont typeface="Noto Sans Symbols"/>
              <a:buNone/>
            </a:pPr>
            <a:r>
              <a:t/>
            </a:r>
            <a:endParaRPr b="0" i="0" sz="2400" u="none">
              <a:solidFill>
                <a:schemeClr val="dk1"/>
              </a:solidFill>
              <a:latin typeface="Constantia"/>
              <a:ea typeface="Constantia"/>
              <a:cs typeface="Constantia"/>
              <a:sym typeface="Constantia"/>
            </a:endParaRPr>
          </a:p>
          <a:p>
            <a:pPr indent="-273050" lvl="0" marL="273050" marR="0" rtl="0" algn="l">
              <a:lnSpc>
                <a:spcPct val="100000"/>
              </a:lnSpc>
              <a:spcBef>
                <a:spcPts val="480"/>
              </a:spcBef>
              <a:spcAft>
                <a:spcPts val="0"/>
              </a:spcAft>
              <a:buClr>
                <a:srgbClr val="0BD0D9"/>
              </a:buClr>
              <a:buSzPts val="2280"/>
              <a:buFont typeface="Noto Sans Symbols"/>
              <a:buNone/>
            </a:pPr>
            <a:r>
              <a:rPr b="0" i="0" lang="en-US" sz="2400" u="none">
                <a:solidFill>
                  <a:schemeClr val="dk1"/>
                </a:solidFill>
                <a:latin typeface="Constantia"/>
                <a:ea typeface="Constantia"/>
                <a:cs typeface="Constantia"/>
                <a:sym typeface="Constantia"/>
              </a:rPr>
              <a:t>Sample output:</a:t>
            </a:r>
            <a:endParaRPr/>
          </a:p>
          <a:p>
            <a:pPr indent="-273050" lvl="0" marL="273050" marR="0" rtl="0" algn="l">
              <a:lnSpc>
                <a:spcPct val="100000"/>
              </a:lnSpc>
              <a:spcBef>
                <a:spcPts val="20"/>
              </a:spcBef>
              <a:spcAft>
                <a:spcPts val="0"/>
              </a:spcAft>
              <a:buClr>
                <a:srgbClr val="0BD0D9"/>
              </a:buClr>
              <a:buFont typeface="Noto Sans Symbols"/>
              <a:buNone/>
            </a:pPr>
            <a:r>
              <a:t/>
            </a:r>
            <a:endParaRPr b="0" i="0" sz="100" u="none">
              <a:solidFill>
                <a:schemeClr val="dk1"/>
              </a:solidFill>
              <a:latin typeface="Courier New"/>
              <a:ea typeface="Courier New"/>
              <a:cs typeface="Courier New"/>
              <a:sym typeface="Courier New"/>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Enter the number of series: 7</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The fibonacci series are:</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0</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1</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1</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2</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3</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5</a:t>
            </a:r>
            <a:endParaRPr/>
          </a:p>
          <a:p>
            <a:pPr indent="-273050" lvl="0" marL="273050" marR="0" rtl="0" algn="l">
              <a:lnSpc>
                <a:spcPct val="100000"/>
              </a:lnSpc>
              <a:spcBef>
                <a:spcPts val="420"/>
              </a:spcBef>
              <a:spcAft>
                <a:spcPts val="0"/>
              </a:spcAft>
              <a:buClr>
                <a:srgbClr val="0BD0D9"/>
              </a:buClr>
              <a:buSzPts val="1995"/>
              <a:buFont typeface="Noto Sans Symbols"/>
              <a:buNone/>
            </a:pPr>
            <a:r>
              <a:rPr b="0" i="0" lang="en-US" sz="2100" u="none">
                <a:solidFill>
                  <a:schemeClr val="dk1"/>
                </a:solidFill>
                <a:latin typeface="Courier New"/>
                <a:ea typeface="Courier New"/>
                <a:cs typeface="Courier New"/>
                <a:sym typeface="Courier New"/>
              </a:rPr>
              <a:t>8</a:t>
            </a:r>
            <a:endParaRPr/>
          </a:p>
          <a:p>
            <a:pPr indent="-146367" lvl="0" marL="273050" marR="0" rtl="0" algn="l">
              <a:spcBef>
                <a:spcPts val="420"/>
              </a:spcBef>
              <a:spcAft>
                <a:spcPts val="0"/>
              </a:spcAft>
              <a:buClr>
                <a:srgbClr val="0BD0D9"/>
              </a:buClr>
              <a:buSzPts val="1995"/>
              <a:buFont typeface="Noto Sans Symbols"/>
              <a:buNone/>
            </a:pPr>
            <a:r>
              <a:t/>
            </a:r>
            <a:endParaRPr b="0" i="0" sz="2100" u="none">
              <a:solidFill>
                <a:schemeClr val="dk1"/>
              </a:solidFill>
              <a:latin typeface="Courier New"/>
              <a:ea typeface="Courier New"/>
              <a:cs typeface="Courier New"/>
              <a:sym typeface="Courier New"/>
            </a:endParaRPr>
          </a:p>
        </p:txBody>
      </p:sp>
      <p:pic>
        <p:nvPicPr>
          <p:cNvPr id="619" name="Google Shape;619;p58"/>
          <p:cNvPicPr preferRelativeResize="0"/>
          <p:nvPr/>
        </p:nvPicPr>
        <p:blipFill rotWithShape="1">
          <a:blip r:embed="rId3">
            <a:alphaModFix/>
          </a:blip>
          <a:srcRect b="0" l="0" r="0" t="0"/>
          <a:stretch/>
        </p:blipFill>
        <p:spPr>
          <a:xfrm>
            <a:off x="2590800" y="1752600"/>
            <a:ext cx="5438775" cy="141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