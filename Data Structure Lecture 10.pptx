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 id="2147483660" r:id="rId5"/>
    <p:sldMasterId id="2147483661" r:id="rId6"/>
    <p:sldMasterId id="214748366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Lst>
  <p:sldSz cy="6858000" cx="9144000"/>
  <p:notesSz cx="6858000" cy="9144000"/>
  <p:embeddedFontLst>
    <p:embeddedFont>
      <p:font typeface="Constantia"/>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1.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font" Target="fonts/Constantia-bold.fntdata"/><Relationship Id="rId10" Type="http://schemas.openxmlformats.org/officeDocument/2006/relationships/slide" Target="slides/slide2.xml"/><Relationship Id="rId32" Type="http://schemas.openxmlformats.org/officeDocument/2006/relationships/font" Target="fonts/Constantia-regular.fntdata"/><Relationship Id="rId13" Type="http://schemas.openxmlformats.org/officeDocument/2006/relationships/slide" Target="slides/slide5.xml"/><Relationship Id="rId35" Type="http://schemas.openxmlformats.org/officeDocument/2006/relationships/font" Target="fonts/Constantia-boldItalic.fntdata"/><Relationship Id="rId12" Type="http://schemas.openxmlformats.org/officeDocument/2006/relationships/slide" Target="slides/slide4.xml"/><Relationship Id="rId34" Type="http://schemas.openxmlformats.org/officeDocument/2006/relationships/font" Target="fonts/Constantia-italic.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2pPr>
            <a:lvl3pPr lvl="2"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3pPr>
            <a:lvl4pPr lvl="3"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4pPr>
            <a:lvl5pPr lvl="4"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5pPr>
            <a:lvl6pPr lvl="5"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6pPr>
            <a:lvl7pPr lvl="6"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7pPr>
            <a:lvl8pPr lvl="7"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8pPr>
            <a:lvl9pPr lvl="8"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2pPr>
            <a:lvl3pPr lvl="2"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3pPr>
            <a:lvl4pPr lvl="3"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4pPr>
            <a:lvl5pPr lvl="4"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5pPr>
            <a:lvl6pPr lvl="5"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6pPr>
            <a:lvl7pPr lvl="6"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7pPr>
            <a:lvl8pPr lvl="7"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8pPr>
            <a:lvl9pPr lvl="8"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2pPr>
            <a:lvl3pPr lvl="2"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3pPr>
            <a:lvl4pPr lvl="3"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4pPr>
            <a:lvl5pPr lvl="4"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5pPr>
            <a:lvl6pPr lvl="5"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6pPr>
            <a:lvl7pPr lvl="6"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7pPr>
            <a:lvl8pPr lvl="7"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8pPr>
            <a:lvl9pPr lvl="8" marR="0" rtl="0" algn="l">
              <a:lnSpc>
                <a:spcPct val="100000"/>
              </a:lnSpc>
              <a:spcBef>
                <a:spcPts val="0"/>
              </a:spcBef>
              <a:spcAft>
                <a:spcPts val="0"/>
              </a:spcAft>
              <a:buSzPts val="1400"/>
              <a:buNone/>
              <a:defRPr b="0" i="0" sz="1800" u="none" cap="none" strike="noStrike">
                <a:solidFill>
                  <a:srgbClr val="000000"/>
                </a:solidFill>
                <a:latin typeface="Constantia"/>
                <a:ea typeface="Constantia"/>
                <a:cs typeface="Constantia"/>
                <a:sym typeface="Constantia"/>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3" name="Google Shape;12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9" name="Google Shape;12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7" name="Google Shape;13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
        <p:nvSpPr>
          <p:cNvPr id="168" name="Google Shape;16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5: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76" name="Google Shape;17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6: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5" name="Google Shape;18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92" name="Google Shape;19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99" name="Google Shape;19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08" name="Google Shape;20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15" name="Google Shape;21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
        <p:nvSpPr>
          <p:cNvPr id="222" name="Google Shape;22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
        <p:nvSpPr>
          <p:cNvPr id="232" name="Google Shape;23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
        <p:nvSpPr>
          <p:cNvPr id="242" name="Google Shape;24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
        <p:nvSpPr>
          <p:cNvPr id="250" name="Google Shape;25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
        <p:nvSpPr>
          <p:cNvPr id="262" name="Google Shape;26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
        <p:nvSpPr>
          <p:cNvPr id="275" name="Google Shape;27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
        <p:nvSpPr>
          <p:cNvPr id="286" name="Google Shape;28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
        <p:nvSpPr>
          <p:cNvPr id="297" name="Google Shape;29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
        <p:nvSpPr>
          <p:cNvPr id="307" name="Google Shape;30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8" name="Google Shape;30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0: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15" name="Google Shape;31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1: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21" name="Google Shape;32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2: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29" name="Google Shape;32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3: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37" name="Google Shape;33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2"/>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D1EAEE"/>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1pPr>
            <a:lvl2pPr indent="0" lvl="1"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2pPr>
            <a:lvl3pPr indent="0" lvl="2"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3pPr>
            <a:lvl4pPr indent="0" lvl="3"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4pPr>
            <a:lvl5pPr indent="0" lvl="4"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5pPr>
            <a:lvl6pPr indent="0" lvl="5"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6pPr>
            <a:lvl7pPr indent="0" lvl="6"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7pPr>
            <a:lvl8pPr indent="0" lvl="7"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8pPr>
            <a:lvl9pPr indent="0" lvl="8"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4"/>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7" name="Shape 47"/>
        <p:cNvGrpSpPr/>
        <p:nvPr/>
      </p:nvGrpSpPr>
      <p:grpSpPr>
        <a:xfrm>
          <a:off x="0" y="0"/>
          <a:ext cx="0" cy="0"/>
          <a:chOff x="0" y="0"/>
          <a:chExt cx="0" cy="0"/>
        </a:xfrm>
      </p:grpSpPr>
      <p:sp>
        <p:nvSpPr>
          <p:cNvPr id="48" name="Google Shape;48;p6"/>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6"/>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0" name="Google Shape;50;p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3" name="Shape 53"/>
        <p:cNvGrpSpPr/>
        <p:nvPr/>
      </p:nvGrpSpPr>
      <p:grpSpPr>
        <a:xfrm>
          <a:off x="0" y="0"/>
          <a:ext cx="0" cy="0"/>
          <a:chOff x="0" y="0"/>
          <a:chExt cx="0" cy="0"/>
        </a:xfrm>
      </p:grpSpPr>
      <p:sp>
        <p:nvSpPr>
          <p:cNvPr id="54" name="Google Shape;54;p7"/>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7"/>
          <p:cNvSpPr txBox="1"/>
          <p:nvPr>
            <p:ph idx="1" type="body"/>
          </p:nvPr>
        </p:nvSpPr>
        <p:spPr>
          <a:xfrm rot="5400000">
            <a:off x="2377281" y="15080"/>
            <a:ext cx="4389437" cy="82296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6" name="Google Shape;56;p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8"/>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8"/>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2" name="Google Shape;62;p8"/>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3" name="Google Shape;63;p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9"/>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1" name="Shape 71"/>
        <p:cNvGrpSpPr/>
        <p:nvPr/>
      </p:nvGrpSpPr>
      <p:grpSpPr>
        <a:xfrm>
          <a:off x="0" y="0"/>
          <a:ext cx="0" cy="0"/>
          <a:chOff x="0" y="0"/>
          <a:chExt cx="0" cy="0"/>
        </a:xfrm>
      </p:grpSpPr>
      <p:sp>
        <p:nvSpPr>
          <p:cNvPr id="72" name="Google Shape;72;p10"/>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0"/>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4" name="Google Shape;74;p10"/>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5" name="Google Shape;75;p10"/>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6" name="Google Shape;76;p10"/>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7" name="Google Shape;77;p1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0" name="Shape 80"/>
        <p:cNvGrpSpPr/>
        <p:nvPr/>
      </p:nvGrpSpPr>
      <p:grpSpPr>
        <a:xfrm>
          <a:off x="0" y="0"/>
          <a:ext cx="0" cy="0"/>
          <a:chOff x="0" y="0"/>
          <a:chExt cx="0" cy="0"/>
        </a:xfrm>
      </p:grpSpPr>
      <p:sp>
        <p:nvSpPr>
          <p:cNvPr id="81" name="Google Shape;81;p11"/>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1"/>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11"/>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1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8" name="Shape 98"/>
        <p:cNvGrpSpPr/>
        <p:nvPr/>
      </p:nvGrpSpPr>
      <p:grpSpPr>
        <a:xfrm>
          <a:off x="0" y="0"/>
          <a:ext cx="0" cy="0"/>
          <a:chOff x="0" y="0"/>
          <a:chExt cx="0" cy="0"/>
        </a:xfrm>
      </p:grpSpPr>
      <p:sp>
        <p:nvSpPr>
          <p:cNvPr id="99" name="Google Shape;99;p13"/>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3"/>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1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D1EAEE"/>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1pPr>
            <a:lvl2pPr indent="0" lvl="1"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2pPr>
            <a:lvl3pPr indent="0" lvl="2"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3pPr>
            <a:lvl4pPr indent="0" lvl="3"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4pPr>
            <a:lvl5pPr indent="0" lvl="4"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5pPr>
            <a:lvl6pPr indent="0" lvl="5"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6pPr>
            <a:lvl7pPr indent="0" lvl="6"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7pPr>
            <a:lvl8pPr indent="0" lvl="7"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8pPr>
            <a:lvl9pPr indent="0" lvl="8" marL="0" marR="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14" name="Shape 114"/>
        <p:cNvGrpSpPr/>
        <p:nvPr/>
      </p:nvGrpSpPr>
      <p:grpSpPr>
        <a:xfrm>
          <a:off x="0" y="0"/>
          <a:ext cx="0" cy="0"/>
          <a:chOff x="0" y="0"/>
          <a:chExt cx="0" cy="0"/>
        </a:xfrm>
      </p:grpSpPr>
      <p:sp>
        <p:nvSpPr>
          <p:cNvPr id="115" name="Google Shape;115;p15"/>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15"/>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17" name="Google Shape;117;p15"/>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txBody>
          <a:bodyPr anchorCtr="0" anchor="t" bIns="45700" lIns="91425" spcFirstLastPara="1" rIns="91425" wrap="square" tIns="45700">
            <a:noAutofit/>
          </a:bodyPr>
          <a:lstStyle>
            <a:lvl1pPr lvl="0" marR="0" rtl="0" algn="l">
              <a:spcBef>
                <a:spcPts val="640"/>
              </a:spcBef>
              <a:spcAft>
                <a:spcPts val="0"/>
              </a:spcAft>
              <a:buClr>
                <a:schemeClr val="accent3"/>
              </a:buClr>
              <a:buSzPts val="3040"/>
              <a:buFont typeface="Noto Sans Symbols"/>
              <a:buNone/>
              <a:defRPr b="0" i="0" sz="3200" u="none" cap="none" strike="noStrike">
                <a:solidFill>
                  <a:schemeClr val="dk1"/>
                </a:solidFill>
                <a:latin typeface="Constantia"/>
                <a:ea typeface="Constantia"/>
                <a:cs typeface="Constantia"/>
                <a:sym typeface="Constantia"/>
              </a:defRPr>
            </a:lvl1pPr>
            <a:lvl2pPr lvl="1"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18" name="Google Shape;118;p1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1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15"/>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0.xml"/><Relationship Id="rId3"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1.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Constantia"/>
              <a:ea typeface="Constantia"/>
              <a:cs typeface="Constantia"/>
              <a:sym typeface="Constantia"/>
            </a:endParaRPr>
          </a:p>
        </p:txBody>
      </p:sp>
      <p:sp>
        <p:nvSpPr>
          <p:cNvPr id="11" name="Google Shape;11;p1"/>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Constantia"/>
              <a:ea typeface="Constantia"/>
              <a:cs typeface="Constantia"/>
              <a:sym typeface="Constantia"/>
            </a:endParaRPr>
          </a:p>
        </p:txBody>
      </p:sp>
      <p:grpSp>
        <p:nvGrpSpPr>
          <p:cNvPr id="12" name="Google Shape;12;p1"/>
          <p:cNvGrpSpPr/>
          <p:nvPr/>
        </p:nvGrpSpPr>
        <p:grpSpPr>
          <a:xfrm>
            <a:off x="-29327" y="-14808"/>
            <a:ext cx="9198219" cy="1083716"/>
            <a:chOff x="-29322" y="-1971"/>
            <a:chExt cx="9198255" cy="1086266"/>
          </a:xfrm>
        </p:grpSpPr>
        <p:sp>
          <p:nvSpPr>
            <p:cNvPr id="13" name="Google Shape;13;p1"/>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Constantia"/>
                <a:buNone/>
              </a:pPr>
              <a:r>
                <a:t/>
              </a:r>
              <a:endParaRPr b="0" i="0" sz="1800" u="none" cap="none" strike="noStrike">
                <a:solidFill>
                  <a:schemeClr val="lt1"/>
                </a:solidFill>
                <a:latin typeface="Constantia"/>
                <a:ea typeface="Constantia"/>
                <a:cs typeface="Constantia"/>
                <a:sym typeface="Constantia"/>
              </a:endParaRPr>
            </a:p>
          </p:txBody>
        </p:sp>
        <p:sp>
          <p:nvSpPr>
            <p:cNvPr id="14" name="Google Shape;14;p1"/>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Constantia"/>
                <a:buNone/>
              </a:pPr>
              <a:r>
                <a:t/>
              </a:r>
              <a:endParaRPr b="0" i="0" sz="1800" u="none" cap="none" strike="noStrike">
                <a:solidFill>
                  <a:schemeClr val="lt1"/>
                </a:solidFill>
                <a:latin typeface="Constantia"/>
                <a:ea typeface="Constantia"/>
                <a:cs typeface="Constantia"/>
                <a:sym typeface="Constantia"/>
              </a:endParaRPr>
            </a:p>
          </p:txBody>
        </p:sp>
      </p:grpSp>
      <p:sp>
        <p:nvSpPr>
          <p:cNvPr id="15" name="Google Shape;15;p1"/>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1"/>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7" name="Google Shape;17;p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D1EAEE"/>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8" name="Google Shape;18;p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lt1"/>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9" name="Google Shape;19;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1pPr>
            <a:lvl2pPr indent="0" lvl="1"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2pPr>
            <a:lvl3pPr indent="0" lvl="2"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3pPr>
            <a:lvl4pPr indent="0" lvl="3"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4pPr>
            <a:lvl5pPr indent="0" lvl="4"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5pPr>
            <a:lvl6pPr indent="0" lvl="5"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6pPr>
            <a:lvl7pPr indent="0" lvl="6"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7pPr>
            <a:lvl8pPr indent="0" lvl="7"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8pPr>
            <a:lvl9pPr indent="0" lvl="8"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6" name="Shape 26"/>
        <p:cNvGrpSpPr/>
        <p:nvPr/>
      </p:nvGrpSpPr>
      <p:grpSpPr>
        <a:xfrm>
          <a:off x="0" y="0"/>
          <a:ext cx="0" cy="0"/>
          <a:chOff x="0" y="0"/>
          <a:chExt cx="0" cy="0"/>
        </a:xfrm>
      </p:grpSpPr>
      <p:sp>
        <p:nvSpPr>
          <p:cNvPr id="27" name="Google Shape;27;p3"/>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onstantia"/>
              <a:ea typeface="Constantia"/>
              <a:cs typeface="Constantia"/>
              <a:sym typeface="Constantia"/>
            </a:endParaRPr>
          </a:p>
        </p:txBody>
      </p:sp>
      <p:sp>
        <p:nvSpPr>
          <p:cNvPr id="28" name="Google Shape;28;p3"/>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onstantia"/>
              <a:ea typeface="Constantia"/>
              <a:cs typeface="Constantia"/>
              <a:sym typeface="Constantia"/>
            </a:endParaRPr>
          </a:p>
        </p:txBody>
      </p:sp>
      <p:sp>
        <p:nvSpPr>
          <p:cNvPr id="29" name="Google Shape;29;p3"/>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3"/>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dk1"/>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grpSp>
        <p:nvGrpSpPr>
          <p:cNvPr id="34" name="Google Shape;34;p3"/>
          <p:cNvGrpSpPr/>
          <p:nvPr/>
        </p:nvGrpSpPr>
        <p:grpSpPr>
          <a:xfrm>
            <a:off x="-29327" y="-14808"/>
            <a:ext cx="9198219" cy="1083716"/>
            <a:chOff x="-29322" y="-1971"/>
            <a:chExt cx="9198255" cy="1086266"/>
          </a:xfrm>
        </p:grpSpPr>
        <p:sp>
          <p:nvSpPr>
            <p:cNvPr id="35" name="Google Shape;35;p3"/>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onstantia"/>
                <a:buNone/>
              </a:pPr>
              <a:r>
                <a:t/>
              </a:r>
              <a:endParaRPr b="0" i="0" sz="1800" u="none" cap="none" strike="noStrike">
                <a:solidFill>
                  <a:schemeClr val="dk1"/>
                </a:solidFill>
                <a:latin typeface="Constantia"/>
                <a:ea typeface="Constantia"/>
                <a:cs typeface="Constantia"/>
                <a:sym typeface="Constantia"/>
              </a:endParaRPr>
            </a:p>
          </p:txBody>
        </p:sp>
        <p:sp>
          <p:nvSpPr>
            <p:cNvPr id="36" name="Google Shape;36;p3"/>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onstantia"/>
                <a:buNone/>
              </a:pPr>
              <a:r>
                <a:t/>
              </a:r>
              <a:endParaRPr b="0" i="0" sz="1800" u="none" cap="none" strike="noStrike">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7" name="Shape 87"/>
        <p:cNvGrpSpPr/>
        <p:nvPr/>
      </p:nvGrpSpPr>
      <p:grpSpPr>
        <a:xfrm>
          <a:off x="0" y="0"/>
          <a:ext cx="0" cy="0"/>
          <a:chOff x="0" y="0"/>
          <a:chExt cx="0" cy="0"/>
        </a:xfrm>
      </p:grpSpPr>
      <p:sp>
        <p:nvSpPr>
          <p:cNvPr id="88" name="Google Shape;88;p12"/>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Constantia"/>
              <a:ea typeface="Constantia"/>
              <a:cs typeface="Constantia"/>
              <a:sym typeface="Constantia"/>
            </a:endParaRPr>
          </a:p>
        </p:txBody>
      </p:sp>
      <p:sp>
        <p:nvSpPr>
          <p:cNvPr id="89" name="Google Shape;89;p12"/>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Constantia"/>
              <a:ea typeface="Constantia"/>
              <a:cs typeface="Constantia"/>
              <a:sym typeface="Constantia"/>
            </a:endParaRPr>
          </a:p>
        </p:txBody>
      </p:sp>
      <p:grpSp>
        <p:nvGrpSpPr>
          <p:cNvPr id="90" name="Google Shape;90;p12"/>
          <p:cNvGrpSpPr/>
          <p:nvPr/>
        </p:nvGrpSpPr>
        <p:grpSpPr>
          <a:xfrm>
            <a:off x="-29327" y="-14808"/>
            <a:ext cx="9198219" cy="1083716"/>
            <a:chOff x="-29322" y="-1971"/>
            <a:chExt cx="9198255" cy="1086266"/>
          </a:xfrm>
        </p:grpSpPr>
        <p:sp>
          <p:nvSpPr>
            <p:cNvPr id="91" name="Google Shape;91;p12"/>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Constantia"/>
                <a:buNone/>
              </a:pPr>
              <a:r>
                <a:t/>
              </a:r>
              <a:endParaRPr b="0" i="0" sz="1800" u="none" cap="none" strike="noStrike">
                <a:solidFill>
                  <a:schemeClr val="lt1"/>
                </a:solidFill>
                <a:latin typeface="Constantia"/>
                <a:ea typeface="Constantia"/>
                <a:cs typeface="Constantia"/>
                <a:sym typeface="Constantia"/>
              </a:endParaRPr>
            </a:p>
          </p:txBody>
        </p:sp>
        <p:sp>
          <p:nvSpPr>
            <p:cNvPr id="92" name="Google Shape;92;p12"/>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Constantia"/>
                <a:buNone/>
              </a:pPr>
              <a:r>
                <a:t/>
              </a:r>
              <a:endParaRPr b="0" i="0" sz="1800" u="none" cap="none" strike="noStrike">
                <a:solidFill>
                  <a:schemeClr val="lt1"/>
                </a:solidFill>
                <a:latin typeface="Constantia"/>
                <a:ea typeface="Constantia"/>
                <a:cs typeface="Constantia"/>
                <a:sym typeface="Constantia"/>
              </a:endParaRPr>
            </a:p>
          </p:txBody>
        </p:sp>
      </p:grpSp>
      <p:sp>
        <p:nvSpPr>
          <p:cNvPr id="93" name="Google Shape;93;p12"/>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4" name="Google Shape;94;p12"/>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95" name="Google Shape;95;p1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D1EAEE"/>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96" name="Google Shape;96;p1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lt1"/>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lnSpc>
                <a:spcPct val="100000"/>
              </a:lnSpc>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97" name="Google Shape;97;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1pPr>
            <a:lvl2pPr indent="0" lvl="1"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2pPr>
            <a:lvl3pPr indent="0" lvl="2"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3pPr>
            <a:lvl4pPr indent="0" lvl="3"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4pPr>
            <a:lvl5pPr indent="0" lvl="4"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5pPr>
            <a:lvl6pPr indent="0" lvl="5"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6pPr>
            <a:lvl7pPr indent="0" lvl="6"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7pPr>
            <a:lvl8pPr indent="0" lvl="7"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8pPr>
            <a:lvl9pPr indent="0" lvl="8" marL="0" marR="0" rtl="0" algn="r">
              <a:lnSpc>
                <a:spcPct val="100000"/>
              </a:lnSpc>
              <a:spcBef>
                <a:spcPts val="0"/>
              </a:spcBef>
              <a:spcAft>
                <a:spcPts val="0"/>
              </a:spcAft>
              <a:buClr>
                <a:srgbClr val="D1EAEE"/>
              </a:buClr>
              <a:buSzPts val="1200"/>
              <a:buFont typeface="Constantia"/>
              <a:buNone/>
              <a:defRPr b="0" i="0" sz="1200" u="none">
                <a:solidFill>
                  <a:srgbClr val="D1EAEE"/>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7"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04" name="Shape 104"/>
        <p:cNvGrpSpPr/>
        <p:nvPr/>
      </p:nvGrpSpPr>
      <p:grpSpPr>
        <a:xfrm>
          <a:off x="0" y="0"/>
          <a:ext cx="0" cy="0"/>
          <a:chOff x="0" y="0"/>
          <a:chExt cx="0" cy="0"/>
        </a:xfrm>
      </p:grpSpPr>
      <p:sp>
        <p:nvSpPr>
          <p:cNvPr id="105" name="Google Shape;105;p14"/>
          <p:cNvSpPr/>
          <p:nvPr/>
        </p:nvSpPr>
        <p:spPr>
          <a:xfrm flipH="1" rot="-10380000">
            <a:off x="3165475" y="1108075"/>
            <a:ext cx="5257800" cy="4114800"/>
          </a:xfrm>
          <a:custGeom>
            <a:rect b="b" l="l" r="r" t="t"/>
            <a:pathLst>
              <a:path extrusionOk="0" h="4114800" w="5257800">
                <a:moveTo>
                  <a:pt x="0" y="0"/>
                </a:moveTo>
                <a:lnTo>
                  <a:pt x="5107774" y="0"/>
                </a:lnTo>
                <a:lnTo>
                  <a:pt x="5257800" y="150026"/>
                </a:lnTo>
                <a:lnTo>
                  <a:pt x="5257800" y="4114800"/>
                </a:lnTo>
                <a:lnTo>
                  <a:pt x="0" y="4114800"/>
                </a:lnTo>
                <a:lnTo>
                  <a:pt x="0" y="0"/>
                </a:lnTo>
                <a:lnTo>
                  <a:pt x="0" y="0"/>
                </a:lnTo>
                <a:close/>
              </a:path>
            </a:pathLst>
          </a:custGeom>
          <a:solidFill>
            <a:srgbClr val="FFFFFF"/>
          </a:solidFill>
          <a:ln cap="rnd" cmpd="sng" w="9525">
            <a:solidFill>
              <a:srgbClr val="C0C0C0"/>
            </a:solidFill>
            <a:prstDash val="solid"/>
            <a:miter lim="800000"/>
            <a:headEnd len="sm" w="sm" type="none"/>
            <a:tailEnd len="sm" w="sm" type="none"/>
          </a:ln>
          <a:effectLst>
            <a:outerShdw blurRad="63500" sx="98500" kx="98485" dir="7500041" dist="38499" sy="100079">
              <a:srgbClr val="000000">
                <a:alpha val="24705"/>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onstantia"/>
              <a:ea typeface="Constantia"/>
              <a:cs typeface="Constantia"/>
              <a:sym typeface="Constantia"/>
            </a:endParaRPr>
          </a:p>
        </p:txBody>
      </p:sp>
      <p:sp>
        <p:nvSpPr>
          <p:cNvPr id="106" name="Google Shape;106;p14"/>
          <p:cNvSpPr/>
          <p:nvPr/>
        </p:nvSpPr>
        <p:spPr>
          <a:xfrm flipH="1" rot="-10380000">
            <a:off x="8004175" y="5359400"/>
            <a:ext cx="155575" cy="155575"/>
          </a:xfrm>
          <a:prstGeom prst="rtTriangle">
            <a:avLst/>
          </a:prstGeom>
          <a:solidFill>
            <a:srgbClr val="FFFFFF"/>
          </a:solidFill>
          <a:ln cap="flat" cmpd="sng" w="12700">
            <a:solidFill>
              <a:srgbClr val="FFFFFF"/>
            </a:solidFill>
            <a:prstDash val="solid"/>
            <a:bevel/>
            <a:headEnd len="sm" w="sm" type="none"/>
            <a:tailEnd len="sm" w="sm" type="none"/>
          </a:ln>
          <a:effectLst>
            <a:outerShdw blurRad="63500" dir="12899787" dist="6350">
              <a:srgbClr val="000000">
                <a:alpha val="4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onstantia"/>
              <a:ea typeface="Constantia"/>
              <a:cs typeface="Constantia"/>
              <a:sym typeface="Constantia"/>
            </a:endParaRPr>
          </a:p>
        </p:txBody>
      </p:sp>
      <p:sp>
        <p:nvSpPr>
          <p:cNvPr id="107" name="Google Shape;107;p14"/>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onstantia"/>
              <a:ea typeface="Constantia"/>
              <a:cs typeface="Constantia"/>
              <a:sym typeface="Constantia"/>
            </a:endParaRPr>
          </a:p>
        </p:txBody>
      </p:sp>
      <p:sp>
        <p:nvSpPr>
          <p:cNvPr id="108" name="Google Shape;108;p14"/>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onstantia"/>
              <a:ea typeface="Constantia"/>
              <a:cs typeface="Constantia"/>
              <a:sym typeface="Constantia"/>
            </a:endParaRPr>
          </a:p>
        </p:txBody>
      </p:sp>
      <p:sp>
        <p:nvSpPr>
          <p:cNvPr id="109" name="Google Shape;109;p14"/>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0" name="Google Shape;110;p14"/>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11" name="Google Shape;111;p1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112" name="Google Shape;112;p1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dk1"/>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113" name="Google Shape;113;p14"/>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1pPr>
            <a:lvl2pPr indent="0" lvl="1"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2pPr>
            <a:lvl3pPr indent="0" lvl="2"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3pPr>
            <a:lvl4pPr indent="0" lvl="3"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4pPr>
            <a:lvl5pPr indent="0" lvl="4"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5pPr>
            <a:lvl6pPr indent="0" lvl="5"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6pPr>
            <a:lvl7pPr indent="0" lvl="6"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7pPr>
            <a:lvl8pPr indent="0" lvl="7"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8pPr>
            <a:lvl9pPr indent="0" lvl="8" marL="0" marR="0" rtl="0" algn="r">
              <a:lnSpc>
                <a:spcPct val="100000"/>
              </a:lnSpc>
              <a:spcBef>
                <a:spcPts val="0"/>
              </a:spcBef>
              <a:spcAft>
                <a:spcPts val="0"/>
              </a:spcAft>
              <a:buClr>
                <a:srgbClr val="045C75"/>
              </a:buClr>
              <a:buSzPts val="1200"/>
              <a:buFont typeface="Constantia"/>
              <a:buNone/>
              <a:defRPr b="0" i="0" sz="1200" u="none">
                <a:solidFill>
                  <a:srgbClr val="04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6"/>
          <p:cNvSpPr txBox="1"/>
          <p:nvPr>
            <p:ph idx="4294967295"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marR="0" rtl="0" algn="r">
              <a:lnSpc>
                <a:spcPct val="100000"/>
              </a:lnSpc>
              <a:spcBef>
                <a:spcPts val="0"/>
              </a:spcBef>
              <a:spcAft>
                <a:spcPts val="0"/>
              </a:spcAft>
              <a:buClr>
                <a:srgbClr val="4CE0EA"/>
              </a:buClr>
              <a:buSzPts val="5600"/>
              <a:buFont typeface="Calibri"/>
              <a:buNone/>
            </a:pPr>
            <a:r>
              <a:rPr b="1" i="0" lang="en-US" sz="5600" u="none" cap="none" strike="noStrike">
                <a:solidFill>
                  <a:srgbClr val="4CE0EA"/>
                </a:solidFill>
                <a:latin typeface="Calibri"/>
                <a:ea typeface="Calibri"/>
                <a:cs typeface="Calibri"/>
                <a:sym typeface="Calibri"/>
              </a:rPr>
              <a:t>STACKS &amp; QUEUE</a:t>
            </a:r>
            <a:endParaRPr b="1" i="0" sz="5600" u="none" cap="none" strike="noStrike">
              <a:solidFill>
                <a:srgbClr val="4CE0EA"/>
              </a:solidFill>
              <a:latin typeface="Calibri"/>
              <a:ea typeface="Calibri"/>
              <a:cs typeface="Calibri"/>
              <a:sym typeface="Calibri"/>
            </a:endParaRPr>
          </a:p>
        </p:txBody>
      </p:sp>
      <p:sp>
        <p:nvSpPr>
          <p:cNvPr id="126" name="Google Shape;126;p16"/>
          <p:cNvSpPr txBox="1"/>
          <p:nvPr>
            <p:ph idx="1" type="subTitle"/>
          </p:nvPr>
        </p:nvSpPr>
        <p:spPr>
          <a:xfrm>
            <a:off x="533400" y="3228975"/>
            <a:ext cx="7854950" cy="1752600"/>
          </a:xfrm>
          <a:prstGeom prst="rect">
            <a:avLst/>
          </a:prstGeom>
          <a:noFill/>
          <a:ln>
            <a:noFill/>
          </a:ln>
        </p:spPr>
        <p:txBody>
          <a:bodyPr anchorCtr="0" anchor="t" bIns="45700" lIns="0" spcFirstLastPara="1" rIns="18275" wrap="square" tIns="45700">
            <a:noAutofit/>
          </a:bodyPr>
          <a:lstStyle/>
          <a:p>
            <a:pPr indent="0" lvl="0" marL="0" marR="45720" rtl="0" algn="r">
              <a:spcBef>
                <a:spcPts val="0"/>
              </a:spcBef>
              <a:spcAft>
                <a:spcPts val="0"/>
              </a:spcAft>
              <a:buSzPts val="2470"/>
              <a:buNone/>
            </a:pPr>
            <a:r>
              <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7"/>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onstantia"/>
              <a:ea typeface="Constantia"/>
              <a:cs typeface="Constantia"/>
              <a:sym typeface="Constantia"/>
            </a:endParaRPr>
          </a:p>
        </p:txBody>
      </p:sp>
      <p:sp>
        <p:nvSpPr>
          <p:cNvPr id="132" name="Google Shape;132;p17"/>
          <p:cNvSpPr txBox="1"/>
          <p:nvPr>
            <p:ph type="title"/>
          </p:nvPr>
        </p:nvSpPr>
        <p:spPr>
          <a:xfrm>
            <a:off x="304800" y="22860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STACK</a:t>
            </a:r>
            <a:endParaRPr/>
          </a:p>
        </p:txBody>
      </p:sp>
      <p:sp>
        <p:nvSpPr>
          <p:cNvPr id="133" name="Google Shape;133;p17"/>
          <p:cNvSpPr txBox="1"/>
          <p:nvPr/>
        </p:nvSpPr>
        <p:spPr>
          <a:xfrm>
            <a:off x="595312" y="1689100"/>
            <a:ext cx="8229600" cy="26543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A stack is a restricted linear list in which all additions and deletions are made at one end, the top. If we insert a series of data items into a stack and then remove them, the order of the data is reversed. This reversing attribute is why stacks are known as last in, first out (LIFO) data structures.</a:t>
            </a:r>
            <a:endParaRPr/>
          </a:p>
        </p:txBody>
      </p:sp>
      <p:pic>
        <p:nvPicPr>
          <p:cNvPr id="134" name="Google Shape;134;p17"/>
          <p:cNvPicPr preferRelativeResize="0"/>
          <p:nvPr/>
        </p:nvPicPr>
        <p:blipFill rotWithShape="1">
          <a:blip r:embed="rId3">
            <a:alphaModFix/>
          </a:blip>
          <a:srcRect b="0" l="0" r="0" t="0"/>
          <a:stretch/>
        </p:blipFill>
        <p:spPr>
          <a:xfrm>
            <a:off x="1447800" y="4419600"/>
            <a:ext cx="6691312" cy="1917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8"/>
          <p:cNvSpPr txBox="1"/>
          <p:nvPr>
            <p:ph type="title"/>
          </p:nvPr>
        </p:nvSpPr>
        <p:spPr>
          <a:xfrm>
            <a:off x="1219200" y="685800"/>
            <a:ext cx="77724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Last In First Out</a:t>
            </a:r>
            <a:endParaRPr/>
          </a:p>
        </p:txBody>
      </p:sp>
      <p:sp>
        <p:nvSpPr>
          <p:cNvPr id="140" name="Google Shape;140;p18"/>
          <p:cNvSpPr txBox="1"/>
          <p:nvPr/>
        </p:nvSpPr>
        <p:spPr>
          <a:xfrm>
            <a:off x="822325" y="4841875"/>
            <a:ext cx="9461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          </a:t>
            </a:r>
            <a:endParaRPr/>
          </a:p>
        </p:txBody>
      </p:sp>
      <p:sp>
        <p:nvSpPr>
          <p:cNvPr id="141" name="Google Shape;141;p18"/>
          <p:cNvSpPr txBox="1"/>
          <p:nvPr/>
        </p:nvSpPr>
        <p:spPr>
          <a:xfrm>
            <a:off x="1143000" y="3733800"/>
            <a:ext cx="457200" cy="1905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onstantia"/>
              <a:ea typeface="Constantia"/>
              <a:cs typeface="Constantia"/>
              <a:sym typeface="Constantia"/>
            </a:endParaRPr>
          </a:p>
        </p:txBody>
      </p:sp>
      <p:sp>
        <p:nvSpPr>
          <p:cNvPr id="142" name="Google Shape;142;p18"/>
          <p:cNvSpPr txBox="1"/>
          <p:nvPr/>
        </p:nvSpPr>
        <p:spPr>
          <a:xfrm>
            <a:off x="2514600" y="3733800"/>
            <a:ext cx="457200" cy="1905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nstantia"/>
              <a:buNone/>
            </a:pPr>
            <a:r>
              <a:t/>
            </a:r>
            <a:endParaRPr b="0" i="0" sz="1800" u="none">
              <a:solidFill>
                <a:schemeClr val="dk1"/>
              </a:solidFill>
              <a:latin typeface="Constantia"/>
              <a:ea typeface="Constantia"/>
              <a:cs typeface="Constantia"/>
              <a:sym typeface="Constantia"/>
            </a:endParaRPr>
          </a:p>
          <a:p>
            <a:pPr indent="0" lvl="0" marL="0" marR="0" rtl="0" algn="ctr">
              <a:lnSpc>
                <a:spcPct val="100000"/>
              </a:lnSpc>
              <a:spcBef>
                <a:spcPts val="0"/>
              </a:spcBef>
              <a:spcAft>
                <a:spcPts val="0"/>
              </a:spcAft>
              <a:buClr>
                <a:schemeClr val="dk1"/>
              </a:buClr>
              <a:buSzPts val="1800"/>
              <a:buFont typeface="Constantia"/>
              <a:buNone/>
            </a:pPr>
            <a:r>
              <a:t/>
            </a:r>
            <a:endParaRPr b="0" i="0" sz="1800" u="none">
              <a:solidFill>
                <a:schemeClr val="dk1"/>
              </a:solidFill>
              <a:latin typeface="Constantia"/>
              <a:ea typeface="Constantia"/>
              <a:cs typeface="Constantia"/>
              <a:sym typeface="Constantia"/>
            </a:endParaRPr>
          </a:p>
          <a:p>
            <a:pPr indent="0" lvl="0" marL="0" marR="0" rtl="0" algn="ctr">
              <a:lnSpc>
                <a:spcPct val="100000"/>
              </a:lnSpc>
              <a:spcBef>
                <a:spcPts val="0"/>
              </a:spcBef>
              <a:spcAft>
                <a:spcPts val="0"/>
              </a:spcAft>
              <a:buClr>
                <a:schemeClr val="dk1"/>
              </a:buClr>
              <a:buSzPts val="1800"/>
              <a:buFont typeface="Constantia"/>
              <a:buNone/>
            </a:pPr>
            <a:r>
              <a:t/>
            </a:r>
            <a:endParaRPr b="0" i="0" sz="1800" u="none">
              <a:solidFill>
                <a:schemeClr val="dk1"/>
              </a:solidFill>
              <a:latin typeface="Constantia"/>
              <a:ea typeface="Constantia"/>
              <a:cs typeface="Constantia"/>
              <a:sym typeface="Constantia"/>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B</a:t>
            </a:r>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A</a:t>
            </a:r>
            <a:endParaRPr/>
          </a:p>
        </p:txBody>
      </p:sp>
      <p:sp>
        <p:nvSpPr>
          <p:cNvPr id="143" name="Google Shape;143;p18"/>
          <p:cNvSpPr txBox="1"/>
          <p:nvPr/>
        </p:nvSpPr>
        <p:spPr>
          <a:xfrm>
            <a:off x="5029200" y="3733800"/>
            <a:ext cx="457200" cy="1905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nstantia"/>
              <a:buNone/>
            </a:pPr>
            <a:r>
              <a:t/>
            </a:r>
            <a:endParaRPr b="0" i="0" sz="1800" u="none">
              <a:solidFill>
                <a:schemeClr val="dk1"/>
              </a:solidFill>
              <a:latin typeface="Constantia"/>
              <a:ea typeface="Constantia"/>
              <a:cs typeface="Constantia"/>
              <a:sym typeface="Constantia"/>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D</a:t>
            </a:r>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C</a:t>
            </a:r>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B</a:t>
            </a:r>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A</a:t>
            </a:r>
            <a:endParaRPr/>
          </a:p>
        </p:txBody>
      </p:sp>
      <p:sp>
        <p:nvSpPr>
          <p:cNvPr id="144" name="Google Shape;144;p18"/>
          <p:cNvSpPr txBox="1"/>
          <p:nvPr/>
        </p:nvSpPr>
        <p:spPr>
          <a:xfrm>
            <a:off x="3810000" y="3733800"/>
            <a:ext cx="533400" cy="1905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nstantia"/>
              <a:buNone/>
            </a:pPr>
            <a:r>
              <a:t/>
            </a:r>
            <a:endParaRPr b="0" i="0" sz="1800" u="none">
              <a:solidFill>
                <a:schemeClr val="dk1"/>
              </a:solidFill>
              <a:latin typeface="Constantia"/>
              <a:ea typeface="Constantia"/>
              <a:cs typeface="Constantia"/>
              <a:sym typeface="Constantia"/>
            </a:endParaRPr>
          </a:p>
          <a:p>
            <a:pPr indent="0" lvl="0" marL="0" marR="0" rtl="0" algn="ctr">
              <a:lnSpc>
                <a:spcPct val="100000"/>
              </a:lnSpc>
              <a:spcBef>
                <a:spcPts val="0"/>
              </a:spcBef>
              <a:spcAft>
                <a:spcPts val="0"/>
              </a:spcAft>
              <a:buClr>
                <a:schemeClr val="dk1"/>
              </a:buClr>
              <a:buSzPts val="1800"/>
              <a:buFont typeface="Constantia"/>
              <a:buNone/>
            </a:pPr>
            <a:r>
              <a:t/>
            </a:r>
            <a:endParaRPr b="0" i="0" sz="1800" u="none">
              <a:solidFill>
                <a:schemeClr val="dk1"/>
              </a:solidFill>
              <a:latin typeface="Constantia"/>
              <a:ea typeface="Constantia"/>
              <a:cs typeface="Constantia"/>
              <a:sym typeface="Constantia"/>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C</a:t>
            </a:r>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B</a:t>
            </a:r>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A</a:t>
            </a:r>
            <a:endParaRPr/>
          </a:p>
        </p:txBody>
      </p:sp>
      <p:sp>
        <p:nvSpPr>
          <p:cNvPr id="145" name="Google Shape;145;p18"/>
          <p:cNvSpPr txBox="1"/>
          <p:nvPr/>
        </p:nvSpPr>
        <p:spPr>
          <a:xfrm>
            <a:off x="7543800" y="3733800"/>
            <a:ext cx="457200" cy="1905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nstantia"/>
              <a:buNone/>
            </a:pPr>
            <a:r>
              <a:t/>
            </a:r>
            <a:endParaRPr b="0" i="0" sz="1800" u="none">
              <a:solidFill>
                <a:schemeClr val="dk1"/>
              </a:solidFill>
              <a:latin typeface="Constantia"/>
              <a:ea typeface="Constantia"/>
              <a:cs typeface="Constantia"/>
              <a:sym typeface="Constantia"/>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D</a:t>
            </a:r>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C</a:t>
            </a:r>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B</a:t>
            </a:r>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A</a:t>
            </a:r>
            <a:endParaRPr/>
          </a:p>
        </p:txBody>
      </p:sp>
      <p:sp>
        <p:nvSpPr>
          <p:cNvPr id="146" name="Google Shape;146;p18"/>
          <p:cNvSpPr txBox="1"/>
          <p:nvPr/>
        </p:nvSpPr>
        <p:spPr>
          <a:xfrm>
            <a:off x="6324600" y="3733800"/>
            <a:ext cx="457200" cy="1905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E</a:t>
            </a:r>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D</a:t>
            </a:r>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C</a:t>
            </a:r>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B</a:t>
            </a:r>
            <a:endParaRPr/>
          </a:p>
          <a:p>
            <a:pPr indent="0" lvl="0" marL="0" marR="0" rtl="0" algn="ctr">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A</a:t>
            </a:r>
            <a:endParaRPr/>
          </a:p>
        </p:txBody>
      </p:sp>
      <p:cxnSp>
        <p:nvCxnSpPr>
          <p:cNvPr id="147" name="Google Shape;147;p18"/>
          <p:cNvCxnSpPr/>
          <p:nvPr/>
        </p:nvCxnSpPr>
        <p:spPr>
          <a:xfrm rot="10800000">
            <a:off x="1676400" y="5216525"/>
            <a:ext cx="228600" cy="0"/>
          </a:xfrm>
          <a:prstGeom prst="straightConnector1">
            <a:avLst/>
          </a:prstGeom>
          <a:noFill/>
          <a:ln cap="flat" cmpd="sng" w="9525">
            <a:solidFill>
              <a:schemeClr val="dk1"/>
            </a:solidFill>
            <a:prstDash val="solid"/>
            <a:miter lim="800000"/>
            <a:headEnd len="med" w="med" type="none"/>
            <a:tailEnd len="med" w="med" type="triangle"/>
          </a:ln>
        </p:spPr>
      </p:cxnSp>
      <p:sp>
        <p:nvSpPr>
          <p:cNvPr id="148" name="Google Shape;148;p18"/>
          <p:cNvSpPr txBox="1"/>
          <p:nvPr/>
        </p:nvSpPr>
        <p:spPr>
          <a:xfrm>
            <a:off x="1905000" y="4987925"/>
            <a:ext cx="573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top</a:t>
            </a:r>
            <a:endParaRPr/>
          </a:p>
        </p:txBody>
      </p:sp>
      <p:cxnSp>
        <p:nvCxnSpPr>
          <p:cNvPr id="149" name="Google Shape;149;p18"/>
          <p:cNvCxnSpPr/>
          <p:nvPr/>
        </p:nvCxnSpPr>
        <p:spPr>
          <a:xfrm>
            <a:off x="1143000" y="3733800"/>
            <a:ext cx="457200" cy="0"/>
          </a:xfrm>
          <a:prstGeom prst="straightConnector1">
            <a:avLst/>
          </a:prstGeom>
          <a:noFill/>
          <a:ln cap="flat" cmpd="sng" w="9525">
            <a:solidFill>
              <a:schemeClr val="lt1"/>
            </a:solidFill>
            <a:prstDash val="solid"/>
            <a:miter lim="800000"/>
            <a:headEnd len="med" w="med" type="none"/>
            <a:tailEnd len="med" w="med" type="none"/>
          </a:ln>
        </p:spPr>
      </p:cxnSp>
      <p:cxnSp>
        <p:nvCxnSpPr>
          <p:cNvPr id="150" name="Google Shape;150;p18"/>
          <p:cNvCxnSpPr/>
          <p:nvPr/>
        </p:nvCxnSpPr>
        <p:spPr>
          <a:xfrm>
            <a:off x="2514600" y="3733800"/>
            <a:ext cx="457200" cy="0"/>
          </a:xfrm>
          <a:prstGeom prst="straightConnector1">
            <a:avLst/>
          </a:prstGeom>
          <a:noFill/>
          <a:ln cap="flat" cmpd="sng" w="9525">
            <a:solidFill>
              <a:schemeClr val="lt1"/>
            </a:solidFill>
            <a:prstDash val="solid"/>
            <a:miter lim="800000"/>
            <a:headEnd len="med" w="med" type="none"/>
            <a:tailEnd len="med" w="med" type="none"/>
          </a:ln>
        </p:spPr>
      </p:cxnSp>
      <p:cxnSp>
        <p:nvCxnSpPr>
          <p:cNvPr id="151" name="Google Shape;151;p18"/>
          <p:cNvCxnSpPr/>
          <p:nvPr/>
        </p:nvCxnSpPr>
        <p:spPr>
          <a:xfrm>
            <a:off x="3810000" y="3733800"/>
            <a:ext cx="533400" cy="0"/>
          </a:xfrm>
          <a:prstGeom prst="straightConnector1">
            <a:avLst/>
          </a:prstGeom>
          <a:noFill/>
          <a:ln cap="flat" cmpd="sng" w="9525">
            <a:solidFill>
              <a:schemeClr val="lt1"/>
            </a:solidFill>
            <a:prstDash val="solid"/>
            <a:miter lim="800000"/>
            <a:headEnd len="med" w="med" type="none"/>
            <a:tailEnd len="med" w="med" type="none"/>
          </a:ln>
        </p:spPr>
      </p:cxnSp>
      <p:cxnSp>
        <p:nvCxnSpPr>
          <p:cNvPr id="152" name="Google Shape;152;p18"/>
          <p:cNvCxnSpPr/>
          <p:nvPr/>
        </p:nvCxnSpPr>
        <p:spPr>
          <a:xfrm>
            <a:off x="5029200" y="3733800"/>
            <a:ext cx="457200" cy="0"/>
          </a:xfrm>
          <a:prstGeom prst="straightConnector1">
            <a:avLst/>
          </a:prstGeom>
          <a:noFill/>
          <a:ln cap="flat" cmpd="sng" w="9525">
            <a:solidFill>
              <a:schemeClr val="lt1"/>
            </a:solidFill>
            <a:prstDash val="solid"/>
            <a:miter lim="800000"/>
            <a:headEnd len="med" w="med" type="none"/>
            <a:tailEnd len="med" w="med" type="none"/>
          </a:ln>
        </p:spPr>
      </p:cxnSp>
      <p:cxnSp>
        <p:nvCxnSpPr>
          <p:cNvPr id="153" name="Google Shape;153;p18"/>
          <p:cNvCxnSpPr/>
          <p:nvPr/>
        </p:nvCxnSpPr>
        <p:spPr>
          <a:xfrm>
            <a:off x="6324600" y="3733800"/>
            <a:ext cx="457200" cy="0"/>
          </a:xfrm>
          <a:prstGeom prst="straightConnector1">
            <a:avLst/>
          </a:prstGeom>
          <a:noFill/>
          <a:ln cap="flat" cmpd="sng" w="9525">
            <a:solidFill>
              <a:schemeClr val="lt1"/>
            </a:solidFill>
            <a:prstDash val="solid"/>
            <a:miter lim="800000"/>
            <a:headEnd len="med" w="med" type="none"/>
            <a:tailEnd len="med" w="med" type="none"/>
          </a:ln>
        </p:spPr>
      </p:cxnSp>
      <p:cxnSp>
        <p:nvCxnSpPr>
          <p:cNvPr id="154" name="Google Shape;154;p18"/>
          <p:cNvCxnSpPr/>
          <p:nvPr/>
        </p:nvCxnSpPr>
        <p:spPr>
          <a:xfrm>
            <a:off x="7543800" y="3733800"/>
            <a:ext cx="457200" cy="0"/>
          </a:xfrm>
          <a:prstGeom prst="straightConnector1">
            <a:avLst/>
          </a:prstGeom>
          <a:noFill/>
          <a:ln cap="flat" cmpd="sng" w="9525">
            <a:solidFill>
              <a:schemeClr val="lt1"/>
            </a:solidFill>
            <a:prstDash val="solid"/>
            <a:miter lim="800000"/>
            <a:headEnd len="med" w="med" type="none"/>
            <a:tailEnd len="med" w="med" type="none"/>
          </a:ln>
        </p:spPr>
      </p:cxnSp>
      <p:cxnSp>
        <p:nvCxnSpPr>
          <p:cNvPr id="155" name="Google Shape;155;p18"/>
          <p:cNvCxnSpPr/>
          <p:nvPr/>
        </p:nvCxnSpPr>
        <p:spPr>
          <a:xfrm rot="10800000">
            <a:off x="2971800" y="4759325"/>
            <a:ext cx="2286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156" name="Google Shape;156;p18"/>
          <p:cNvCxnSpPr/>
          <p:nvPr/>
        </p:nvCxnSpPr>
        <p:spPr>
          <a:xfrm rot="10800000">
            <a:off x="4343400" y="4454525"/>
            <a:ext cx="2286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157" name="Google Shape;157;p18"/>
          <p:cNvCxnSpPr/>
          <p:nvPr/>
        </p:nvCxnSpPr>
        <p:spPr>
          <a:xfrm rot="10800000">
            <a:off x="5486400" y="4225925"/>
            <a:ext cx="2286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158" name="Google Shape;158;p18"/>
          <p:cNvCxnSpPr/>
          <p:nvPr/>
        </p:nvCxnSpPr>
        <p:spPr>
          <a:xfrm rot="10800000">
            <a:off x="6781800" y="3886200"/>
            <a:ext cx="2286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159" name="Google Shape;159;p18"/>
          <p:cNvCxnSpPr/>
          <p:nvPr/>
        </p:nvCxnSpPr>
        <p:spPr>
          <a:xfrm rot="10800000">
            <a:off x="8001000" y="4267200"/>
            <a:ext cx="228600" cy="0"/>
          </a:xfrm>
          <a:prstGeom prst="straightConnector1">
            <a:avLst/>
          </a:prstGeom>
          <a:noFill/>
          <a:ln cap="flat" cmpd="sng" w="9525">
            <a:solidFill>
              <a:schemeClr val="dk1"/>
            </a:solidFill>
            <a:prstDash val="solid"/>
            <a:miter lim="800000"/>
            <a:headEnd len="med" w="med" type="none"/>
            <a:tailEnd len="med" w="med" type="triangle"/>
          </a:ln>
        </p:spPr>
      </p:cxnSp>
      <p:sp>
        <p:nvSpPr>
          <p:cNvPr id="160" name="Google Shape;160;p18"/>
          <p:cNvSpPr txBox="1"/>
          <p:nvPr/>
        </p:nvSpPr>
        <p:spPr>
          <a:xfrm>
            <a:off x="3184525" y="4495800"/>
            <a:ext cx="573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top</a:t>
            </a:r>
            <a:endParaRPr/>
          </a:p>
        </p:txBody>
      </p:sp>
      <p:sp>
        <p:nvSpPr>
          <p:cNvPr id="161" name="Google Shape;161;p18"/>
          <p:cNvSpPr txBox="1"/>
          <p:nvPr/>
        </p:nvSpPr>
        <p:spPr>
          <a:xfrm>
            <a:off x="4479925" y="4267200"/>
            <a:ext cx="573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top</a:t>
            </a:r>
            <a:endParaRPr/>
          </a:p>
        </p:txBody>
      </p:sp>
      <p:sp>
        <p:nvSpPr>
          <p:cNvPr id="162" name="Google Shape;162;p18"/>
          <p:cNvSpPr txBox="1"/>
          <p:nvPr/>
        </p:nvSpPr>
        <p:spPr>
          <a:xfrm>
            <a:off x="5622925" y="3962400"/>
            <a:ext cx="573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top</a:t>
            </a:r>
            <a:endParaRPr/>
          </a:p>
        </p:txBody>
      </p:sp>
      <p:sp>
        <p:nvSpPr>
          <p:cNvPr id="163" name="Google Shape;163;p18"/>
          <p:cNvSpPr txBox="1"/>
          <p:nvPr/>
        </p:nvSpPr>
        <p:spPr>
          <a:xfrm>
            <a:off x="6994525" y="3698875"/>
            <a:ext cx="573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top</a:t>
            </a:r>
            <a:endParaRPr/>
          </a:p>
        </p:txBody>
      </p:sp>
      <p:sp>
        <p:nvSpPr>
          <p:cNvPr id="164" name="Google Shape;164;p18"/>
          <p:cNvSpPr txBox="1"/>
          <p:nvPr/>
        </p:nvSpPr>
        <p:spPr>
          <a:xfrm>
            <a:off x="1203325" y="5222875"/>
            <a:ext cx="4048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A</a:t>
            </a:r>
            <a:endParaRPr/>
          </a:p>
        </p:txBody>
      </p:sp>
      <p:sp>
        <p:nvSpPr>
          <p:cNvPr id="165" name="Google Shape;165;p18"/>
          <p:cNvSpPr txBox="1"/>
          <p:nvPr/>
        </p:nvSpPr>
        <p:spPr>
          <a:xfrm>
            <a:off x="8229600" y="4038600"/>
            <a:ext cx="573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nstantia"/>
              <a:buNone/>
            </a:pPr>
            <a:r>
              <a:rPr b="0" i="0" lang="en-US" sz="1800" u="none">
                <a:solidFill>
                  <a:schemeClr val="dk1"/>
                </a:solidFill>
                <a:latin typeface="Constantia"/>
                <a:ea typeface="Constantia"/>
                <a:cs typeface="Constantia"/>
                <a:sym typeface="Constantia"/>
              </a:rPr>
              <a:t>top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9"/>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12.</a:t>
            </a: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172" name="Google Shape;172;p19"/>
          <p:cNvSpPr txBox="1"/>
          <p:nvPr/>
        </p:nvSpPr>
        <p:spPr>
          <a:xfrm>
            <a:off x="0" y="0"/>
            <a:ext cx="3984625"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1800"/>
              <a:buFont typeface="Times New Roman"/>
              <a:buNone/>
            </a:pPr>
            <a:r>
              <a:rPr b="0" i="0" lang="en-US" sz="1800" u="none">
                <a:solidFill>
                  <a:schemeClr val="hlink"/>
                </a:solidFill>
                <a:latin typeface="Times New Roman"/>
                <a:ea typeface="Times New Roman"/>
                <a:cs typeface="Times New Roman"/>
                <a:sym typeface="Times New Roman"/>
              </a:rPr>
              <a:t>Stack implementation</a:t>
            </a:r>
            <a:endParaRPr/>
          </a:p>
        </p:txBody>
      </p:sp>
      <p:sp>
        <p:nvSpPr>
          <p:cNvPr id="173" name="Google Shape;173;p19"/>
          <p:cNvSpPr txBox="1"/>
          <p:nvPr/>
        </p:nvSpPr>
        <p:spPr>
          <a:xfrm>
            <a:off x="0" y="533400"/>
            <a:ext cx="8915400" cy="56435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At the ADT level, we use the stack and its four operations; at the implementation level, we need to choose a data structure to implement it. Stack ADTs can be implemented using either an array or a linked list. Figure 12.7 shows an example of a stack ADT with five items. The figure also shows how we can implement the stack. </a:t>
            </a:r>
            <a:endParaRPr/>
          </a:p>
          <a:p>
            <a:pPr indent="0" lvl="0" marL="0" marR="0" rtl="0" algn="just">
              <a:lnSpc>
                <a:spcPct val="100000"/>
              </a:lnSpc>
              <a:spcBef>
                <a:spcPts val="0"/>
              </a:spcBef>
              <a:spcAft>
                <a:spcPts val="0"/>
              </a:spcAft>
              <a:buClr>
                <a:schemeClr val="dk1"/>
              </a:buClr>
              <a:buSzPts val="2800"/>
              <a:buFont typeface="Constantia"/>
              <a:buNone/>
            </a:pPr>
            <a:r>
              <a:t/>
            </a:r>
            <a:endParaRPr b="0" i="0"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In our array implementation, we have a record that has two fields. The first field can be used to store information about the array. The linked list implementation is similar: we have an extra node that has the name of the stack. This node also has two fields: a counter and a pointer that points to the top element.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nvSpPr>
        <p:spPr>
          <a:xfrm>
            <a:off x="0" y="381000"/>
            <a:ext cx="4951412" cy="7699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Operations on stacks</a:t>
            </a:r>
            <a:endParaRPr/>
          </a:p>
        </p:txBody>
      </p:sp>
      <p:sp>
        <p:nvSpPr>
          <p:cNvPr id="179" name="Google Shape;179;p20"/>
          <p:cNvSpPr txBox="1"/>
          <p:nvPr/>
        </p:nvSpPr>
        <p:spPr>
          <a:xfrm>
            <a:off x="0" y="1295400"/>
            <a:ext cx="8915400" cy="9461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There are four basic operations, </a:t>
            </a:r>
            <a:r>
              <a:rPr b="0" i="1" lang="en-US" sz="2800" u="none">
                <a:solidFill>
                  <a:schemeClr val="dk1"/>
                </a:solidFill>
                <a:latin typeface="Times New Roman"/>
                <a:ea typeface="Times New Roman"/>
                <a:cs typeface="Times New Roman"/>
                <a:sym typeface="Times New Roman"/>
              </a:rPr>
              <a:t>stack</a:t>
            </a:r>
            <a:r>
              <a:rPr b="0" i="0" lang="en-US" sz="2800" u="none">
                <a:solidFill>
                  <a:schemeClr val="dk1"/>
                </a:solidFill>
                <a:latin typeface="Times New Roman"/>
                <a:ea typeface="Times New Roman"/>
                <a:cs typeface="Times New Roman"/>
                <a:sym typeface="Times New Roman"/>
              </a:rPr>
              <a:t>, </a:t>
            </a:r>
            <a:r>
              <a:rPr b="0" i="1" lang="en-US" sz="2800" u="none">
                <a:solidFill>
                  <a:schemeClr val="dk1"/>
                </a:solidFill>
                <a:latin typeface="Times New Roman"/>
                <a:ea typeface="Times New Roman"/>
                <a:cs typeface="Times New Roman"/>
                <a:sym typeface="Times New Roman"/>
              </a:rPr>
              <a:t>push</a:t>
            </a:r>
            <a:r>
              <a:rPr b="0" i="0" lang="en-US" sz="2800" u="none">
                <a:solidFill>
                  <a:schemeClr val="dk1"/>
                </a:solidFill>
                <a:latin typeface="Times New Roman"/>
                <a:ea typeface="Times New Roman"/>
                <a:cs typeface="Times New Roman"/>
                <a:sym typeface="Times New Roman"/>
              </a:rPr>
              <a:t>, </a:t>
            </a:r>
            <a:r>
              <a:rPr b="0" i="1" lang="en-US" sz="2800" u="none">
                <a:solidFill>
                  <a:schemeClr val="dk1"/>
                </a:solidFill>
                <a:latin typeface="Times New Roman"/>
                <a:ea typeface="Times New Roman"/>
                <a:cs typeface="Times New Roman"/>
                <a:sym typeface="Times New Roman"/>
              </a:rPr>
              <a:t>pop</a:t>
            </a:r>
            <a:r>
              <a:rPr b="0" i="0" lang="en-US" sz="2800" u="none">
                <a:solidFill>
                  <a:schemeClr val="dk1"/>
                </a:solidFill>
                <a:latin typeface="Times New Roman"/>
                <a:ea typeface="Times New Roman"/>
                <a:cs typeface="Times New Roman"/>
                <a:sym typeface="Times New Roman"/>
              </a:rPr>
              <a:t> and </a:t>
            </a:r>
            <a:r>
              <a:rPr b="0" i="1" lang="en-US" sz="2800" u="none">
                <a:solidFill>
                  <a:schemeClr val="dk1"/>
                </a:solidFill>
                <a:latin typeface="Times New Roman"/>
                <a:ea typeface="Times New Roman"/>
                <a:cs typeface="Times New Roman"/>
                <a:sym typeface="Times New Roman"/>
              </a:rPr>
              <a:t>empty</a:t>
            </a:r>
            <a:r>
              <a:rPr b="0" i="0" lang="en-US" sz="2800" u="none">
                <a:solidFill>
                  <a:schemeClr val="dk1"/>
                </a:solidFill>
                <a:latin typeface="Times New Roman"/>
                <a:ea typeface="Times New Roman"/>
                <a:cs typeface="Times New Roman"/>
                <a:sym typeface="Times New Roman"/>
              </a:rPr>
              <a:t>, that we define in this chapter.</a:t>
            </a:r>
            <a:endParaRPr/>
          </a:p>
        </p:txBody>
      </p:sp>
      <p:sp>
        <p:nvSpPr>
          <p:cNvPr id="180" name="Google Shape;180;p20"/>
          <p:cNvSpPr txBox="1"/>
          <p:nvPr/>
        </p:nvSpPr>
        <p:spPr>
          <a:xfrm>
            <a:off x="76200" y="2438400"/>
            <a:ext cx="316547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2800"/>
              <a:buFont typeface="Times New Roman"/>
              <a:buNone/>
            </a:pPr>
            <a:r>
              <a:rPr b="0" i="0" lang="en-US" sz="2800" u="none">
                <a:solidFill>
                  <a:srgbClr val="660066"/>
                </a:solidFill>
                <a:latin typeface="Times New Roman"/>
                <a:ea typeface="Times New Roman"/>
                <a:cs typeface="Times New Roman"/>
                <a:sym typeface="Times New Roman"/>
              </a:rPr>
              <a:t>The </a:t>
            </a:r>
            <a:r>
              <a:rPr b="0" i="1" lang="en-US" sz="2800" u="none">
                <a:solidFill>
                  <a:srgbClr val="660066"/>
                </a:solidFill>
                <a:latin typeface="Times New Roman"/>
                <a:ea typeface="Times New Roman"/>
                <a:cs typeface="Times New Roman"/>
                <a:sym typeface="Times New Roman"/>
              </a:rPr>
              <a:t>stack</a:t>
            </a:r>
            <a:r>
              <a:rPr b="0" i="0" lang="en-US" sz="2800" u="none">
                <a:solidFill>
                  <a:srgbClr val="660066"/>
                </a:solidFill>
                <a:latin typeface="Times New Roman"/>
                <a:ea typeface="Times New Roman"/>
                <a:cs typeface="Times New Roman"/>
                <a:sym typeface="Times New Roman"/>
              </a:rPr>
              <a:t> operation</a:t>
            </a:r>
            <a:endParaRPr/>
          </a:p>
        </p:txBody>
      </p:sp>
      <p:sp>
        <p:nvSpPr>
          <p:cNvPr id="181" name="Google Shape;181;p20"/>
          <p:cNvSpPr txBox="1"/>
          <p:nvPr/>
        </p:nvSpPr>
        <p:spPr>
          <a:xfrm>
            <a:off x="76200" y="3048000"/>
            <a:ext cx="8915400" cy="9461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a:t>
            </a:r>
            <a:r>
              <a:rPr b="0" i="1" lang="en-US" sz="2800" u="none">
                <a:solidFill>
                  <a:schemeClr val="dk1"/>
                </a:solidFill>
                <a:latin typeface="Times New Roman"/>
                <a:ea typeface="Times New Roman"/>
                <a:cs typeface="Times New Roman"/>
                <a:sym typeface="Times New Roman"/>
              </a:rPr>
              <a:t>stack</a:t>
            </a:r>
            <a:r>
              <a:rPr b="0" i="0" lang="en-US" sz="2800" u="none">
                <a:solidFill>
                  <a:schemeClr val="dk1"/>
                </a:solidFill>
                <a:latin typeface="Times New Roman"/>
                <a:ea typeface="Times New Roman"/>
                <a:cs typeface="Times New Roman"/>
                <a:sym typeface="Times New Roman"/>
              </a:rPr>
              <a:t> operation creates an empty stack. The following shows the format.</a:t>
            </a:r>
            <a:endParaRPr/>
          </a:p>
        </p:txBody>
      </p:sp>
      <p:pic>
        <p:nvPicPr>
          <p:cNvPr id="182" name="Google Shape;182;p20"/>
          <p:cNvPicPr preferRelativeResize="0"/>
          <p:nvPr/>
        </p:nvPicPr>
        <p:blipFill rotWithShape="1">
          <a:blip r:embed="rId3">
            <a:alphaModFix/>
          </a:blip>
          <a:srcRect b="0" l="0" r="0" t="0"/>
          <a:stretch/>
        </p:blipFill>
        <p:spPr>
          <a:xfrm>
            <a:off x="1701800" y="5448300"/>
            <a:ext cx="4470400" cy="876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nvSpPr>
        <p:spPr>
          <a:xfrm>
            <a:off x="0" y="685800"/>
            <a:ext cx="4645025" cy="7699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The push operation</a:t>
            </a:r>
            <a:endParaRPr/>
          </a:p>
        </p:txBody>
      </p:sp>
      <p:sp>
        <p:nvSpPr>
          <p:cNvPr id="188" name="Google Shape;188;p21"/>
          <p:cNvSpPr txBox="1"/>
          <p:nvPr/>
        </p:nvSpPr>
        <p:spPr>
          <a:xfrm>
            <a:off x="76200" y="1600200"/>
            <a:ext cx="8915400" cy="9461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a:t>
            </a:r>
            <a:r>
              <a:rPr b="0" i="1" lang="en-US" sz="2800" u="none">
                <a:solidFill>
                  <a:schemeClr val="dk1"/>
                </a:solidFill>
                <a:latin typeface="Times New Roman"/>
                <a:ea typeface="Times New Roman"/>
                <a:cs typeface="Times New Roman"/>
                <a:sym typeface="Times New Roman"/>
              </a:rPr>
              <a:t>push</a:t>
            </a:r>
            <a:r>
              <a:rPr b="0" i="0" lang="en-US" sz="2800" u="none">
                <a:solidFill>
                  <a:schemeClr val="dk1"/>
                </a:solidFill>
                <a:latin typeface="Times New Roman"/>
                <a:ea typeface="Times New Roman"/>
                <a:cs typeface="Times New Roman"/>
                <a:sym typeface="Times New Roman"/>
              </a:rPr>
              <a:t> operation inserts an item at the top of the stack. The following shows the format.</a:t>
            </a:r>
            <a:endParaRPr/>
          </a:p>
        </p:txBody>
      </p:sp>
      <p:pic>
        <p:nvPicPr>
          <p:cNvPr id="189" name="Google Shape;189;p21"/>
          <p:cNvPicPr preferRelativeResize="0"/>
          <p:nvPr/>
        </p:nvPicPr>
        <p:blipFill rotWithShape="1">
          <a:blip r:embed="rId3">
            <a:alphaModFix/>
          </a:blip>
          <a:srcRect b="0" l="0" r="0" t="0"/>
          <a:stretch/>
        </p:blipFill>
        <p:spPr>
          <a:xfrm>
            <a:off x="282575" y="3124200"/>
            <a:ext cx="8328025" cy="2819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2"/>
          <p:cNvSpPr txBox="1"/>
          <p:nvPr/>
        </p:nvSpPr>
        <p:spPr>
          <a:xfrm>
            <a:off x="76200" y="838200"/>
            <a:ext cx="4425950" cy="7699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The pop operation</a:t>
            </a:r>
            <a:endParaRPr/>
          </a:p>
        </p:txBody>
      </p:sp>
      <p:sp>
        <p:nvSpPr>
          <p:cNvPr id="195" name="Google Shape;195;p22"/>
          <p:cNvSpPr txBox="1"/>
          <p:nvPr/>
        </p:nvSpPr>
        <p:spPr>
          <a:xfrm>
            <a:off x="76200" y="1752600"/>
            <a:ext cx="8915400" cy="9461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a:t>
            </a:r>
            <a:r>
              <a:rPr b="0" i="1" lang="en-US" sz="2800" u="none">
                <a:solidFill>
                  <a:schemeClr val="dk1"/>
                </a:solidFill>
                <a:latin typeface="Times New Roman"/>
                <a:ea typeface="Times New Roman"/>
                <a:cs typeface="Times New Roman"/>
                <a:sym typeface="Times New Roman"/>
              </a:rPr>
              <a:t>pop</a:t>
            </a:r>
            <a:r>
              <a:rPr b="0" i="0" lang="en-US" sz="2800" u="none">
                <a:solidFill>
                  <a:schemeClr val="dk1"/>
                </a:solidFill>
                <a:latin typeface="Times New Roman"/>
                <a:ea typeface="Times New Roman"/>
                <a:cs typeface="Times New Roman"/>
                <a:sym typeface="Times New Roman"/>
              </a:rPr>
              <a:t> operation deletes the item at the top of the stack. The following shows the format.</a:t>
            </a:r>
            <a:endParaRPr/>
          </a:p>
        </p:txBody>
      </p:sp>
      <p:pic>
        <p:nvPicPr>
          <p:cNvPr id="196" name="Google Shape;196;p22"/>
          <p:cNvPicPr preferRelativeResize="0"/>
          <p:nvPr/>
        </p:nvPicPr>
        <p:blipFill rotWithShape="1">
          <a:blip r:embed="rId3">
            <a:alphaModFix/>
          </a:blip>
          <a:srcRect b="0" l="0" r="0" t="0"/>
          <a:stretch/>
        </p:blipFill>
        <p:spPr>
          <a:xfrm>
            <a:off x="304800" y="3124200"/>
            <a:ext cx="8245475" cy="2619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3"/>
          <p:cNvSpPr txBox="1"/>
          <p:nvPr/>
        </p:nvSpPr>
        <p:spPr>
          <a:xfrm>
            <a:off x="0" y="685800"/>
            <a:ext cx="5003800" cy="7699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The empty operation</a:t>
            </a:r>
            <a:endParaRPr/>
          </a:p>
        </p:txBody>
      </p:sp>
      <p:sp>
        <p:nvSpPr>
          <p:cNvPr id="202" name="Google Shape;202;p23"/>
          <p:cNvSpPr txBox="1"/>
          <p:nvPr/>
        </p:nvSpPr>
        <p:spPr>
          <a:xfrm>
            <a:off x="76200" y="1600200"/>
            <a:ext cx="8915400" cy="9461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a:t>
            </a:r>
            <a:r>
              <a:rPr b="0" i="1" lang="en-US" sz="2800" u="none">
                <a:solidFill>
                  <a:schemeClr val="dk1"/>
                </a:solidFill>
                <a:latin typeface="Times New Roman"/>
                <a:ea typeface="Times New Roman"/>
                <a:cs typeface="Times New Roman"/>
                <a:sym typeface="Times New Roman"/>
              </a:rPr>
              <a:t>empty</a:t>
            </a:r>
            <a:r>
              <a:rPr b="0" i="0" lang="en-US" sz="2800" u="none">
                <a:solidFill>
                  <a:schemeClr val="dk1"/>
                </a:solidFill>
                <a:latin typeface="Times New Roman"/>
                <a:ea typeface="Times New Roman"/>
                <a:cs typeface="Times New Roman"/>
                <a:sym typeface="Times New Roman"/>
              </a:rPr>
              <a:t> operation checks the status of the stack. The following shows the format.</a:t>
            </a:r>
            <a:endParaRPr/>
          </a:p>
        </p:txBody>
      </p:sp>
      <p:pic>
        <p:nvPicPr>
          <p:cNvPr id="203" name="Google Shape;203;p23"/>
          <p:cNvPicPr preferRelativeResize="0"/>
          <p:nvPr/>
        </p:nvPicPr>
        <p:blipFill rotWithShape="1">
          <a:blip r:embed="rId3">
            <a:alphaModFix/>
          </a:blip>
          <a:srcRect b="0" l="0" r="0" t="0"/>
          <a:stretch/>
        </p:blipFill>
        <p:spPr>
          <a:xfrm>
            <a:off x="3225800" y="2667000"/>
            <a:ext cx="2413000" cy="668337"/>
          </a:xfrm>
          <a:prstGeom prst="rect">
            <a:avLst/>
          </a:prstGeom>
          <a:noFill/>
          <a:ln>
            <a:noFill/>
          </a:ln>
        </p:spPr>
      </p:pic>
      <p:sp>
        <p:nvSpPr>
          <p:cNvPr id="204" name="Google Shape;204;p23"/>
          <p:cNvSpPr txBox="1"/>
          <p:nvPr/>
        </p:nvSpPr>
        <p:spPr>
          <a:xfrm>
            <a:off x="228600" y="3778250"/>
            <a:ext cx="8915400" cy="9461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This operation returns true if the stack is empty and false if the stack is not empty.</a:t>
            </a:r>
            <a:endParaRPr/>
          </a:p>
        </p:txBody>
      </p:sp>
      <p:pic>
        <p:nvPicPr>
          <p:cNvPr id="205" name="Google Shape;205;p23"/>
          <p:cNvPicPr preferRelativeResize="0"/>
          <p:nvPr/>
        </p:nvPicPr>
        <p:blipFill rotWithShape="1">
          <a:blip r:embed="rId4">
            <a:alphaModFix/>
          </a:blip>
          <a:srcRect b="0" l="0" r="0" t="0"/>
          <a:stretch/>
        </p:blipFill>
        <p:spPr>
          <a:xfrm>
            <a:off x="3294062" y="4695825"/>
            <a:ext cx="3573462" cy="138588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4"/>
          <p:cNvSpPr txBox="1"/>
          <p:nvPr>
            <p:ph type="title"/>
          </p:nvPr>
        </p:nvSpPr>
        <p:spPr>
          <a:xfrm>
            <a:off x="381000" y="152400"/>
            <a:ext cx="8229600" cy="4572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000"/>
              <a:buFont typeface="Calibri"/>
              <a:buNone/>
            </a:pPr>
            <a:r>
              <a:rPr b="0" i="0" lang="en-US" sz="4000" u="none">
                <a:solidFill>
                  <a:schemeClr val="dk2"/>
                </a:solidFill>
                <a:latin typeface="Calibri"/>
                <a:ea typeface="Calibri"/>
                <a:cs typeface="Calibri"/>
                <a:sym typeface="Calibri"/>
              </a:rPr>
              <a:t>Stack array implementation example</a:t>
            </a:r>
            <a:endParaRPr/>
          </a:p>
        </p:txBody>
      </p:sp>
      <p:sp>
        <p:nvSpPr>
          <p:cNvPr id="211" name="Google Shape;211;p24"/>
          <p:cNvSpPr txBox="1"/>
          <p:nvPr>
            <p:ph idx="1" type="body"/>
          </p:nvPr>
        </p:nvSpPr>
        <p:spPr>
          <a:xfrm>
            <a:off x="457200" y="838200"/>
            <a:ext cx="3429000" cy="5791200"/>
          </a:xfrm>
          <a:prstGeom prst="rect">
            <a:avLst/>
          </a:prstGeom>
          <a:noFill/>
          <a:ln>
            <a:noFill/>
          </a:ln>
        </p:spPr>
        <p:txBody>
          <a:bodyPr anchorCtr="0" anchor="t" bIns="45700" lIns="91425" spcFirstLastPara="1" rIns="91425" wrap="square" tIns="45700">
            <a:normAutofit/>
          </a:bodyPr>
          <a:lstStyle/>
          <a:p>
            <a:pPr indent="-273050" lvl="0" marL="273050" marR="0" rtl="0" algn="l">
              <a:lnSpc>
                <a:spcPct val="80000"/>
              </a:lnSpc>
              <a:spcBef>
                <a:spcPts val="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#include&lt;stdio.h&gt;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#include&lt;conio.h&gt;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#define MAXSIZE 10</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void push();</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int pop();</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void traverse();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int stack[MAXSIZE];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int Top=-1;</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void main()</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int choice;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char ch;</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do</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a:t>
            </a:r>
            <a:endParaRPr/>
          </a:p>
          <a:p>
            <a:pPr indent="-273050" lvl="0" marL="273050" marR="0" rtl="0" algn="l">
              <a:lnSpc>
                <a:spcPct val="80000"/>
              </a:lnSpc>
              <a:spcBef>
                <a:spcPts val="140"/>
              </a:spcBef>
              <a:spcAft>
                <a:spcPts val="0"/>
              </a:spcAft>
              <a:buClr>
                <a:schemeClr val="accent3"/>
              </a:buClr>
              <a:buSzPts val="665"/>
              <a:buFont typeface="Noto Sans Symbols"/>
              <a:buNone/>
            </a:pPr>
            <a:r>
              <a:t/>
            </a:r>
            <a:endParaRPr b="0" i="0" sz="700" u="none" cap="none" strike="noStrike">
              <a:solidFill>
                <a:schemeClr val="dk1"/>
              </a:solidFill>
              <a:latin typeface="Constantia"/>
              <a:ea typeface="Constantia"/>
              <a:cs typeface="Constantia"/>
              <a:sym typeface="Constantia"/>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printf("\n1. PUSH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printf("\n2. POP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printf("\n3. TRAVERSE ");</a:t>
            </a:r>
            <a:endParaRPr/>
          </a:p>
          <a:p>
            <a:pPr indent="-273050" lvl="0" marL="273050" marR="0" rtl="0" algn="l">
              <a:lnSpc>
                <a:spcPct val="80000"/>
              </a:lnSpc>
              <a:spcBef>
                <a:spcPts val="140"/>
              </a:spcBef>
              <a:spcAft>
                <a:spcPts val="0"/>
              </a:spcAft>
              <a:buClr>
                <a:schemeClr val="accent3"/>
              </a:buClr>
              <a:buSzPts val="665"/>
              <a:buFont typeface="Noto Sans Symbols"/>
              <a:buNone/>
            </a:pPr>
            <a:r>
              <a:t/>
            </a:r>
            <a:endParaRPr b="0" i="0" sz="700" u="none" cap="none" strike="noStrike">
              <a:solidFill>
                <a:schemeClr val="dk1"/>
              </a:solidFill>
              <a:latin typeface="Constantia"/>
              <a:ea typeface="Constantia"/>
              <a:cs typeface="Constantia"/>
              <a:sym typeface="Constantia"/>
            </a:endParaRPr>
          </a:p>
          <a:p>
            <a:pPr indent="-273050" lvl="0" marL="273050" marR="0" rtl="0" algn="l">
              <a:lnSpc>
                <a:spcPct val="80000"/>
              </a:lnSpc>
              <a:spcBef>
                <a:spcPts val="140"/>
              </a:spcBef>
              <a:spcAft>
                <a:spcPts val="0"/>
              </a:spcAft>
              <a:buClr>
                <a:schemeClr val="accent3"/>
              </a:buClr>
              <a:buSzPts val="665"/>
              <a:buFont typeface="Noto Sans Symbols"/>
              <a:buNone/>
            </a:pPr>
            <a:r>
              <a:t/>
            </a:r>
            <a:endParaRPr b="0" i="0" sz="700" u="none" cap="none" strike="noStrike">
              <a:solidFill>
                <a:schemeClr val="dk1"/>
              </a:solidFill>
              <a:latin typeface="Constantia"/>
              <a:ea typeface="Constantia"/>
              <a:cs typeface="Constantia"/>
              <a:sym typeface="Constantia"/>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printf("\nEnter your choice: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scanf("%d",&amp;choice);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switch(choice)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case 1:  push();</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break;</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case 2:  printf("\nThe deleted element is %d",pop());</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break;</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case 3:  traverse();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break;</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default: printf("\nYou Entered Wrong Choice");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printf("\nDo You Wish To Continue (Y/N)");</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//fflush(stdin);</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scanf("%s",&amp;ch);</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while(ch=='Y' || ch=='y');</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a:t>
            </a:r>
            <a:endParaRPr/>
          </a:p>
          <a:p>
            <a:pPr indent="-273050" lvl="0" marL="273050" marR="0" rtl="0" algn="l">
              <a:lnSpc>
                <a:spcPct val="80000"/>
              </a:lnSpc>
              <a:spcBef>
                <a:spcPts val="140"/>
              </a:spcBef>
              <a:spcAft>
                <a:spcPts val="0"/>
              </a:spcAft>
              <a:buClr>
                <a:schemeClr val="accent3"/>
              </a:buClr>
              <a:buSzPts val="665"/>
              <a:buFont typeface="Noto Sans Symbols"/>
              <a:buNone/>
            </a:pPr>
            <a:r>
              <a:t/>
            </a:r>
            <a:endParaRPr b="0" i="0" sz="700" u="none" cap="none" strike="noStrike">
              <a:solidFill>
                <a:schemeClr val="dk1"/>
              </a:solidFill>
              <a:latin typeface="Constantia"/>
              <a:ea typeface="Constantia"/>
              <a:cs typeface="Constantia"/>
              <a:sym typeface="Constantia"/>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void push()</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int item;</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if(Top == MAXSIZE - 1)</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printf("\nThe Stack Is Full");</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getch();</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else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printf("Enter the element to be inserted: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scanf("%d",&amp;item);</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Top= Top+1;</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stack[Top] = item;</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cap="none" strike="noStrike">
                <a:solidFill>
                  <a:schemeClr val="dk1"/>
                </a:solidFill>
                <a:latin typeface="Constantia"/>
                <a:ea typeface="Constantia"/>
                <a:cs typeface="Constantia"/>
                <a:sym typeface="Constantia"/>
              </a:rPr>
              <a:t>}</a:t>
            </a:r>
            <a:endParaRPr/>
          </a:p>
          <a:p>
            <a:pPr indent="-273050" lvl="0" marL="273050" marR="0" rtl="0" algn="l">
              <a:lnSpc>
                <a:spcPct val="80000"/>
              </a:lnSpc>
              <a:spcBef>
                <a:spcPts val="220"/>
              </a:spcBef>
              <a:spcAft>
                <a:spcPts val="0"/>
              </a:spcAft>
              <a:buClr>
                <a:schemeClr val="accent3"/>
              </a:buClr>
              <a:buSzPts val="1045"/>
              <a:buFont typeface="Noto Sans Symbols"/>
              <a:buNone/>
            </a:pPr>
            <a:r>
              <a:t/>
            </a:r>
            <a:endParaRPr b="0" i="0" sz="1100" u="none" cap="none" strike="noStrike">
              <a:solidFill>
                <a:schemeClr val="dk1"/>
              </a:solidFill>
              <a:latin typeface="Constantia"/>
              <a:ea typeface="Constantia"/>
              <a:cs typeface="Constantia"/>
              <a:sym typeface="Constantia"/>
            </a:endParaRPr>
          </a:p>
          <a:p>
            <a:pPr indent="-207962" lvl="0" marL="274320" marR="0" rtl="0" algn="l">
              <a:spcBef>
                <a:spcPts val="220"/>
              </a:spcBef>
              <a:spcAft>
                <a:spcPts val="0"/>
              </a:spcAft>
              <a:buClr>
                <a:schemeClr val="accent3"/>
              </a:buClr>
              <a:buSzPts val="1045"/>
              <a:buFont typeface="Noto Sans Symbols"/>
              <a:buNone/>
            </a:pPr>
            <a:r>
              <a:t/>
            </a:r>
            <a:endParaRPr b="0" i="0" sz="1100" u="none">
              <a:solidFill>
                <a:schemeClr val="dk1"/>
              </a:solidFill>
              <a:latin typeface="Constantia"/>
              <a:ea typeface="Constantia"/>
              <a:cs typeface="Constantia"/>
              <a:sym typeface="Constantia"/>
            </a:endParaRPr>
          </a:p>
        </p:txBody>
      </p:sp>
      <p:sp>
        <p:nvSpPr>
          <p:cNvPr id="212" name="Google Shape;212;p24"/>
          <p:cNvSpPr txBox="1"/>
          <p:nvPr/>
        </p:nvSpPr>
        <p:spPr>
          <a:xfrm>
            <a:off x="4343400" y="808037"/>
            <a:ext cx="4114800" cy="5908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700"/>
              <a:buFont typeface="Constantia"/>
              <a:buNone/>
            </a:pPr>
            <a:r>
              <a:t/>
            </a:r>
            <a:endParaRPr b="0" i="0" sz="7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void push()</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int item;</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if(Top == MAXSIZE - 1)</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printf("\nThe Stack Is Full");</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getch();</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else</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printf("Enter the element to be inserted: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scanf("%d",&amp;item);</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Top= Top+1;</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stack[Top] = item;</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t/>
            </a:r>
            <a:endParaRPr b="0" i="0" sz="7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int pop()</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int item;</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if(Top == -1)</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printf("The stack is Empty");</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getch();</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else</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item = stack[Top];</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Top = Top-1;</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return(item);</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t/>
            </a:r>
            <a:endParaRPr b="0" i="0" sz="7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void traverse()</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int i;</a:t>
            </a:r>
            <a:endParaRPr/>
          </a:p>
          <a:p>
            <a:pPr indent="0" lvl="0" marL="0" marR="0" rtl="0" algn="l">
              <a:lnSpc>
                <a:spcPct val="100000"/>
              </a:lnSpc>
              <a:spcBef>
                <a:spcPts val="0"/>
              </a:spcBef>
              <a:spcAft>
                <a:spcPts val="0"/>
              </a:spcAft>
              <a:buClr>
                <a:schemeClr val="dk1"/>
              </a:buClr>
              <a:buSzPts val="700"/>
              <a:buFont typeface="Constantia"/>
              <a:buNone/>
            </a:pPr>
            <a:r>
              <a:t/>
            </a:r>
            <a:endParaRPr b="0" i="0" sz="7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700"/>
              <a:buFont typeface="Constantia"/>
              <a:buNone/>
            </a:pPr>
            <a:r>
              <a:t/>
            </a:r>
            <a:endParaRPr b="0" i="0" sz="7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if(Top == -1)</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printf("The Stack is Empty");</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getch();</a:t>
            </a:r>
            <a:endParaRPr/>
          </a:p>
          <a:p>
            <a:pPr indent="0" lvl="0" marL="0" marR="0" rtl="0" algn="l">
              <a:lnSpc>
                <a:spcPct val="100000"/>
              </a:lnSpc>
              <a:spcBef>
                <a:spcPts val="0"/>
              </a:spcBef>
              <a:spcAft>
                <a:spcPts val="0"/>
              </a:spcAft>
              <a:buClr>
                <a:schemeClr val="dk1"/>
              </a:buClr>
              <a:buSzPts val="700"/>
              <a:buFont typeface="Constantia"/>
              <a:buNone/>
            </a:pPr>
            <a:r>
              <a:t/>
            </a:r>
            <a:endParaRPr b="0" i="0" sz="7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else</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for(i=Top;i&gt;=0;i--)</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printf("\n%d",stack[i]);</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None/>
            </a:pPr>
            <a:r>
              <a:t/>
            </a:r>
            <a:endParaRPr b="0" i="0" sz="700" u="none">
              <a:solidFill>
                <a:schemeClr val="dk1"/>
              </a:solidFill>
              <a:latin typeface="Constantia"/>
              <a:ea typeface="Constantia"/>
              <a:cs typeface="Constantia"/>
              <a:sym typeface="Constant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457200" y="152400"/>
            <a:ext cx="8229600" cy="36195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3200"/>
              <a:buFont typeface="Calibri"/>
              <a:buNone/>
            </a:pPr>
            <a:r>
              <a:rPr b="0" i="0" lang="en-US" sz="3200" u="none">
                <a:solidFill>
                  <a:schemeClr val="dk2"/>
                </a:solidFill>
                <a:latin typeface="Calibri"/>
                <a:ea typeface="Calibri"/>
                <a:cs typeface="Calibri"/>
                <a:sym typeface="Calibri"/>
              </a:rPr>
              <a:t>Stack linked list implementation</a:t>
            </a:r>
            <a:endParaRPr/>
          </a:p>
        </p:txBody>
      </p:sp>
      <p:sp>
        <p:nvSpPr>
          <p:cNvPr id="218" name="Google Shape;218;p25"/>
          <p:cNvSpPr txBox="1"/>
          <p:nvPr>
            <p:ph idx="1" type="body"/>
          </p:nvPr>
        </p:nvSpPr>
        <p:spPr>
          <a:xfrm>
            <a:off x="457200" y="685800"/>
            <a:ext cx="4038600" cy="4389437"/>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#include &lt;stdio.h&gt;</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#include &lt;stdlib.h&gt;</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typedef struct node {</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int data;</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struct node *link;</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NODE;</a:t>
            </a:r>
            <a:endParaRPr/>
          </a:p>
          <a:p>
            <a:pPr indent="-273050" lvl="0" marL="273050" marR="0" rtl="0" algn="l">
              <a:lnSpc>
                <a:spcPct val="100000"/>
              </a:lnSpc>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void Push(int);</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int pop();</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void Display();</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NODE *top = NULL; /* Global Declarations */</a:t>
            </a:r>
            <a:endParaRPr/>
          </a:p>
          <a:p>
            <a:pPr indent="-273050" lvl="0" marL="273050" marR="0" rtl="0" algn="l">
              <a:lnSpc>
                <a:spcPct val="100000"/>
              </a:lnSpc>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main() {</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 Main Program */</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int opn, elem;</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do {</a:t>
            </a:r>
            <a:endParaRPr/>
          </a:p>
          <a:p>
            <a:pPr indent="-273050" lvl="0" marL="273050" marR="0" rtl="0" algn="l">
              <a:lnSpc>
                <a:spcPct val="100000"/>
              </a:lnSpc>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 ### Linked List Implementation of STACK Operations ### \n\n");</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 Press 1-Push, 2-Pop, 3-Display,4-Exit\n");</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 Your option ? ");</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scanf("%d", &amp;opn);</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switch (opn) {</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case 1:</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printf("\n\nRead the Element to be pushed ?");</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scanf("%d", &amp;elem);</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Push(elem);</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break;</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case 2:</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elem = Pop();</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if (elem != -1)</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 Deleted Node(From Top)with the Data: %d\n", elem);</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break;</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case 3:</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printf("Linked List Implementation of Stack: Status:\n");</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Display();</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break;</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case 4:</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printf("\n\n Terminating \n\n");</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break;</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default:</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printf("\n\nInvalid Option !!! Try Again !! \n\n");</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break;</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printf("\n\n\n\n  Press a Key to Continue . . . ");</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getch();</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 while (opn != 4);</a:t>
            </a:r>
            <a:endParaRPr/>
          </a:p>
          <a:p>
            <a:pPr indent="-273050" lvl="0" marL="273050" marR="0" rtl="0" algn="l">
              <a:lnSpc>
                <a:spcPct val="10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a:t>
            </a:r>
            <a:endParaRPr/>
          </a:p>
          <a:p>
            <a:pPr indent="-232092" lvl="0" marL="274320" marR="0" rtl="0" algn="l">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p:txBody>
      </p:sp>
      <p:sp>
        <p:nvSpPr>
          <p:cNvPr id="219" name="Google Shape;219;p25"/>
          <p:cNvSpPr txBox="1"/>
          <p:nvPr/>
        </p:nvSpPr>
        <p:spPr>
          <a:xfrm>
            <a:off x="4800600" y="685800"/>
            <a:ext cx="3505200" cy="5632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void Push(int info)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NODE *temp;</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temp = (NODE *) malloc(sizeof(NODE));</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if (temp == NULL)</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printf(" Out of Memory !! Overflow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else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temp-&gt;data = info;</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temp-&gt;link = top;</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top = temp;</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printf(" Node has been inserted at Top(Front) Successfully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800"/>
              <a:buFont typeface="Constantia"/>
              <a:buNone/>
            </a:pPr>
            <a:r>
              <a:t/>
            </a:r>
            <a:endParaRPr b="0" i="0" sz="8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int Pop()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int info;</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NODE *t;</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if (top == NULL)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printf(" Underflow!!!");</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return -1;</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 else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t = top;</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info = top-&gt;data;</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top = top-&gt;link;</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t-&gt;link = NULL;</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free(t);</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return (info);</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800"/>
              <a:buFont typeface="Constantia"/>
              <a:buNone/>
            </a:pPr>
            <a:r>
              <a:t/>
            </a:r>
            <a:endParaRPr b="0" i="0" sz="8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void Display()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NODE *t;</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if (top == NULL)</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printf("Empty Stack\n");</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else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t = top;</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printf("Top-&gt;");</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while (t)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printf("[%d]-&gt;", t-&gt;data);</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t = t-&gt;link;</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printf("Null\n");</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800"/>
              <a:buFont typeface="Constantia"/>
              <a:buNone/>
            </a:pPr>
            <a:r>
              <a:t/>
            </a:r>
            <a:endParaRPr b="0" i="0" sz="8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None/>
            </a:pPr>
            <a:r>
              <a:t/>
            </a:r>
            <a:endParaRPr b="0" i="0" sz="800" u="none">
              <a:solidFill>
                <a:schemeClr val="dk1"/>
              </a:solidFill>
              <a:latin typeface="Constantia"/>
              <a:ea typeface="Constantia"/>
              <a:cs typeface="Constantia"/>
              <a:sym typeface="Constant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6"/>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12.</a:t>
            </a: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226" name="Google Shape;226;p26"/>
          <p:cNvSpPr txBox="1"/>
          <p:nvPr/>
        </p:nvSpPr>
        <p:spPr>
          <a:xfrm>
            <a:off x="0" y="533400"/>
            <a:ext cx="3557587"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Times New Roman"/>
              <a:buNone/>
            </a:pPr>
            <a:r>
              <a:rPr b="0" i="0" lang="en-US" sz="3600" u="none">
                <a:solidFill>
                  <a:schemeClr val="dk1"/>
                </a:solidFill>
                <a:latin typeface="Times New Roman"/>
                <a:ea typeface="Times New Roman"/>
                <a:cs typeface="Times New Roman"/>
                <a:sym typeface="Times New Roman"/>
              </a:rPr>
              <a:t>Stack applications</a:t>
            </a:r>
            <a:endParaRPr/>
          </a:p>
        </p:txBody>
      </p:sp>
      <p:sp>
        <p:nvSpPr>
          <p:cNvPr id="227" name="Google Shape;227;p26"/>
          <p:cNvSpPr txBox="1"/>
          <p:nvPr/>
        </p:nvSpPr>
        <p:spPr>
          <a:xfrm>
            <a:off x="0" y="1295400"/>
            <a:ext cx="8915400" cy="1384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Stack applications can be classified into four broad categories: </a:t>
            </a:r>
            <a:r>
              <a:rPr b="0" i="1" lang="en-US" sz="2800" u="none">
                <a:solidFill>
                  <a:schemeClr val="dk1"/>
                </a:solidFill>
                <a:latin typeface="Times New Roman"/>
                <a:ea typeface="Times New Roman"/>
                <a:cs typeface="Times New Roman"/>
                <a:sym typeface="Times New Roman"/>
              </a:rPr>
              <a:t>reversing data</a:t>
            </a:r>
            <a:r>
              <a:rPr b="0" i="0" lang="en-US" sz="2800" u="none">
                <a:solidFill>
                  <a:schemeClr val="dk1"/>
                </a:solidFill>
                <a:latin typeface="Times New Roman"/>
                <a:ea typeface="Times New Roman"/>
                <a:cs typeface="Times New Roman"/>
                <a:sym typeface="Times New Roman"/>
              </a:rPr>
              <a:t>, </a:t>
            </a:r>
            <a:r>
              <a:rPr b="0" i="1" lang="en-US" sz="2800" u="none">
                <a:solidFill>
                  <a:schemeClr val="dk1"/>
                </a:solidFill>
                <a:latin typeface="Times New Roman"/>
                <a:ea typeface="Times New Roman"/>
                <a:cs typeface="Times New Roman"/>
                <a:sym typeface="Times New Roman"/>
              </a:rPr>
              <a:t>pairing data </a:t>
            </a:r>
            <a:r>
              <a:rPr b="0" i="0" lang="en-US" sz="2800" u="none">
                <a:solidFill>
                  <a:schemeClr val="dk1"/>
                </a:solidFill>
                <a:latin typeface="Times New Roman"/>
                <a:ea typeface="Times New Roman"/>
                <a:cs typeface="Times New Roman"/>
                <a:sym typeface="Times New Roman"/>
              </a:rPr>
              <a:t>and</a:t>
            </a:r>
            <a:r>
              <a:rPr b="0" i="1" lang="en-US" sz="2800" u="none">
                <a:solidFill>
                  <a:schemeClr val="dk1"/>
                </a:solidFill>
                <a:latin typeface="Times New Roman"/>
                <a:ea typeface="Times New Roman"/>
                <a:cs typeface="Times New Roman"/>
                <a:sym typeface="Times New Roman"/>
              </a:rPr>
              <a:t> infix and postfix operations</a:t>
            </a:r>
            <a:endParaRPr/>
          </a:p>
        </p:txBody>
      </p:sp>
      <p:sp>
        <p:nvSpPr>
          <p:cNvPr id="228" name="Google Shape;228;p26"/>
          <p:cNvSpPr txBox="1"/>
          <p:nvPr/>
        </p:nvSpPr>
        <p:spPr>
          <a:xfrm>
            <a:off x="76200" y="3352800"/>
            <a:ext cx="3363912"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2800"/>
              <a:buFont typeface="Times New Roman"/>
              <a:buNone/>
            </a:pPr>
            <a:r>
              <a:rPr b="0" i="0" lang="en-US" sz="2800" u="none">
                <a:solidFill>
                  <a:srgbClr val="660066"/>
                </a:solidFill>
                <a:latin typeface="Times New Roman"/>
                <a:ea typeface="Times New Roman"/>
                <a:cs typeface="Times New Roman"/>
                <a:sym typeface="Times New Roman"/>
              </a:rPr>
              <a:t>Reversing data items</a:t>
            </a:r>
            <a:endParaRPr/>
          </a:p>
        </p:txBody>
      </p:sp>
      <p:sp>
        <p:nvSpPr>
          <p:cNvPr id="229" name="Google Shape;229;p26"/>
          <p:cNvSpPr txBox="1"/>
          <p:nvPr/>
        </p:nvSpPr>
        <p:spPr>
          <a:xfrm>
            <a:off x="76200" y="3838575"/>
            <a:ext cx="8915400" cy="22272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Reversing data items requires that a given set of data items be reordered so that the first and last items are exchanged, with all of the positions between the first and last also being relatively exchanged. For example, the list (2, 4, 7, 1, 6, 8) becomes (8, 6, 1, 7, 4, 2).</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7"/>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12.</a:t>
            </a: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236" name="Google Shape;236;p27"/>
          <p:cNvSpPr txBox="1"/>
          <p:nvPr/>
        </p:nvSpPr>
        <p:spPr>
          <a:xfrm>
            <a:off x="76200" y="152400"/>
            <a:ext cx="42672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2800"/>
              <a:buFont typeface="Times New Roman"/>
              <a:buNone/>
            </a:pPr>
            <a:r>
              <a:rPr b="0" i="0" lang="en-US" sz="2800" u="none">
                <a:solidFill>
                  <a:srgbClr val="660066"/>
                </a:solidFill>
                <a:latin typeface="Times New Roman"/>
                <a:ea typeface="Times New Roman"/>
                <a:cs typeface="Times New Roman"/>
                <a:sym typeface="Times New Roman"/>
              </a:rPr>
              <a:t>Pairing data items</a:t>
            </a:r>
            <a:endParaRPr/>
          </a:p>
        </p:txBody>
      </p:sp>
      <p:sp>
        <p:nvSpPr>
          <p:cNvPr id="237" name="Google Shape;237;p27"/>
          <p:cNvSpPr txBox="1"/>
          <p:nvPr/>
        </p:nvSpPr>
        <p:spPr>
          <a:xfrm>
            <a:off x="76200" y="698500"/>
            <a:ext cx="8915400" cy="2654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We often need to pair some characters in an expression. For example, when we write a mathematical expression in a computer language, we often need to use parentheses to change the precedence of operators. The following two expressions are evaluated differently because of the parentheses in the second expression:</a:t>
            </a:r>
            <a:endParaRPr/>
          </a:p>
        </p:txBody>
      </p:sp>
      <p:pic>
        <p:nvPicPr>
          <p:cNvPr id="238" name="Google Shape;238;p27"/>
          <p:cNvPicPr preferRelativeResize="0"/>
          <p:nvPr/>
        </p:nvPicPr>
        <p:blipFill rotWithShape="1">
          <a:blip r:embed="rId3">
            <a:alphaModFix/>
          </a:blip>
          <a:srcRect b="0" l="0" r="0" t="0"/>
          <a:stretch/>
        </p:blipFill>
        <p:spPr>
          <a:xfrm>
            <a:off x="579437" y="3352800"/>
            <a:ext cx="7983537" cy="936625"/>
          </a:xfrm>
          <a:prstGeom prst="rect">
            <a:avLst/>
          </a:prstGeom>
          <a:noFill/>
          <a:ln>
            <a:noFill/>
          </a:ln>
        </p:spPr>
      </p:pic>
      <p:sp>
        <p:nvSpPr>
          <p:cNvPr id="239" name="Google Shape;239;p27"/>
          <p:cNvSpPr txBox="1"/>
          <p:nvPr/>
        </p:nvSpPr>
        <p:spPr>
          <a:xfrm>
            <a:off x="152400" y="4325937"/>
            <a:ext cx="8915400" cy="22272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When we type an expression with a lot of parentheses, we often forget to pair the parentheses. One of the duties of a compiler is to do the checking for us. The compiler uses a stack to check that all opening parentheses are paired with a closing parentheses.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8"/>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12.</a:t>
            </a: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246" name="Google Shape;246;p28"/>
          <p:cNvSpPr txBox="1"/>
          <p:nvPr/>
        </p:nvSpPr>
        <p:spPr>
          <a:xfrm>
            <a:off x="2651125" y="6248400"/>
            <a:ext cx="42799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0" i="0" lang="en-US" sz="2400" u="none">
                <a:solidFill>
                  <a:schemeClr val="folHlink"/>
                </a:solidFill>
                <a:latin typeface="Times New Roman"/>
                <a:ea typeface="Times New Roman"/>
                <a:cs typeface="Times New Roman"/>
                <a:sym typeface="Times New Roman"/>
              </a:rPr>
              <a:t>Figure 12.7  </a:t>
            </a:r>
            <a:r>
              <a:rPr b="0" i="0" lang="en-US" sz="2000" u="none">
                <a:solidFill>
                  <a:schemeClr val="dk1"/>
                </a:solidFill>
                <a:latin typeface="Times New Roman"/>
                <a:ea typeface="Times New Roman"/>
                <a:cs typeface="Times New Roman"/>
                <a:sym typeface="Times New Roman"/>
              </a:rPr>
              <a:t>Stack implementations</a:t>
            </a:r>
            <a:endParaRPr/>
          </a:p>
        </p:txBody>
      </p:sp>
      <p:pic>
        <p:nvPicPr>
          <p:cNvPr id="247" name="Google Shape;247;p28"/>
          <p:cNvPicPr preferRelativeResize="0"/>
          <p:nvPr/>
        </p:nvPicPr>
        <p:blipFill rotWithShape="1">
          <a:blip r:embed="rId3">
            <a:alphaModFix/>
          </a:blip>
          <a:srcRect b="0" l="0" r="0" t="0"/>
          <a:stretch/>
        </p:blipFill>
        <p:spPr>
          <a:xfrm>
            <a:off x="311150" y="1876425"/>
            <a:ext cx="8528050" cy="2771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9"/>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12.</a:t>
            </a: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254" name="Google Shape;254;p29"/>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onstantia"/>
              <a:ea typeface="Constantia"/>
              <a:cs typeface="Constantia"/>
              <a:sym typeface="Constantia"/>
            </a:endParaRPr>
          </a:p>
        </p:txBody>
      </p:sp>
      <p:sp>
        <p:nvSpPr>
          <p:cNvPr id="255" name="Google Shape;255;p29"/>
          <p:cNvSpPr txBox="1"/>
          <p:nvPr/>
        </p:nvSpPr>
        <p:spPr>
          <a:xfrm>
            <a:off x="228600" y="406400"/>
            <a:ext cx="2354262" cy="8620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QUEUES</a:t>
            </a:r>
            <a:endParaRPr/>
          </a:p>
        </p:txBody>
      </p:sp>
      <p:sp>
        <p:nvSpPr>
          <p:cNvPr id="256" name="Google Shape;256;p29"/>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onstantia"/>
              <a:ea typeface="Constantia"/>
              <a:cs typeface="Constantia"/>
              <a:sym typeface="Constantia"/>
            </a:endParaRPr>
          </a:p>
        </p:txBody>
      </p:sp>
      <p:sp>
        <p:nvSpPr>
          <p:cNvPr id="257" name="Google Shape;257;p29"/>
          <p:cNvSpPr txBox="1"/>
          <p:nvPr/>
        </p:nvSpPr>
        <p:spPr>
          <a:xfrm>
            <a:off x="228600" y="1447800"/>
            <a:ext cx="8229600" cy="26543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A queue is a linear list in which data can only be inserted at one end, called the </a:t>
            </a:r>
            <a:r>
              <a:rPr b="0" i="1" lang="en-US" sz="2800" u="none">
                <a:solidFill>
                  <a:schemeClr val="dk1"/>
                </a:solidFill>
                <a:latin typeface="Times New Roman"/>
                <a:ea typeface="Times New Roman"/>
                <a:cs typeface="Times New Roman"/>
                <a:sym typeface="Times New Roman"/>
              </a:rPr>
              <a:t>rear</a:t>
            </a:r>
            <a:r>
              <a:rPr b="0" i="0" lang="en-US" sz="2800" u="none">
                <a:solidFill>
                  <a:schemeClr val="dk1"/>
                </a:solidFill>
                <a:latin typeface="Times New Roman"/>
                <a:ea typeface="Times New Roman"/>
                <a:cs typeface="Times New Roman"/>
                <a:sym typeface="Times New Roman"/>
              </a:rPr>
              <a:t>, and deleted from the other end, called the </a:t>
            </a:r>
            <a:r>
              <a:rPr b="0" i="1" lang="en-US" sz="2800" u="none">
                <a:solidFill>
                  <a:schemeClr val="dk1"/>
                </a:solidFill>
                <a:latin typeface="Times New Roman"/>
                <a:ea typeface="Times New Roman"/>
                <a:cs typeface="Times New Roman"/>
                <a:sym typeface="Times New Roman"/>
              </a:rPr>
              <a:t>front</a:t>
            </a:r>
            <a:r>
              <a:rPr b="0" i="0" lang="en-US" sz="2800" u="none">
                <a:solidFill>
                  <a:schemeClr val="dk1"/>
                </a:solidFill>
                <a:latin typeface="Times New Roman"/>
                <a:ea typeface="Times New Roman"/>
                <a:cs typeface="Times New Roman"/>
                <a:sym typeface="Times New Roman"/>
              </a:rPr>
              <a:t>. These restrictions ensure that the data is processed through the queue in the order in which it is received. In other words, a queue is a first in, first out (FIFO) structure.</a:t>
            </a:r>
            <a:endParaRPr/>
          </a:p>
        </p:txBody>
      </p:sp>
      <p:sp>
        <p:nvSpPr>
          <p:cNvPr id="258" name="Google Shape;258;p29"/>
          <p:cNvSpPr txBox="1"/>
          <p:nvPr/>
        </p:nvSpPr>
        <p:spPr>
          <a:xfrm>
            <a:off x="1917700" y="6248400"/>
            <a:ext cx="50165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0" i="0" lang="en-US" sz="2400" u="none">
                <a:solidFill>
                  <a:schemeClr val="folHlink"/>
                </a:solidFill>
                <a:latin typeface="Times New Roman"/>
                <a:ea typeface="Times New Roman"/>
                <a:cs typeface="Times New Roman"/>
                <a:sym typeface="Times New Roman"/>
              </a:rPr>
              <a:t>Figure 12.8  </a:t>
            </a:r>
            <a:r>
              <a:rPr b="0" i="0" lang="en-US" sz="2000" u="none">
                <a:solidFill>
                  <a:schemeClr val="dk1"/>
                </a:solidFill>
                <a:latin typeface="Times New Roman"/>
                <a:ea typeface="Times New Roman"/>
                <a:cs typeface="Times New Roman"/>
                <a:sym typeface="Times New Roman"/>
              </a:rPr>
              <a:t>Two representation of queues</a:t>
            </a:r>
            <a:endParaRPr/>
          </a:p>
        </p:txBody>
      </p:sp>
      <p:pic>
        <p:nvPicPr>
          <p:cNvPr id="259" name="Google Shape;259;p29"/>
          <p:cNvPicPr preferRelativeResize="0"/>
          <p:nvPr/>
        </p:nvPicPr>
        <p:blipFill rotWithShape="1">
          <a:blip r:embed="rId3">
            <a:alphaModFix/>
          </a:blip>
          <a:srcRect b="0" l="0" r="0" t="0"/>
          <a:stretch/>
        </p:blipFill>
        <p:spPr>
          <a:xfrm>
            <a:off x="603250" y="4506912"/>
            <a:ext cx="8235950" cy="158908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0"/>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12.</a:t>
            </a: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266" name="Google Shape;266;p30"/>
          <p:cNvSpPr txBox="1"/>
          <p:nvPr/>
        </p:nvSpPr>
        <p:spPr>
          <a:xfrm>
            <a:off x="0" y="0"/>
            <a:ext cx="39544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1800"/>
              <a:buFont typeface="Times New Roman"/>
              <a:buNone/>
            </a:pPr>
            <a:r>
              <a:rPr b="0" i="0" lang="en-US" sz="1800" u="none">
                <a:solidFill>
                  <a:schemeClr val="hlink"/>
                </a:solidFill>
                <a:latin typeface="Times New Roman"/>
                <a:ea typeface="Times New Roman"/>
                <a:cs typeface="Times New Roman"/>
                <a:sym typeface="Times New Roman"/>
              </a:rPr>
              <a:t>Operations on queues</a:t>
            </a:r>
            <a:endParaRPr/>
          </a:p>
        </p:txBody>
      </p:sp>
      <p:sp>
        <p:nvSpPr>
          <p:cNvPr id="267" name="Google Shape;267;p30"/>
          <p:cNvSpPr txBox="1"/>
          <p:nvPr/>
        </p:nvSpPr>
        <p:spPr>
          <a:xfrm>
            <a:off x="76200" y="533400"/>
            <a:ext cx="8915400" cy="13731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Although we can define many operations for a queue, four are basic: queue, enqueue, dequeue and empty, as defined below.</a:t>
            </a:r>
            <a:endParaRPr/>
          </a:p>
        </p:txBody>
      </p:sp>
      <p:sp>
        <p:nvSpPr>
          <p:cNvPr id="268" name="Google Shape;268;p30"/>
          <p:cNvSpPr txBox="1"/>
          <p:nvPr/>
        </p:nvSpPr>
        <p:spPr>
          <a:xfrm>
            <a:off x="76200" y="1828800"/>
            <a:ext cx="330517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2800"/>
              <a:buFont typeface="Times New Roman"/>
              <a:buNone/>
            </a:pPr>
            <a:r>
              <a:rPr b="0" i="0" lang="en-US" sz="2800" u="none">
                <a:solidFill>
                  <a:srgbClr val="660066"/>
                </a:solidFill>
                <a:latin typeface="Times New Roman"/>
                <a:ea typeface="Times New Roman"/>
                <a:cs typeface="Times New Roman"/>
                <a:sym typeface="Times New Roman"/>
              </a:rPr>
              <a:t>The </a:t>
            </a:r>
            <a:r>
              <a:rPr b="0" i="1" lang="en-US" sz="2800" u="none">
                <a:solidFill>
                  <a:srgbClr val="660066"/>
                </a:solidFill>
                <a:latin typeface="Times New Roman"/>
                <a:ea typeface="Times New Roman"/>
                <a:cs typeface="Times New Roman"/>
                <a:sym typeface="Times New Roman"/>
              </a:rPr>
              <a:t>queue</a:t>
            </a:r>
            <a:r>
              <a:rPr b="0" i="0" lang="en-US" sz="2800" u="none">
                <a:solidFill>
                  <a:srgbClr val="660066"/>
                </a:solidFill>
                <a:latin typeface="Times New Roman"/>
                <a:ea typeface="Times New Roman"/>
                <a:cs typeface="Times New Roman"/>
                <a:sym typeface="Times New Roman"/>
              </a:rPr>
              <a:t> operation</a:t>
            </a:r>
            <a:endParaRPr/>
          </a:p>
        </p:txBody>
      </p:sp>
      <p:sp>
        <p:nvSpPr>
          <p:cNvPr id="269" name="Google Shape;269;p30"/>
          <p:cNvSpPr txBox="1"/>
          <p:nvPr/>
        </p:nvSpPr>
        <p:spPr>
          <a:xfrm>
            <a:off x="76200" y="2438400"/>
            <a:ext cx="8915400" cy="9461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queue operation creates an empty queue. The following shows the format.</a:t>
            </a:r>
            <a:endParaRPr/>
          </a:p>
        </p:txBody>
      </p:sp>
      <p:sp>
        <p:nvSpPr>
          <p:cNvPr id="270" name="Google Shape;270;p30"/>
          <p:cNvSpPr txBox="1"/>
          <p:nvPr/>
        </p:nvSpPr>
        <p:spPr>
          <a:xfrm>
            <a:off x="2362200" y="6248400"/>
            <a:ext cx="40513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0" i="0" lang="en-US" sz="2400" u="none">
                <a:solidFill>
                  <a:schemeClr val="folHlink"/>
                </a:solidFill>
                <a:latin typeface="Times New Roman"/>
                <a:ea typeface="Times New Roman"/>
                <a:cs typeface="Times New Roman"/>
                <a:sym typeface="Times New Roman"/>
              </a:rPr>
              <a:t>Figure 12.9  </a:t>
            </a:r>
            <a:r>
              <a:rPr b="0" i="0" lang="en-US" sz="2000" u="none">
                <a:solidFill>
                  <a:schemeClr val="dk1"/>
                </a:solidFill>
                <a:latin typeface="Times New Roman"/>
                <a:ea typeface="Times New Roman"/>
                <a:cs typeface="Times New Roman"/>
                <a:sym typeface="Times New Roman"/>
              </a:rPr>
              <a:t>The queue operation</a:t>
            </a:r>
            <a:endParaRPr/>
          </a:p>
        </p:txBody>
      </p:sp>
      <p:pic>
        <p:nvPicPr>
          <p:cNvPr id="271" name="Google Shape;271;p30"/>
          <p:cNvPicPr preferRelativeResize="0"/>
          <p:nvPr/>
        </p:nvPicPr>
        <p:blipFill rotWithShape="1">
          <a:blip r:embed="rId3">
            <a:alphaModFix/>
          </a:blip>
          <a:srcRect b="0" l="0" r="0" t="0"/>
          <a:stretch/>
        </p:blipFill>
        <p:spPr>
          <a:xfrm>
            <a:off x="2811462" y="3667125"/>
            <a:ext cx="2468562" cy="600075"/>
          </a:xfrm>
          <a:prstGeom prst="rect">
            <a:avLst/>
          </a:prstGeom>
          <a:noFill/>
          <a:ln>
            <a:noFill/>
          </a:ln>
        </p:spPr>
      </p:pic>
      <p:pic>
        <p:nvPicPr>
          <p:cNvPr id="272" name="Google Shape;272;p30"/>
          <p:cNvPicPr preferRelativeResize="0"/>
          <p:nvPr/>
        </p:nvPicPr>
        <p:blipFill rotWithShape="1">
          <a:blip r:embed="rId4">
            <a:alphaModFix/>
          </a:blip>
          <a:srcRect b="0" l="0" r="0" t="0"/>
          <a:stretch/>
        </p:blipFill>
        <p:spPr>
          <a:xfrm>
            <a:off x="2573337" y="4933950"/>
            <a:ext cx="3446462" cy="857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1"/>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12.</a:t>
            </a: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279" name="Google Shape;279;p31"/>
          <p:cNvSpPr txBox="1"/>
          <p:nvPr/>
        </p:nvSpPr>
        <p:spPr>
          <a:xfrm>
            <a:off x="76200" y="0"/>
            <a:ext cx="366077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2800"/>
              <a:buFont typeface="Times New Roman"/>
              <a:buNone/>
            </a:pPr>
            <a:r>
              <a:rPr b="0" i="0" lang="en-US" sz="2800" u="none">
                <a:solidFill>
                  <a:srgbClr val="660066"/>
                </a:solidFill>
                <a:latin typeface="Times New Roman"/>
                <a:ea typeface="Times New Roman"/>
                <a:cs typeface="Times New Roman"/>
                <a:sym typeface="Times New Roman"/>
              </a:rPr>
              <a:t>The </a:t>
            </a:r>
            <a:r>
              <a:rPr b="0" i="1" lang="en-US" sz="2800" u="none">
                <a:solidFill>
                  <a:srgbClr val="660066"/>
                </a:solidFill>
                <a:latin typeface="Times New Roman"/>
                <a:ea typeface="Times New Roman"/>
                <a:cs typeface="Times New Roman"/>
                <a:sym typeface="Times New Roman"/>
              </a:rPr>
              <a:t>enqueue</a:t>
            </a:r>
            <a:r>
              <a:rPr b="0" i="0" lang="en-US" sz="2800" u="none">
                <a:solidFill>
                  <a:srgbClr val="660066"/>
                </a:solidFill>
                <a:latin typeface="Times New Roman"/>
                <a:ea typeface="Times New Roman"/>
                <a:cs typeface="Times New Roman"/>
                <a:sym typeface="Times New Roman"/>
              </a:rPr>
              <a:t> operation</a:t>
            </a:r>
            <a:endParaRPr/>
          </a:p>
        </p:txBody>
      </p:sp>
      <p:sp>
        <p:nvSpPr>
          <p:cNvPr id="280" name="Google Shape;280;p31"/>
          <p:cNvSpPr txBox="1"/>
          <p:nvPr/>
        </p:nvSpPr>
        <p:spPr>
          <a:xfrm>
            <a:off x="76200" y="609600"/>
            <a:ext cx="8915400" cy="9461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enqueue operation inserts an item at the rear of the queue. The following shows the format.</a:t>
            </a:r>
            <a:endParaRPr/>
          </a:p>
        </p:txBody>
      </p:sp>
      <p:sp>
        <p:nvSpPr>
          <p:cNvPr id="281" name="Google Shape;281;p31"/>
          <p:cNvSpPr txBox="1"/>
          <p:nvPr/>
        </p:nvSpPr>
        <p:spPr>
          <a:xfrm>
            <a:off x="2438400" y="6248400"/>
            <a:ext cx="44577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0" i="0" lang="en-US" sz="2400" u="none">
                <a:solidFill>
                  <a:schemeClr val="folHlink"/>
                </a:solidFill>
                <a:latin typeface="Times New Roman"/>
                <a:ea typeface="Times New Roman"/>
                <a:cs typeface="Times New Roman"/>
                <a:sym typeface="Times New Roman"/>
              </a:rPr>
              <a:t>Figure 12.10  </a:t>
            </a:r>
            <a:r>
              <a:rPr b="0" i="0" lang="en-US" sz="2000" u="none">
                <a:solidFill>
                  <a:schemeClr val="dk1"/>
                </a:solidFill>
                <a:latin typeface="Times New Roman"/>
                <a:ea typeface="Times New Roman"/>
                <a:cs typeface="Times New Roman"/>
                <a:sym typeface="Times New Roman"/>
              </a:rPr>
              <a:t>The enqueue operation</a:t>
            </a:r>
            <a:endParaRPr/>
          </a:p>
        </p:txBody>
      </p:sp>
      <p:pic>
        <p:nvPicPr>
          <p:cNvPr id="282" name="Google Shape;282;p31"/>
          <p:cNvPicPr preferRelativeResize="0"/>
          <p:nvPr/>
        </p:nvPicPr>
        <p:blipFill rotWithShape="1">
          <a:blip r:embed="rId3">
            <a:alphaModFix/>
          </a:blip>
          <a:srcRect b="0" l="0" r="0" t="0"/>
          <a:stretch/>
        </p:blipFill>
        <p:spPr>
          <a:xfrm>
            <a:off x="3024187" y="2403475"/>
            <a:ext cx="3300412" cy="415925"/>
          </a:xfrm>
          <a:prstGeom prst="rect">
            <a:avLst/>
          </a:prstGeom>
          <a:noFill/>
          <a:ln>
            <a:noFill/>
          </a:ln>
        </p:spPr>
      </p:pic>
      <p:pic>
        <p:nvPicPr>
          <p:cNvPr id="283" name="Google Shape;283;p31"/>
          <p:cNvPicPr preferRelativeResize="0"/>
          <p:nvPr/>
        </p:nvPicPr>
        <p:blipFill rotWithShape="1">
          <a:blip r:embed="rId4">
            <a:alphaModFix/>
          </a:blip>
          <a:srcRect b="0" l="0" r="0" t="0"/>
          <a:stretch/>
        </p:blipFill>
        <p:spPr>
          <a:xfrm>
            <a:off x="1184275" y="3665537"/>
            <a:ext cx="6664325" cy="166846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2"/>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12.</a:t>
            </a: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290" name="Google Shape;290;p32"/>
          <p:cNvSpPr txBox="1"/>
          <p:nvPr/>
        </p:nvSpPr>
        <p:spPr>
          <a:xfrm>
            <a:off x="76200" y="0"/>
            <a:ext cx="3640137"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2800"/>
              <a:buFont typeface="Times New Roman"/>
              <a:buNone/>
            </a:pPr>
            <a:r>
              <a:rPr b="0" i="0" lang="en-US" sz="2800" u="none">
                <a:solidFill>
                  <a:srgbClr val="660066"/>
                </a:solidFill>
                <a:latin typeface="Times New Roman"/>
                <a:ea typeface="Times New Roman"/>
                <a:cs typeface="Times New Roman"/>
                <a:sym typeface="Times New Roman"/>
              </a:rPr>
              <a:t>The </a:t>
            </a:r>
            <a:r>
              <a:rPr b="0" i="1" lang="en-US" sz="2800" u="none">
                <a:solidFill>
                  <a:srgbClr val="660066"/>
                </a:solidFill>
                <a:latin typeface="Times New Roman"/>
                <a:ea typeface="Times New Roman"/>
                <a:cs typeface="Times New Roman"/>
                <a:sym typeface="Times New Roman"/>
              </a:rPr>
              <a:t>dequeue</a:t>
            </a:r>
            <a:r>
              <a:rPr b="0" i="0" lang="en-US" sz="2800" u="none">
                <a:solidFill>
                  <a:srgbClr val="660066"/>
                </a:solidFill>
                <a:latin typeface="Times New Roman"/>
                <a:ea typeface="Times New Roman"/>
                <a:cs typeface="Times New Roman"/>
                <a:sym typeface="Times New Roman"/>
              </a:rPr>
              <a:t> operation</a:t>
            </a:r>
            <a:endParaRPr/>
          </a:p>
        </p:txBody>
      </p:sp>
      <p:sp>
        <p:nvSpPr>
          <p:cNvPr id="291" name="Google Shape;291;p32"/>
          <p:cNvSpPr txBox="1"/>
          <p:nvPr/>
        </p:nvSpPr>
        <p:spPr>
          <a:xfrm>
            <a:off x="76200" y="609600"/>
            <a:ext cx="8915400" cy="9461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dequeue operation deletes the item at the front of the queue. The following shows the format.</a:t>
            </a:r>
            <a:endParaRPr/>
          </a:p>
        </p:txBody>
      </p:sp>
      <p:sp>
        <p:nvSpPr>
          <p:cNvPr id="292" name="Google Shape;292;p32"/>
          <p:cNvSpPr txBox="1"/>
          <p:nvPr/>
        </p:nvSpPr>
        <p:spPr>
          <a:xfrm>
            <a:off x="2286000" y="6248400"/>
            <a:ext cx="44577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0" i="0" lang="en-US" sz="2400" u="none">
                <a:solidFill>
                  <a:schemeClr val="folHlink"/>
                </a:solidFill>
                <a:latin typeface="Times New Roman"/>
                <a:ea typeface="Times New Roman"/>
                <a:cs typeface="Times New Roman"/>
                <a:sym typeface="Times New Roman"/>
              </a:rPr>
              <a:t>Figure 12.11  </a:t>
            </a:r>
            <a:r>
              <a:rPr b="0" i="0" lang="en-US" sz="2000" u="none">
                <a:solidFill>
                  <a:schemeClr val="dk1"/>
                </a:solidFill>
                <a:latin typeface="Times New Roman"/>
                <a:ea typeface="Times New Roman"/>
                <a:cs typeface="Times New Roman"/>
                <a:sym typeface="Times New Roman"/>
              </a:rPr>
              <a:t>The dequeue operation</a:t>
            </a:r>
            <a:endParaRPr/>
          </a:p>
        </p:txBody>
      </p:sp>
      <p:pic>
        <p:nvPicPr>
          <p:cNvPr id="293" name="Google Shape;293;p32"/>
          <p:cNvPicPr preferRelativeResize="0"/>
          <p:nvPr/>
        </p:nvPicPr>
        <p:blipFill rotWithShape="1">
          <a:blip r:embed="rId3">
            <a:alphaModFix/>
          </a:blip>
          <a:srcRect b="0" l="0" r="0" t="0"/>
          <a:stretch/>
        </p:blipFill>
        <p:spPr>
          <a:xfrm>
            <a:off x="3182937" y="2141537"/>
            <a:ext cx="3217862" cy="449262"/>
          </a:xfrm>
          <a:prstGeom prst="rect">
            <a:avLst/>
          </a:prstGeom>
          <a:noFill/>
          <a:ln>
            <a:noFill/>
          </a:ln>
        </p:spPr>
      </p:pic>
      <p:pic>
        <p:nvPicPr>
          <p:cNvPr id="294" name="Google Shape;294;p32"/>
          <p:cNvPicPr preferRelativeResize="0"/>
          <p:nvPr/>
        </p:nvPicPr>
        <p:blipFill rotWithShape="1">
          <a:blip r:embed="rId4">
            <a:alphaModFix/>
          </a:blip>
          <a:srcRect b="0" l="0" r="0" t="0"/>
          <a:stretch/>
        </p:blipFill>
        <p:spPr>
          <a:xfrm>
            <a:off x="1020762" y="3721100"/>
            <a:ext cx="6599237" cy="1765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3"/>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12.</a:t>
            </a: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301" name="Google Shape;301;p33"/>
          <p:cNvSpPr txBox="1"/>
          <p:nvPr/>
        </p:nvSpPr>
        <p:spPr>
          <a:xfrm>
            <a:off x="76200" y="0"/>
            <a:ext cx="328295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2800"/>
              <a:buFont typeface="Times New Roman"/>
              <a:buNone/>
            </a:pPr>
            <a:r>
              <a:rPr b="0" i="0" lang="en-US" sz="2800" u="none">
                <a:solidFill>
                  <a:srgbClr val="660066"/>
                </a:solidFill>
                <a:latin typeface="Times New Roman"/>
                <a:ea typeface="Times New Roman"/>
                <a:cs typeface="Times New Roman"/>
                <a:sym typeface="Times New Roman"/>
              </a:rPr>
              <a:t>The </a:t>
            </a:r>
            <a:r>
              <a:rPr b="0" i="1" lang="en-US" sz="2800" u="none">
                <a:solidFill>
                  <a:srgbClr val="660066"/>
                </a:solidFill>
                <a:latin typeface="Times New Roman"/>
                <a:ea typeface="Times New Roman"/>
                <a:cs typeface="Times New Roman"/>
                <a:sym typeface="Times New Roman"/>
              </a:rPr>
              <a:t>empty</a:t>
            </a:r>
            <a:r>
              <a:rPr b="0" i="0" lang="en-US" sz="2800" u="none">
                <a:solidFill>
                  <a:srgbClr val="660066"/>
                </a:solidFill>
                <a:latin typeface="Times New Roman"/>
                <a:ea typeface="Times New Roman"/>
                <a:cs typeface="Times New Roman"/>
                <a:sym typeface="Times New Roman"/>
              </a:rPr>
              <a:t> operation</a:t>
            </a:r>
            <a:endParaRPr/>
          </a:p>
        </p:txBody>
      </p:sp>
      <p:sp>
        <p:nvSpPr>
          <p:cNvPr id="302" name="Google Shape;302;p33"/>
          <p:cNvSpPr txBox="1"/>
          <p:nvPr/>
        </p:nvSpPr>
        <p:spPr>
          <a:xfrm>
            <a:off x="76200" y="609600"/>
            <a:ext cx="8915400" cy="9461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empty operation checks the status of the queue. The following shows the format.</a:t>
            </a:r>
            <a:endParaRPr/>
          </a:p>
        </p:txBody>
      </p:sp>
      <p:sp>
        <p:nvSpPr>
          <p:cNvPr id="303" name="Google Shape;303;p33"/>
          <p:cNvSpPr txBox="1"/>
          <p:nvPr/>
        </p:nvSpPr>
        <p:spPr>
          <a:xfrm>
            <a:off x="228600" y="2787650"/>
            <a:ext cx="8915400" cy="9461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This operation returns true if the queue is empty and false if the queue is not empty.</a:t>
            </a:r>
            <a:endParaRPr/>
          </a:p>
        </p:txBody>
      </p:sp>
      <p:pic>
        <p:nvPicPr>
          <p:cNvPr id="304" name="Google Shape;304;p33"/>
          <p:cNvPicPr preferRelativeResize="0"/>
          <p:nvPr/>
        </p:nvPicPr>
        <p:blipFill rotWithShape="1">
          <a:blip r:embed="rId3">
            <a:alphaModFix/>
          </a:blip>
          <a:srcRect b="0" l="0" r="0" t="0"/>
          <a:stretch/>
        </p:blipFill>
        <p:spPr>
          <a:xfrm>
            <a:off x="3468687" y="1981200"/>
            <a:ext cx="2093912" cy="39528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4"/>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Constantia"/>
              <a:buNone/>
            </a:pPr>
            <a:r>
              <a:rPr b="0" i="0" lang="en-US" sz="1200" u="none">
                <a:solidFill>
                  <a:srgbClr val="045C75"/>
                </a:solidFill>
                <a:latin typeface="Constantia"/>
                <a:ea typeface="Constantia"/>
                <a:cs typeface="Constantia"/>
                <a:sym typeface="Constantia"/>
              </a:rPr>
              <a:t>12.</a:t>
            </a:r>
            <a:fld id="{00000000-1234-1234-1234-123412341234}" type="slidenum">
              <a:rPr b="0" i="0" lang="en-US" sz="1200" u="none">
                <a:solidFill>
                  <a:srgbClr val="045C75"/>
                </a:solidFill>
                <a:latin typeface="Constantia"/>
                <a:ea typeface="Constantia"/>
                <a:cs typeface="Constantia"/>
                <a:sym typeface="Constantia"/>
              </a:rPr>
              <a:t>‹#›</a:t>
            </a:fld>
            <a:endParaRPr/>
          </a:p>
        </p:txBody>
      </p:sp>
      <p:sp>
        <p:nvSpPr>
          <p:cNvPr id="311" name="Google Shape;311;p34"/>
          <p:cNvSpPr txBox="1"/>
          <p:nvPr/>
        </p:nvSpPr>
        <p:spPr>
          <a:xfrm>
            <a:off x="0" y="0"/>
            <a:ext cx="35131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1800"/>
              <a:buFont typeface="Times New Roman"/>
              <a:buNone/>
            </a:pPr>
            <a:r>
              <a:rPr b="0" i="0" lang="en-US" sz="1800" u="none">
                <a:solidFill>
                  <a:schemeClr val="hlink"/>
                </a:solidFill>
                <a:latin typeface="Times New Roman"/>
                <a:ea typeface="Times New Roman"/>
                <a:cs typeface="Times New Roman"/>
                <a:sym typeface="Times New Roman"/>
              </a:rPr>
              <a:t>Queue applications</a:t>
            </a:r>
            <a:endParaRPr/>
          </a:p>
        </p:txBody>
      </p:sp>
      <p:sp>
        <p:nvSpPr>
          <p:cNvPr id="312" name="Google Shape;312;p34"/>
          <p:cNvSpPr txBox="1"/>
          <p:nvPr/>
        </p:nvSpPr>
        <p:spPr>
          <a:xfrm>
            <a:off x="0" y="533400"/>
            <a:ext cx="8915400" cy="30813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Queues are one of the most common of all data processing structures. They are found in virtually every operating system and network and in countless other areas. For example, queues are used in online business applications such as processing customer requests, jobs and orders. In a computer system, a queue is needed to process jobs and for system services such as print spools.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5"/>
          <p:cNvSpPr txBox="1"/>
          <p:nvPr>
            <p:ph type="title"/>
          </p:nvPr>
        </p:nvSpPr>
        <p:spPr>
          <a:xfrm>
            <a:off x="457200" y="704850"/>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4500"/>
              <a:buFont typeface="Calibri"/>
              <a:buNone/>
            </a:pPr>
            <a:r>
              <a:rPr b="0" i="0" lang="en-US" sz="4500" u="none">
                <a:solidFill>
                  <a:schemeClr val="dk2"/>
                </a:solidFill>
                <a:latin typeface="Calibri"/>
                <a:ea typeface="Calibri"/>
                <a:cs typeface="Calibri"/>
                <a:sym typeface="Calibri"/>
              </a:rPr>
              <a:t>Other Data Structures &amp; Algorithms</a:t>
            </a:r>
            <a:endParaRPr/>
          </a:p>
        </p:txBody>
      </p:sp>
      <p:sp>
        <p:nvSpPr>
          <p:cNvPr id="318" name="Google Shape;318;p35"/>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rgbClr val="0BD0D9"/>
              </a:buClr>
              <a:buSzPts val="2470"/>
              <a:buFont typeface="Noto Sans Symbols"/>
              <a:buChar char="⚫"/>
            </a:pPr>
            <a:r>
              <a:rPr b="0" i="0" lang="en-US" sz="2600" u="none">
                <a:solidFill>
                  <a:schemeClr val="dk1"/>
                </a:solidFill>
                <a:latin typeface="Constantia"/>
                <a:ea typeface="Constantia"/>
                <a:cs typeface="Constantia"/>
                <a:sym typeface="Constantia"/>
              </a:rPr>
              <a:t>Trees</a:t>
            </a:r>
            <a:endParaRPr/>
          </a:p>
          <a:p>
            <a:pPr indent="-273050" lvl="0" marL="273050" marR="0" rtl="0" algn="l">
              <a:lnSpc>
                <a:spcPct val="100000"/>
              </a:lnSpc>
              <a:spcBef>
                <a:spcPts val="520"/>
              </a:spcBef>
              <a:spcAft>
                <a:spcPts val="0"/>
              </a:spcAft>
              <a:buClr>
                <a:srgbClr val="0BD0D9"/>
              </a:buClr>
              <a:buSzPts val="2470"/>
              <a:buFont typeface="Noto Sans Symbols"/>
              <a:buChar char="⚫"/>
            </a:pPr>
            <a:r>
              <a:rPr b="0" i="0" lang="en-US" sz="2600" u="none">
                <a:solidFill>
                  <a:schemeClr val="dk1"/>
                </a:solidFill>
                <a:latin typeface="Constantia"/>
                <a:ea typeface="Constantia"/>
                <a:cs typeface="Constantia"/>
                <a:sym typeface="Constantia"/>
              </a:rPr>
              <a:t>Graphs</a:t>
            </a:r>
            <a:endParaRPr/>
          </a:p>
          <a:p>
            <a:pPr indent="-273050" lvl="0" marL="273050" marR="0" rtl="0" algn="l">
              <a:lnSpc>
                <a:spcPct val="100000"/>
              </a:lnSpc>
              <a:spcBef>
                <a:spcPts val="520"/>
              </a:spcBef>
              <a:spcAft>
                <a:spcPts val="0"/>
              </a:spcAft>
              <a:buClr>
                <a:srgbClr val="0BD0D9"/>
              </a:buClr>
              <a:buSzPts val="2470"/>
              <a:buFont typeface="Noto Sans Symbols"/>
              <a:buChar char="⚫"/>
            </a:pPr>
            <a:r>
              <a:rPr b="0" i="0" lang="en-US" sz="2600" u="none">
                <a:solidFill>
                  <a:schemeClr val="dk1"/>
                </a:solidFill>
                <a:latin typeface="Constantia"/>
                <a:ea typeface="Constantia"/>
                <a:cs typeface="Constantia"/>
                <a:sym typeface="Constantia"/>
              </a:rPr>
              <a:t>Heap</a:t>
            </a:r>
            <a:endParaRPr/>
          </a:p>
          <a:p>
            <a:pPr indent="-273050" lvl="0" marL="273050" marR="0" rtl="0" algn="l">
              <a:lnSpc>
                <a:spcPct val="100000"/>
              </a:lnSpc>
              <a:spcBef>
                <a:spcPts val="520"/>
              </a:spcBef>
              <a:spcAft>
                <a:spcPts val="0"/>
              </a:spcAft>
              <a:buClr>
                <a:srgbClr val="0BD0D9"/>
              </a:buClr>
              <a:buSzPts val="2470"/>
              <a:buFont typeface="Noto Sans Symbols"/>
              <a:buChar char="⚫"/>
            </a:pPr>
            <a:r>
              <a:rPr b="0" i="0" lang="en-US" sz="2600" u="none">
                <a:solidFill>
                  <a:schemeClr val="dk1"/>
                </a:solidFill>
                <a:latin typeface="Constantia"/>
                <a:ea typeface="Constantia"/>
                <a:cs typeface="Constantia"/>
                <a:sym typeface="Constantia"/>
              </a:rPr>
              <a:t>Sorting Algorithm</a:t>
            </a:r>
            <a:endParaRPr/>
          </a:p>
          <a:p>
            <a:pPr indent="-246062" lvl="1" marL="639762" marR="0" rtl="0" algn="l">
              <a:lnSpc>
                <a:spcPct val="100000"/>
              </a:lnSpc>
              <a:spcBef>
                <a:spcPts val="480"/>
              </a:spcBef>
              <a:spcAft>
                <a:spcPts val="0"/>
              </a:spcAft>
              <a:buClr>
                <a:schemeClr val="accent1"/>
              </a:buClr>
              <a:buSzPts val="2040"/>
              <a:buFont typeface="Noto Sans Symbols"/>
              <a:buChar char="⚫"/>
            </a:pPr>
            <a:r>
              <a:rPr b="0" i="0" lang="en-US" sz="2400" u="none" cap="none" strike="noStrike">
                <a:solidFill>
                  <a:schemeClr val="dk1"/>
                </a:solidFill>
                <a:latin typeface="Constantia"/>
                <a:ea typeface="Constantia"/>
                <a:cs typeface="Constantia"/>
                <a:sym typeface="Constantia"/>
              </a:rPr>
              <a:t>Bubblesort</a:t>
            </a:r>
            <a:endParaRPr/>
          </a:p>
          <a:p>
            <a:pPr indent="-246062" lvl="1" marL="639762" marR="0" rtl="0" algn="l">
              <a:lnSpc>
                <a:spcPct val="100000"/>
              </a:lnSpc>
              <a:spcBef>
                <a:spcPts val="480"/>
              </a:spcBef>
              <a:spcAft>
                <a:spcPts val="0"/>
              </a:spcAft>
              <a:buClr>
                <a:schemeClr val="accent1"/>
              </a:buClr>
              <a:buSzPts val="2040"/>
              <a:buFont typeface="Noto Sans Symbols"/>
              <a:buChar char="⚫"/>
            </a:pPr>
            <a:r>
              <a:rPr b="0" i="0" lang="en-US" sz="2400" u="none" cap="none" strike="noStrike">
                <a:solidFill>
                  <a:schemeClr val="dk1"/>
                </a:solidFill>
                <a:latin typeface="Constantia"/>
                <a:ea typeface="Constantia"/>
                <a:cs typeface="Constantia"/>
                <a:sym typeface="Constantia"/>
              </a:rPr>
              <a:t>Heapsort</a:t>
            </a:r>
            <a:endParaRPr/>
          </a:p>
          <a:p>
            <a:pPr indent="-246062" lvl="1" marL="639762" marR="0" rtl="0" algn="l">
              <a:lnSpc>
                <a:spcPct val="100000"/>
              </a:lnSpc>
              <a:spcBef>
                <a:spcPts val="480"/>
              </a:spcBef>
              <a:spcAft>
                <a:spcPts val="0"/>
              </a:spcAft>
              <a:buClr>
                <a:schemeClr val="accent1"/>
              </a:buClr>
              <a:buSzPts val="2040"/>
              <a:buFont typeface="Noto Sans Symbols"/>
              <a:buChar char="⚫"/>
            </a:pPr>
            <a:r>
              <a:rPr b="0" i="0" lang="en-US" sz="2400" u="none" cap="none" strike="noStrike">
                <a:solidFill>
                  <a:schemeClr val="dk1"/>
                </a:solidFill>
                <a:latin typeface="Constantia"/>
                <a:ea typeface="Constantia"/>
                <a:cs typeface="Constantia"/>
                <a:sym typeface="Constantia"/>
              </a:rPr>
              <a:t>Radix sort, etc.</a:t>
            </a:r>
            <a:endParaRPr/>
          </a:p>
          <a:p>
            <a:pPr indent="-273050" lvl="0" marL="273050" marR="0" rtl="0" algn="l">
              <a:lnSpc>
                <a:spcPct val="100000"/>
              </a:lnSpc>
              <a:spcBef>
                <a:spcPts val="520"/>
              </a:spcBef>
              <a:spcAft>
                <a:spcPts val="0"/>
              </a:spcAft>
              <a:buClr>
                <a:srgbClr val="0BD0D9"/>
              </a:buClr>
              <a:buSzPts val="2470"/>
              <a:buFont typeface="Noto Sans Symbols"/>
              <a:buChar char="⚫"/>
            </a:pPr>
            <a:r>
              <a:rPr b="0" i="0" lang="en-US" sz="2600" u="none">
                <a:solidFill>
                  <a:schemeClr val="dk1"/>
                </a:solidFill>
                <a:latin typeface="Constantia"/>
                <a:ea typeface="Constantia"/>
                <a:cs typeface="Constantia"/>
                <a:sym typeface="Constantia"/>
              </a:rPr>
              <a:t>Search Algorithm</a:t>
            </a:r>
            <a:endParaRPr/>
          </a:p>
          <a:p>
            <a:pPr indent="-246062" lvl="1" marL="639762" marR="0" rtl="0" algn="l">
              <a:lnSpc>
                <a:spcPct val="100000"/>
              </a:lnSpc>
              <a:spcBef>
                <a:spcPts val="480"/>
              </a:spcBef>
              <a:spcAft>
                <a:spcPts val="0"/>
              </a:spcAft>
              <a:buClr>
                <a:schemeClr val="accent1"/>
              </a:buClr>
              <a:buSzPts val="2040"/>
              <a:buFont typeface="Noto Sans Symbols"/>
              <a:buChar char="⚫"/>
            </a:pPr>
            <a:r>
              <a:rPr b="0" i="0" lang="en-US" sz="2400" u="none" cap="none" strike="noStrike">
                <a:solidFill>
                  <a:schemeClr val="dk1"/>
                </a:solidFill>
                <a:latin typeface="Constantia"/>
                <a:ea typeface="Constantia"/>
                <a:cs typeface="Constantia"/>
                <a:sym typeface="Constantia"/>
              </a:rPr>
              <a:t>Binary Search, etc.</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6"/>
          <p:cNvSpPr txBox="1"/>
          <p:nvPr>
            <p:ph type="title"/>
          </p:nvPr>
        </p:nvSpPr>
        <p:spPr>
          <a:xfrm>
            <a:off x="381000" y="0"/>
            <a:ext cx="8229600" cy="43815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3200"/>
              <a:buFont typeface="Calibri"/>
              <a:buNone/>
            </a:pPr>
            <a:r>
              <a:rPr b="0" i="0" lang="en-US" sz="3200" u="none">
                <a:solidFill>
                  <a:schemeClr val="dk2"/>
                </a:solidFill>
                <a:latin typeface="Calibri"/>
                <a:ea typeface="Calibri"/>
                <a:cs typeface="Calibri"/>
                <a:sym typeface="Calibri"/>
              </a:rPr>
              <a:t>Queue array implementation</a:t>
            </a:r>
            <a:endParaRPr/>
          </a:p>
        </p:txBody>
      </p:sp>
      <p:sp>
        <p:nvSpPr>
          <p:cNvPr id="324" name="Google Shape;324;p36"/>
          <p:cNvSpPr txBox="1"/>
          <p:nvPr>
            <p:ph idx="1" type="body"/>
          </p:nvPr>
        </p:nvSpPr>
        <p:spPr>
          <a:xfrm>
            <a:off x="228600" y="457200"/>
            <a:ext cx="2819400" cy="4389437"/>
          </a:xfrm>
          <a:prstGeom prst="rect">
            <a:avLst/>
          </a:prstGeom>
          <a:noFill/>
          <a:ln>
            <a:noFill/>
          </a:ln>
        </p:spPr>
        <p:txBody>
          <a:bodyPr anchorCtr="0" anchor="t" bIns="45700" lIns="91425" spcFirstLastPara="1" rIns="91425" wrap="square" tIns="45700">
            <a:normAutofit/>
          </a:bodyPr>
          <a:lstStyle/>
          <a:p>
            <a:pPr indent="-273050" lvl="0" marL="273050" marR="0" rtl="0" algn="l">
              <a:lnSpc>
                <a:spcPct val="80000"/>
              </a:lnSpc>
              <a:spcBef>
                <a:spcPts val="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#include &lt;stdio.h&gt;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#include &lt;conio.h&gt;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#include &lt;malloc.h&gt;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#include &lt;process.h&gt;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#include &lt;ctype.h&gt;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#include &lt;stdlib.h&gt;</a:t>
            </a:r>
            <a:endParaRPr/>
          </a:p>
          <a:p>
            <a:pPr indent="-273050" lvl="0" marL="273050" marR="0" rtl="0" algn="l">
              <a:lnSpc>
                <a:spcPct val="80000"/>
              </a:lnSpc>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a:p>
            <a:pPr indent="-273050" lvl="0" marL="273050" marR="0" rtl="0" algn="l">
              <a:lnSpc>
                <a:spcPct val="80000"/>
              </a:lnSpc>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#define SIZE 5</a:t>
            </a:r>
            <a:endParaRPr/>
          </a:p>
          <a:p>
            <a:pPr indent="-273050" lvl="0" marL="273050" marR="0" rtl="0" algn="l">
              <a:lnSpc>
                <a:spcPct val="80000"/>
              </a:lnSpc>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void menu();</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void display();</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int underflow();</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int overflow();</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void enqueue(int);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void dequeue();</a:t>
            </a:r>
            <a:endParaRPr/>
          </a:p>
          <a:p>
            <a:pPr indent="-273050" lvl="0" marL="273050" marR="0" rtl="0" algn="l">
              <a:lnSpc>
                <a:spcPct val="80000"/>
              </a:lnSpc>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int queue[SIZE];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int front=-1;</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int rear=-1;</a:t>
            </a:r>
            <a:endParaRPr/>
          </a:p>
          <a:p>
            <a:pPr indent="-273050" lvl="0" marL="273050" marR="0" rtl="0" algn="l">
              <a:lnSpc>
                <a:spcPct val="80000"/>
              </a:lnSpc>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void main()</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system("cls");</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menu();</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a:t>
            </a:r>
            <a:endParaRPr/>
          </a:p>
          <a:p>
            <a:pPr indent="-273050" lvl="0" marL="273050" marR="0" rtl="0" algn="l">
              <a:lnSpc>
                <a:spcPct val="80000"/>
              </a:lnSpc>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void menu()</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int choice,item;</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printf("MENU");</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printf("\n1. Insert into the queue");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printf("\n2. Delete from queue");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printf("\n3. Display");</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printf("\n4. Exit");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printf("\nEnter your choice: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scanf("%d",&amp;choice);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switch(choice)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case 1:</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//clrscr();</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if(overflow()==0)</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printf("\nEnter the item tobe inserted: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scanf("%d",&amp;item);</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enqueue(item);</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//clrscr();</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printf("\nAfter inserting queue is:\n");</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display();</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getch();</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//clrscr();</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menu();</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break;</a:t>
            </a:r>
            <a:endParaRPr/>
          </a:p>
          <a:p>
            <a:pPr indent="-232092" lvl="0" marL="274320" marR="0" rtl="0" algn="l">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p:txBody>
      </p:sp>
      <p:sp>
        <p:nvSpPr>
          <p:cNvPr id="325" name="Google Shape;325;p36"/>
          <p:cNvSpPr txBox="1"/>
          <p:nvPr/>
        </p:nvSpPr>
        <p:spPr>
          <a:xfrm>
            <a:off x="3048000" y="323850"/>
            <a:ext cx="2667000" cy="66627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case 2:</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//clrscr();</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if(underflow()==1)</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dequeue();</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if(underflow()==1)</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printf("\nAfter deletion queue is:\n");</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display();</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getch();</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 clrscr();</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menu();</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break;</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case 3:</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 clrscr();</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if(underflow()==1)</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printf("The queue is:\n");</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display();</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getch();</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//clrscr();</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menu();</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break;</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case 4:</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exit(1);</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default:</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//clrscr();</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printf("Your choice is wrong\n\n");</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menu();</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t/>
            </a:r>
            <a:endParaRPr b="0" i="0" sz="7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int underflow()</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if((front==-1)&amp;&amp;(rear==-1))</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printf("\nQueue is empty");</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return(0);</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else</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return(1);</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t/>
            </a:r>
            <a:endParaRPr b="0" i="0" sz="7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int overflow()</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if(rear==SIZE-1)</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printf("\nQueue is full\n");</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return(1);</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else</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return(0);</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None/>
            </a:pPr>
            <a:r>
              <a:t/>
            </a:r>
            <a:endParaRPr b="0" i="0" sz="700" u="none">
              <a:solidFill>
                <a:schemeClr val="dk1"/>
              </a:solidFill>
              <a:latin typeface="Constantia"/>
              <a:ea typeface="Constantia"/>
              <a:cs typeface="Constantia"/>
              <a:sym typeface="Constantia"/>
            </a:endParaRPr>
          </a:p>
        </p:txBody>
      </p:sp>
      <p:sp>
        <p:nvSpPr>
          <p:cNvPr id="326" name="Google Shape;326;p36"/>
          <p:cNvSpPr txBox="1"/>
          <p:nvPr/>
        </p:nvSpPr>
        <p:spPr>
          <a:xfrm>
            <a:off x="5791200" y="533400"/>
            <a:ext cx="2514600" cy="49244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void enqueue(int item)</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if((front==-1)&amp;&amp;(rear==-1))</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front=0;</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rear=0;</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else</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rear=rear+1;</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queue[rear]=item;</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800"/>
              <a:buFont typeface="Constantia"/>
              <a:buNone/>
            </a:pPr>
            <a:r>
              <a:t/>
            </a:r>
            <a:endParaRPr b="0" i="0" sz="8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void dequeue()</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if(front==rear)</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front=-1;</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rear=-1;</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else</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front=front+1;</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800"/>
              <a:buFont typeface="Constantia"/>
              <a:buNone/>
            </a:pPr>
            <a:r>
              <a:t/>
            </a:r>
            <a:endParaRPr b="0" i="0" sz="8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void display()</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int i;</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for(i=front;i&lt;=rear;i++)</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printf("\nElement %d : %d",i+1,queue[i]);</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800"/>
              <a:buFont typeface="Constantia"/>
              <a:buNone/>
            </a:pPr>
            <a:r>
              <a:t/>
            </a:r>
            <a:endParaRPr b="0" i="0" sz="8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800"/>
              <a:buFont typeface="Constantia"/>
              <a:buNone/>
            </a:pPr>
            <a:r>
              <a:t/>
            </a:r>
            <a:endParaRPr b="0" i="0" sz="8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None/>
            </a:pPr>
            <a:r>
              <a:t/>
            </a:r>
            <a:endParaRPr b="0" i="0" sz="800" u="none">
              <a:solidFill>
                <a:schemeClr val="dk1"/>
              </a:solidFill>
              <a:latin typeface="Constantia"/>
              <a:ea typeface="Constantia"/>
              <a:cs typeface="Constantia"/>
              <a:sym typeface="Constanti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7"/>
          <p:cNvSpPr txBox="1"/>
          <p:nvPr>
            <p:ph type="title"/>
          </p:nvPr>
        </p:nvSpPr>
        <p:spPr>
          <a:xfrm>
            <a:off x="381000" y="0"/>
            <a:ext cx="8229600" cy="4572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400"/>
              <a:buFont typeface="Calibri"/>
              <a:buNone/>
            </a:pPr>
            <a:r>
              <a:rPr b="0" i="0" lang="en-US" sz="2400" u="none">
                <a:solidFill>
                  <a:schemeClr val="dk2"/>
                </a:solidFill>
                <a:latin typeface="Calibri"/>
                <a:ea typeface="Calibri"/>
                <a:cs typeface="Calibri"/>
                <a:sym typeface="Calibri"/>
              </a:rPr>
              <a:t>Queue linked list</a:t>
            </a:r>
            <a:endParaRPr/>
          </a:p>
        </p:txBody>
      </p:sp>
      <p:sp>
        <p:nvSpPr>
          <p:cNvPr id="332" name="Google Shape;332;p37"/>
          <p:cNvSpPr txBox="1"/>
          <p:nvPr>
            <p:ph idx="1" type="body"/>
          </p:nvPr>
        </p:nvSpPr>
        <p:spPr>
          <a:xfrm>
            <a:off x="0" y="685800"/>
            <a:ext cx="3124200" cy="4389437"/>
          </a:xfrm>
          <a:prstGeom prst="rect">
            <a:avLst/>
          </a:prstGeom>
          <a:noFill/>
          <a:ln>
            <a:noFill/>
          </a:ln>
        </p:spPr>
        <p:txBody>
          <a:bodyPr anchorCtr="0" anchor="t" bIns="45700" lIns="91425" spcFirstLastPara="1" rIns="91425" wrap="square" tIns="45700">
            <a:normAutofit/>
          </a:bodyPr>
          <a:lstStyle/>
          <a:p>
            <a:pPr indent="-273050" lvl="0" marL="273050" marR="0" rtl="0" algn="l">
              <a:lnSpc>
                <a:spcPct val="80000"/>
              </a:lnSpc>
              <a:spcBef>
                <a:spcPts val="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#include &lt;stdio.h&gt;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#include &lt;stdlib.h&gt;</a:t>
            </a:r>
            <a:endParaRPr/>
          </a:p>
          <a:p>
            <a:pPr indent="-273050" lvl="0" marL="273050" marR="0" rtl="0" algn="l">
              <a:lnSpc>
                <a:spcPct val="80000"/>
              </a:lnSpc>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struct node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int info;</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struct node *ptr;</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}*front,*rear,*temp,*front1;</a:t>
            </a:r>
            <a:endParaRPr/>
          </a:p>
          <a:p>
            <a:pPr indent="-273050" lvl="0" marL="273050" marR="0" rtl="0" algn="l">
              <a:lnSpc>
                <a:spcPct val="80000"/>
              </a:lnSpc>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int frontelement();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void enq(int data);</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void deq();</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void empty();</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void display();</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void create();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void queuesize();</a:t>
            </a:r>
            <a:endParaRPr/>
          </a:p>
          <a:p>
            <a:pPr indent="-273050" lvl="0" marL="273050" marR="0" rtl="0" algn="l">
              <a:lnSpc>
                <a:spcPct val="80000"/>
              </a:lnSpc>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int count = 0;</a:t>
            </a:r>
            <a:endParaRPr/>
          </a:p>
          <a:p>
            <a:pPr indent="-273050" lvl="0" marL="273050" marR="0" rtl="0" algn="l">
              <a:lnSpc>
                <a:spcPct val="80000"/>
              </a:lnSpc>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void main()</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int no, ch, e;</a:t>
            </a:r>
            <a:endParaRPr/>
          </a:p>
          <a:p>
            <a:pPr indent="-273050" lvl="0" marL="273050" marR="0" rtl="0" algn="l">
              <a:lnSpc>
                <a:spcPct val="80000"/>
              </a:lnSpc>
              <a:spcBef>
                <a:spcPts val="140"/>
              </a:spcBef>
              <a:spcAft>
                <a:spcPts val="0"/>
              </a:spcAft>
              <a:buClr>
                <a:schemeClr val="accent3"/>
              </a:buClr>
              <a:buSzPts val="665"/>
              <a:buFont typeface="Noto Sans Symbols"/>
              <a:buNone/>
            </a:pPr>
            <a:r>
              <a:t/>
            </a:r>
            <a:endParaRPr b="0" i="0" sz="700" u="none">
              <a:solidFill>
                <a:schemeClr val="dk1"/>
              </a:solidFill>
              <a:latin typeface="Constantia"/>
              <a:ea typeface="Constantia"/>
              <a:cs typeface="Constantia"/>
              <a:sym typeface="Constantia"/>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 1 - Enque");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 2 - Deque");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 3 - Front element");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 4 - Empty");</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 5 - Exit");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 6 - Display");</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 7 - Queue size");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create();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while (1)</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 Enter choice :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scanf("%d", &amp;ch);</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switch (ch)</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case 1:</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printf("Enter data : ");</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scanf("%d", &amp;no);</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enq(no);</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break;</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case 2:</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deq();</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break;</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case 3:</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e = frontelement();</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if (e != 0)</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printf("Front element : %d", 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else</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printf("\n No front element in Queue as queue is empty");</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break;</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case 4:</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empty();</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break;</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case 5:</a:t>
            </a:r>
            <a:endParaRPr/>
          </a:p>
          <a:p>
            <a:pPr indent="-273050" lvl="0" marL="273050" marR="0" rtl="0" algn="l">
              <a:lnSpc>
                <a:spcPct val="80000"/>
              </a:lnSpc>
              <a:spcBef>
                <a:spcPts val="140"/>
              </a:spcBef>
              <a:spcAft>
                <a:spcPts val="0"/>
              </a:spcAft>
              <a:buClr>
                <a:schemeClr val="accent3"/>
              </a:buClr>
              <a:buSzPts val="665"/>
              <a:buFont typeface="Noto Sans Symbols"/>
              <a:buNone/>
            </a:pPr>
            <a:r>
              <a:rPr b="0" i="0" lang="en-US" sz="700" u="none">
                <a:solidFill>
                  <a:schemeClr val="dk1"/>
                </a:solidFill>
                <a:latin typeface="Constantia"/>
                <a:ea typeface="Constantia"/>
                <a:cs typeface="Constantia"/>
                <a:sym typeface="Constantia"/>
              </a:rPr>
              <a:t>            exit(0);</a:t>
            </a:r>
            <a:endParaRPr/>
          </a:p>
        </p:txBody>
      </p:sp>
      <p:sp>
        <p:nvSpPr>
          <p:cNvPr id="333" name="Google Shape;333;p37"/>
          <p:cNvSpPr txBox="1"/>
          <p:nvPr/>
        </p:nvSpPr>
        <p:spPr>
          <a:xfrm>
            <a:off x="3048000" y="-55562"/>
            <a:ext cx="2667000" cy="71405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case 6:</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display();</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break;</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case 7:</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queuesize();</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break;</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default:</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printf("Wrong choice, Please enter correct choice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break;</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300"/>
              <a:buFont typeface="Constantia"/>
              <a:buNone/>
            </a:pPr>
            <a:r>
              <a:t/>
            </a:r>
            <a:endParaRPr b="0" i="0" sz="3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Create an empty queue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void create()</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front = rear = NULL;</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t/>
            </a:r>
            <a:endParaRPr b="0" i="0" sz="7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Returns queue size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void queuesize()</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printf("\n Queue size : %d", count);</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t/>
            </a:r>
            <a:endParaRPr b="0" i="0" sz="7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Enqueing the queue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void enq(int data)</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if (rear == NULL)</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rear = (struct node *)malloc(1*sizeof(struct node));</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rear-&gt;ptr = NULL;</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rear-&gt;info = data;</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front = rear;</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else</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temp=(struct node *)malloc(1*sizeof(struct node));</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rear-&gt;ptr = temp;</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temp-&gt;info = data;</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temp-&gt;ptr = NULL;</a:t>
            </a:r>
            <a:endParaRPr/>
          </a:p>
          <a:p>
            <a:pPr indent="0" lvl="0" marL="0" marR="0" rtl="0" algn="l">
              <a:lnSpc>
                <a:spcPct val="100000"/>
              </a:lnSpc>
              <a:spcBef>
                <a:spcPts val="0"/>
              </a:spcBef>
              <a:spcAft>
                <a:spcPts val="0"/>
              </a:spcAft>
              <a:buClr>
                <a:schemeClr val="dk1"/>
              </a:buClr>
              <a:buSzPts val="700"/>
              <a:buFont typeface="Constantia"/>
              <a:buNone/>
            </a:pPr>
            <a:r>
              <a:t/>
            </a:r>
            <a:endParaRPr b="0" i="0" sz="7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rear = temp;</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count++;</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t/>
            </a:r>
            <a:endParaRPr b="0" i="0" sz="7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Displaying the queue elements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void display()</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front1 = front;</a:t>
            </a:r>
            <a:endParaRPr/>
          </a:p>
          <a:p>
            <a:pPr indent="0" lvl="0" marL="0" marR="0" rtl="0" algn="l">
              <a:lnSpc>
                <a:spcPct val="100000"/>
              </a:lnSpc>
              <a:spcBef>
                <a:spcPts val="0"/>
              </a:spcBef>
              <a:spcAft>
                <a:spcPts val="0"/>
              </a:spcAft>
              <a:buClr>
                <a:schemeClr val="dk1"/>
              </a:buClr>
              <a:buSzPts val="700"/>
              <a:buFont typeface="Constantia"/>
              <a:buNone/>
            </a:pPr>
            <a:r>
              <a:t/>
            </a:r>
            <a:endParaRPr b="0" i="0" sz="7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if ((front1 == NULL) &amp;&amp; (rear == NULL))</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printf("Queue is empty");</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return;</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while (front1 != rear)</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printf("%d ", front1-&gt;info);</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front1 = front1-&gt;ptr;</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if (front1 == rear)</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        printf("%d", front1-&gt;info);</a:t>
            </a:r>
            <a:endParaRPr/>
          </a:p>
          <a:p>
            <a:pPr indent="0" lvl="0" marL="0" marR="0" rtl="0" algn="l">
              <a:lnSpc>
                <a:spcPct val="100000"/>
              </a:lnSpc>
              <a:spcBef>
                <a:spcPts val="0"/>
              </a:spcBef>
              <a:spcAft>
                <a:spcPts val="0"/>
              </a:spcAft>
              <a:buClr>
                <a:schemeClr val="dk1"/>
              </a:buClr>
              <a:buSzPts val="700"/>
              <a:buFont typeface="Constantia"/>
              <a:buNone/>
            </a:pPr>
            <a:r>
              <a:rPr b="0" i="0" lang="en-US" sz="7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None/>
            </a:pPr>
            <a:r>
              <a:t/>
            </a:r>
            <a:endParaRPr b="0" i="0" sz="700" u="none">
              <a:solidFill>
                <a:schemeClr val="dk1"/>
              </a:solidFill>
              <a:latin typeface="Constantia"/>
              <a:ea typeface="Constantia"/>
              <a:cs typeface="Constantia"/>
              <a:sym typeface="Constantia"/>
            </a:endParaRPr>
          </a:p>
        </p:txBody>
      </p:sp>
      <p:sp>
        <p:nvSpPr>
          <p:cNvPr id="334" name="Google Shape;334;p37"/>
          <p:cNvSpPr txBox="1"/>
          <p:nvPr/>
        </p:nvSpPr>
        <p:spPr>
          <a:xfrm>
            <a:off x="5867400" y="228600"/>
            <a:ext cx="1981200" cy="6648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Dequeing the queue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void deq()</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front1 = front;</a:t>
            </a:r>
            <a:endParaRPr/>
          </a:p>
          <a:p>
            <a:pPr indent="0" lvl="0" marL="0" marR="0" rtl="0" algn="l">
              <a:lnSpc>
                <a:spcPct val="100000"/>
              </a:lnSpc>
              <a:spcBef>
                <a:spcPts val="0"/>
              </a:spcBef>
              <a:spcAft>
                <a:spcPts val="0"/>
              </a:spcAft>
              <a:buClr>
                <a:schemeClr val="dk1"/>
              </a:buClr>
              <a:buSzPts val="800"/>
              <a:buFont typeface="Constantia"/>
              <a:buNone/>
            </a:pPr>
            <a:r>
              <a:t/>
            </a:r>
            <a:endParaRPr b="0" i="0" sz="8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if (front1 == NULL)</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printf("\n Error: Trying to display elements from empty queue");</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return;</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else</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if (front1-&gt;ptr != NULL)</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front1 = front1-&gt;ptr;</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printf("\n Dequed value : %d", front-&gt;info);</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free(front);</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front = front1;</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else</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printf("\n Dequed value : %d", front-&gt;info);</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free(front);</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front = NULL;</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rear = NULL;</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count--;</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800"/>
              <a:buFont typeface="Constantia"/>
              <a:buNone/>
            </a:pPr>
            <a:r>
              <a:t/>
            </a:r>
            <a:endParaRPr b="0" i="0" sz="8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Returns the front element of queue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int frontelement()</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if ((front != NULL) &amp;&amp; (rear != NULL))</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return(front-&gt;info);</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else</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return 0;</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800"/>
              <a:buFont typeface="Constantia"/>
              <a:buNone/>
            </a:pPr>
            <a:r>
              <a:t/>
            </a:r>
            <a:endParaRPr b="0" i="0" sz="8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Display if queue is empty or not */</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void empty()</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if ((front == NULL) &amp;&amp; (rear == NULL))</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printf("\n Queue empty");</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else</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       printf("Queue not empty");</a:t>
            </a:r>
            <a:endParaRPr/>
          </a:p>
          <a:p>
            <a:pPr indent="0" lvl="0" marL="0" marR="0" rtl="0" algn="l">
              <a:lnSpc>
                <a:spcPct val="100000"/>
              </a:lnSpc>
              <a:spcBef>
                <a:spcPts val="0"/>
              </a:spcBef>
              <a:spcAft>
                <a:spcPts val="0"/>
              </a:spcAft>
              <a:buClr>
                <a:schemeClr val="dk1"/>
              </a:buClr>
              <a:buSzPts val="800"/>
              <a:buFont typeface="Constantia"/>
              <a:buNone/>
            </a:pPr>
            <a:r>
              <a:rPr b="0" i="0" lang="en-US" sz="800" u="none">
                <a:solidFill>
                  <a:schemeClr val="dk1"/>
                </a:solidFill>
                <a:latin typeface="Constantia"/>
                <a:ea typeface="Constantia"/>
                <a:cs typeface="Constantia"/>
                <a:sym typeface="Constantia"/>
              </a:rPr>
              <a:t>}</a:t>
            </a:r>
            <a:endParaRPr/>
          </a:p>
          <a:p>
            <a:pPr indent="0" lvl="0" marL="0" marR="0" rtl="0" algn="l">
              <a:lnSpc>
                <a:spcPct val="100000"/>
              </a:lnSpc>
              <a:spcBef>
                <a:spcPts val="0"/>
              </a:spcBef>
              <a:spcAft>
                <a:spcPts val="0"/>
              </a:spcAft>
              <a:buClr>
                <a:schemeClr val="dk1"/>
              </a:buClr>
              <a:buSzPts val="800"/>
              <a:buFont typeface="Constantia"/>
              <a:buNone/>
            </a:pPr>
            <a:r>
              <a:t/>
            </a:r>
            <a:endParaRPr b="0" i="0" sz="800" u="non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None/>
            </a:pPr>
            <a:r>
              <a:t/>
            </a:r>
            <a:endParaRPr b="0" i="0" sz="800" u="none">
              <a:solidFill>
                <a:schemeClr val="dk1"/>
              </a:solidFill>
              <a:latin typeface="Constantia"/>
              <a:ea typeface="Constantia"/>
              <a:cs typeface="Constantia"/>
              <a:sym typeface="Constanti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8" name="Shape 338"/>
        <p:cNvGrpSpPr/>
        <p:nvPr/>
      </p:nvGrpSpPr>
      <p:grpSpPr>
        <a:xfrm>
          <a:off x="0" y="0"/>
          <a:ext cx="0" cy="0"/>
          <a:chOff x="0" y="0"/>
          <a:chExt cx="0" cy="0"/>
        </a:xfrm>
      </p:grpSpPr>
      <p:sp>
        <p:nvSpPr>
          <p:cNvPr id="339" name="Google Shape;339;p38"/>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Assignment</a:t>
            </a:r>
            <a:endParaRPr/>
          </a:p>
        </p:txBody>
      </p:sp>
      <p:sp>
        <p:nvSpPr>
          <p:cNvPr id="340" name="Google Shape;340;p38"/>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accent3"/>
              </a:buClr>
              <a:buSzPts val="2470"/>
              <a:buFont typeface="Noto Sans Symbols"/>
              <a:buNone/>
            </a:pPr>
            <a:r>
              <a:rPr b="0" i="0" lang="en-US" sz="2600" u="none">
                <a:solidFill>
                  <a:schemeClr val="dk1"/>
                </a:solidFill>
                <a:latin typeface="Constantia"/>
                <a:ea typeface="Constantia"/>
                <a:cs typeface="Constantia"/>
                <a:sym typeface="Constantia"/>
              </a:rPr>
              <a:t>Note: Put a comment with your name and yr. &amp; section.</a:t>
            </a:r>
            <a:endParaRPr/>
          </a:p>
          <a:p>
            <a:pPr indent="-514350" lvl="0" marL="514350" marR="0" rtl="0" algn="l">
              <a:lnSpc>
                <a:spcPct val="100000"/>
              </a:lnSpc>
              <a:spcBef>
                <a:spcPts val="520"/>
              </a:spcBef>
              <a:spcAft>
                <a:spcPts val="0"/>
              </a:spcAft>
              <a:buClr>
                <a:srgbClr val="0BD0D9"/>
              </a:buClr>
              <a:buSzPts val="2470"/>
              <a:buFont typeface="Calibri"/>
              <a:buAutoNum type="arabicPeriod"/>
            </a:pPr>
            <a:r>
              <a:rPr b="0" i="0" lang="en-US" sz="2600" u="none">
                <a:solidFill>
                  <a:schemeClr val="dk1"/>
                </a:solidFill>
                <a:latin typeface="Constantia"/>
                <a:ea typeface="Constantia"/>
                <a:cs typeface="Constantia"/>
                <a:sym typeface="Constantia"/>
              </a:rPr>
              <a:t>Create a stack in array and linked list implementation that will push 5 characters, display the characters, pop the two characters and display the remaining characters. Save as stackarray.c and stacklist.c</a:t>
            </a:r>
            <a:endParaRPr/>
          </a:p>
          <a:p>
            <a:pPr indent="-514350" lvl="0" marL="514350" marR="0" rtl="0" algn="l">
              <a:lnSpc>
                <a:spcPct val="100000"/>
              </a:lnSpc>
              <a:spcBef>
                <a:spcPts val="520"/>
              </a:spcBef>
              <a:spcAft>
                <a:spcPts val="0"/>
              </a:spcAft>
              <a:buClr>
                <a:srgbClr val="0BD0D9"/>
              </a:buClr>
              <a:buSzPts val="2470"/>
              <a:buFont typeface="Calibri"/>
              <a:buAutoNum type="arabicPeriod"/>
            </a:pPr>
            <a:r>
              <a:rPr b="0" i="0" lang="en-US" sz="2600" u="none">
                <a:solidFill>
                  <a:schemeClr val="dk1"/>
                </a:solidFill>
                <a:latin typeface="Constantia"/>
                <a:ea typeface="Constantia"/>
                <a:cs typeface="Constantia"/>
                <a:sym typeface="Constantia"/>
              </a:rPr>
              <a:t>Create a queue in an array and linked list implementation that will enqueue 5 integers then dequeue 3 integers then display the remaining integers. Save as queuearray.c and queuelist.c</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