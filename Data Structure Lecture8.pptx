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y="6858000" cx="9144000"/>
  <p:notesSz cx="6858000" cy="9144000"/>
  <p:embeddedFontLst>
    <p:embeddedFont>
      <p:font typeface="Constantia"/>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14F18F-D512-4E52-9657-10FCB08322C0}">
  <a:tblStyle styleId="{6614F18F-D512-4E52-9657-10FCB08322C0}" styleName="Table_0">
    <a:wholeTbl>
      <a:tcTxStyle b="off" i="off">
        <a:font>
          <a:latin typeface="Constantia"/>
          <a:ea typeface="Constantia"/>
          <a:cs typeface="Constanti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F5"/>
          </a:solidFill>
        </a:fill>
      </a:tcStyle>
    </a:wholeTbl>
    <a:band1H>
      <a:tcTxStyle/>
      <a:tcStyle>
        <a:fill>
          <a:solidFill>
            <a:srgbClr val="CAD4EA"/>
          </a:solidFill>
        </a:fill>
      </a:tcStyle>
    </a:band1H>
    <a:band2H>
      <a:tcTxStyle/>
    </a:band2H>
    <a:band1V>
      <a:tcTxStyle/>
      <a:tcStyle>
        <a:fill>
          <a:solidFill>
            <a:srgbClr val="CAD4EA"/>
          </a:solidFill>
        </a:fill>
      </a:tcStyle>
    </a:band1V>
    <a:band2V>
      <a:tcTxStyle/>
    </a:band2V>
    <a:lastCol>
      <a:tcTxStyle b="on" i="off">
        <a:font>
          <a:latin typeface="Constantia"/>
          <a:ea typeface="Constantia"/>
          <a:cs typeface="Constantia"/>
        </a:font>
        <a:schemeClr val="lt1"/>
      </a:tcTxStyle>
      <a:tcStyle>
        <a:fill>
          <a:solidFill>
            <a:schemeClr val="accent1"/>
          </a:solidFill>
        </a:fill>
      </a:tcStyle>
    </a:lastCol>
    <a:firstCol>
      <a:tcTxStyle b="on" i="off">
        <a:font>
          <a:latin typeface="Constantia"/>
          <a:ea typeface="Constantia"/>
          <a:cs typeface="Constantia"/>
        </a:font>
        <a:schemeClr val="lt1"/>
      </a:tcTxStyle>
      <a:tcStyle>
        <a:fill>
          <a:solidFill>
            <a:schemeClr val="accent1"/>
          </a:solidFill>
        </a:fill>
      </a:tcStyle>
    </a:firstCol>
    <a:lastRow>
      <a:tcTxStyle b="on" i="off">
        <a:font>
          <a:latin typeface="Constantia"/>
          <a:ea typeface="Constantia"/>
          <a:cs typeface="Constanti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onstantia"/>
          <a:ea typeface="Constantia"/>
          <a:cs typeface="Constanti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onstantia-bold.fntdata"/><Relationship Id="rId20" Type="http://schemas.openxmlformats.org/officeDocument/2006/relationships/slide" Target="slides/slide13.xml"/><Relationship Id="rId42" Type="http://schemas.openxmlformats.org/officeDocument/2006/relationships/font" Target="fonts/Constantia-boldItalic.fntdata"/><Relationship Id="rId41" Type="http://schemas.openxmlformats.org/officeDocument/2006/relationships/font" Target="fonts/Constantia-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Constantia-regular.fntdata"/><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12" name="Google Shape;11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18" name="Google Shape;11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0" name="Google Shape;13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6" name="Google Shape;13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41" name="Google Shape;14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47" name="Google Shape;14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8: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53" name="Google Shape;15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9: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59" name="Google Shape;15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65" name="Google Shape;16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72" name="Google Shape;17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2: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78" name="Google Shape;17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3: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4" name="Google Shape;18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91" name="Google Shape;191;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5: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98" name="Google Shape;19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6: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04" name="Google Shape;20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7: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10" name="Google Shape;21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8: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16" name="Google Shape;21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9: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30" name="Google Shape;23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0: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40" name="Google Shape;24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1: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62" name="Google Shape;26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2: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68" name="Google Shape;26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3: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75" name="Google Shape;275;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4: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81" name="Google Shape;28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5: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88" name="Google Shape;28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6: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95" name="Google Shape;29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02" name="Google Shape;302;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8: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10" name="Google Shape;310;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9: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16" name="Google Shape;316;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0: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22" name="Google Shape;322;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1:notes"/>
          <p:cNvSpPr txBox="1"/>
          <p:nvPr>
            <p:ph idx="1" type="body"/>
          </p:nvPr>
        </p:nvSpPr>
        <p:spPr>
          <a:xfrm>
            <a:off x="685800" y="4343400"/>
            <a:ext cx="5486400" cy="41148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28" name="Google Shape;328;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20" name="Shape 20"/>
        <p:cNvGrpSpPr/>
        <p:nvPr/>
      </p:nvGrpSpPr>
      <p:grpSpPr>
        <a:xfrm>
          <a:off x="0" y="0"/>
          <a:ext cx="0" cy="0"/>
          <a:chOff x="0" y="0"/>
          <a:chExt cx="0" cy="0"/>
        </a:xfrm>
      </p:grpSpPr>
      <p:sp>
        <p:nvSpPr>
          <p:cNvPr id="21" name="Google Shape;21;p2"/>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43" name="Shape 43"/>
        <p:cNvGrpSpPr/>
        <p:nvPr/>
      </p:nvGrpSpPr>
      <p:grpSpPr>
        <a:xfrm>
          <a:off x="0" y="0"/>
          <a:ext cx="0" cy="0"/>
          <a:chOff x="0" y="0"/>
          <a:chExt cx="0" cy="0"/>
        </a:xfrm>
      </p:grpSpPr>
      <p:sp>
        <p:nvSpPr>
          <p:cNvPr id="44" name="Google Shape;44;p5"/>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5"/>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46" name="Google Shape;46;p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49" name="Shape 49"/>
        <p:cNvGrpSpPr/>
        <p:nvPr/>
      </p:nvGrpSpPr>
      <p:grpSpPr>
        <a:xfrm>
          <a:off x="0" y="0"/>
          <a:ext cx="0" cy="0"/>
          <a:chOff x="0" y="0"/>
          <a:chExt cx="0" cy="0"/>
        </a:xfrm>
      </p:grpSpPr>
      <p:sp>
        <p:nvSpPr>
          <p:cNvPr id="50" name="Google Shape;50;p6"/>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 name="Google Shape;52;p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7"/>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8" name="Google Shape;58;p7"/>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 name="Google Shape;59;p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8"/>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5" name="Google Shape;65;p8"/>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6" name="Google Shape;66;p8"/>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7" name="Google Shape;67;p8"/>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8" name="Google Shape;68;p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9"/>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1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11"/>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1"/>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3" name="Google Shape;83;p11"/>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1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7" name="Shape 87"/>
        <p:cNvGrpSpPr/>
        <p:nvPr/>
      </p:nvGrpSpPr>
      <p:grpSpPr>
        <a:xfrm>
          <a:off x="0" y="0"/>
          <a:ext cx="0" cy="0"/>
          <a:chOff x="0" y="0"/>
          <a:chExt cx="0" cy="0"/>
        </a:xfrm>
      </p:grpSpPr>
      <p:sp>
        <p:nvSpPr>
          <p:cNvPr id="88" name="Google Shape;88;p12"/>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89" name="Google Shape;89;p12"/>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0" name="Google Shape;90;p12"/>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2"/>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2" name="Google Shape;92;p1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2"/>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12"/>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txBody>
          <a:bodyPr anchorCtr="0" anchor="t" bIns="45700" lIns="91425" spcFirstLastPara="1" rIns="91425" wrap="square" tIns="45700">
            <a:noAutofit/>
          </a:bodyPr>
          <a:lstStyle>
            <a:lvl1pPr lvl="0" marR="0" rtl="0" algn="l">
              <a:spcBef>
                <a:spcPts val="640"/>
              </a:spcBef>
              <a:spcAft>
                <a:spcPts val="0"/>
              </a:spcAft>
              <a:buClr>
                <a:schemeClr val="accent3"/>
              </a:buClr>
              <a:buSzPts val="3040"/>
              <a:buFont typeface="Noto Sans Symbols"/>
              <a:buNone/>
              <a:defRPr b="0" i="0" sz="3200" u="none" cap="none" strike="noStrike">
                <a:solidFill>
                  <a:schemeClr val="dk1"/>
                </a:solidFill>
                <a:latin typeface="Constantia"/>
                <a:ea typeface="Constantia"/>
                <a:cs typeface="Constantia"/>
                <a:sym typeface="Constantia"/>
              </a:defRPr>
            </a:lvl1pPr>
            <a:lvl2pPr lvl="1"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lvl="2"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lvl="3"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lvl="4"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lvl="5"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lvl="6"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lvl="7"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lvl="8"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96" name="Google Shape;96;p12"/>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 name="Google Shape;97;p12"/>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8" name="Shape 98"/>
        <p:cNvGrpSpPr/>
        <p:nvPr/>
      </p:nvGrpSpPr>
      <p:grpSpPr>
        <a:xfrm>
          <a:off x="0" y="0"/>
          <a:ext cx="0" cy="0"/>
          <a:chOff x="0" y="0"/>
          <a:chExt cx="0" cy="0"/>
        </a:xfrm>
      </p:grpSpPr>
      <p:sp>
        <p:nvSpPr>
          <p:cNvPr id="99" name="Google Shape;99;p1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3"/>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1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4"/>
          <p:cNvSpPr txBox="1"/>
          <p:nvPr>
            <p:ph type="title"/>
          </p:nvPr>
        </p:nvSpPr>
        <p:spPr>
          <a:xfrm rot="5400000">
            <a:off x="5052218" y="2491583"/>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4"/>
          <p:cNvSpPr txBox="1"/>
          <p:nvPr>
            <p:ph idx="1" type="body"/>
          </p:nvPr>
        </p:nvSpPr>
        <p:spPr>
          <a:xfrm rot="5400000">
            <a:off x="861219" y="510383"/>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1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1"/>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1" name="Google Shape;11;p1"/>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2" name="Google Shape;12;p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lt2"/>
              </a:buClr>
              <a:buSzPts val="5000"/>
              <a:buFont typeface="Calibri"/>
              <a:buNone/>
              <a:defRPr b="0" i="0" sz="5000" u="none" cap="none" strike="noStrik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4" name="Google Shape;14;p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5" name="Google Shape;15;p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6" name="Google Shape;16;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D0E9ED"/>
                </a:solidFill>
                <a:latin typeface="Constantia"/>
                <a:ea typeface="Constantia"/>
                <a:cs typeface="Constantia"/>
                <a:sym typeface="Constantia"/>
              </a:defRPr>
            </a:lvl1pPr>
            <a:lvl2pPr indent="0" lvl="1" marL="0" marR="0" rtl="0" algn="r">
              <a:spcBef>
                <a:spcPts val="0"/>
              </a:spcBef>
              <a:buNone/>
              <a:defRPr b="0" i="0" sz="1200" u="none" cap="none" strike="noStrike">
                <a:solidFill>
                  <a:srgbClr val="D0E9ED"/>
                </a:solidFill>
                <a:latin typeface="Constantia"/>
                <a:ea typeface="Constantia"/>
                <a:cs typeface="Constantia"/>
                <a:sym typeface="Constantia"/>
              </a:defRPr>
            </a:lvl2pPr>
            <a:lvl3pPr indent="0" lvl="2" marL="0" marR="0" rtl="0" algn="r">
              <a:spcBef>
                <a:spcPts val="0"/>
              </a:spcBef>
              <a:buNone/>
              <a:defRPr b="0" i="0" sz="1200" u="none" cap="none" strike="noStrike">
                <a:solidFill>
                  <a:srgbClr val="D0E9ED"/>
                </a:solidFill>
                <a:latin typeface="Constantia"/>
                <a:ea typeface="Constantia"/>
                <a:cs typeface="Constantia"/>
                <a:sym typeface="Constantia"/>
              </a:defRPr>
            </a:lvl3pPr>
            <a:lvl4pPr indent="0" lvl="3" marL="0" marR="0" rtl="0" algn="r">
              <a:spcBef>
                <a:spcPts val="0"/>
              </a:spcBef>
              <a:buNone/>
              <a:defRPr b="0" i="0" sz="1200" u="none" cap="none" strike="noStrike">
                <a:solidFill>
                  <a:srgbClr val="D0E9ED"/>
                </a:solidFill>
                <a:latin typeface="Constantia"/>
                <a:ea typeface="Constantia"/>
                <a:cs typeface="Constantia"/>
                <a:sym typeface="Constantia"/>
              </a:defRPr>
            </a:lvl4pPr>
            <a:lvl5pPr indent="0" lvl="4" marL="0" marR="0" rtl="0" algn="r">
              <a:spcBef>
                <a:spcPts val="0"/>
              </a:spcBef>
              <a:buNone/>
              <a:defRPr b="0" i="0" sz="1200" u="none" cap="none" strike="noStrike">
                <a:solidFill>
                  <a:srgbClr val="D0E9ED"/>
                </a:solidFill>
                <a:latin typeface="Constantia"/>
                <a:ea typeface="Constantia"/>
                <a:cs typeface="Constantia"/>
                <a:sym typeface="Constantia"/>
              </a:defRPr>
            </a:lvl5pPr>
            <a:lvl6pPr indent="0" lvl="5" marL="0" marR="0" rtl="0" algn="r">
              <a:spcBef>
                <a:spcPts val="0"/>
              </a:spcBef>
              <a:buNone/>
              <a:defRPr b="0" i="0" sz="1200" u="none" cap="none" strike="noStrike">
                <a:solidFill>
                  <a:srgbClr val="D0E9ED"/>
                </a:solidFill>
                <a:latin typeface="Constantia"/>
                <a:ea typeface="Constantia"/>
                <a:cs typeface="Constantia"/>
                <a:sym typeface="Constantia"/>
              </a:defRPr>
            </a:lvl6pPr>
            <a:lvl7pPr indent="0" lvl="6" marL="0" marR="0" rtl="0" algn="r">
              <a:spcBef>
                <a:spcPts val="0"/>
              </a:spcBef>
              <a:buNone/>
              <a:defRPr b="0" i="0" sz="1200" u="none" cap="none" strike="noStrike">
                <a:solidFill>
                  <a:srgbClr val="D0E9ED"/>
                </a:solidFill>
                <a:latin typeface="Constantia"/>
                <a:ea typeface="Constantia"/>
                <a:cs typeface="Constantia"/>
                <a:sym typeface="Constantia"/>
              </a:defRPr>
            </a:lvl7pPr>
            <a:lvl8pPr indent="0" lvl="7" marL="0" marR="0" rtl="0" algn="r">
              <a:spcBef>
                <a:spcPts val="0"/>
              </a:spcBef>
              <a:buNone/>
              <a:defRPr b="0" i="0" sz="1200" u="none" cap="none" strike="noStrike">
                <a:solidFill>
                  <a:srgbClr val="D0E9ED"/>
                </a:solidFill>
                <a:latin typeface="Constantia"/>
                <a:ea typeface="Constantia"/>
                <a:cs typeface="Constantia"/>
                <a:sym typeface="Constantia"/>
              </a:defRPr>
            </a:lvl8pPr>
            <a:lvl9pPr indent="0" lvl="8" marL="0" marR="0" rtl="0" algn="r">
              <a:spcBef>
                <a:spcPts val="0"/>
              </a:spcBef>
              <a:buNone/>
              <a:defRPr b="0" i="0" sz="1200" u="none" cap="none" strike="noStrike">
                <a:solidFill>
                  <a:srgbClr val="D0E9ED"/>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17" name="Google Shape;17;p1"/>
          <p:cNvGrpSpPr/>
          <p:nvPr/>
        </p:nvGrpSpPr>
        <p:grpSpPr>
          <a:xfrm>
            <a:off x="-29294" y="-16113"/>
            <a:ext cx="9198255" cy="1086266"/>
            <a:chOff x="-29322" y="-1971"/>
            <a:chExt cx="9198255" cy="1086266"/>
          </a:xfrm>
        </p:grpSpPr>
        <p:sp>
          <p:nvSpPr>
            <p:cNvPr id="18" name="Google Shape;18;p1"/>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9" name="Google Shape;19;p1"/>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26" name="Shape 26"/>
        <p:cNvGrpSpPr/>
        <p:nvPr/>
      </p:nvGrpSpPr>
      <p:grpSpPr>
        <a:xfrm>
          <a:off x="0" y="0"/>
          <a:ext cx="0" cy="0"/>
          <a:chOff x="0" y="0"/>
          <a:chExt cx="0" cy="0"/>
        </a:xfrm>
      </p:grpSpPr>
      <p:sp>
        <p:nvSpPr>
          <p:cNvPr id="27" name="Google Shape;27;p3"/>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 name="Google Shape;28;p3"/>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9" name="Google Shape;29;p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2" name="Google Shape;32;p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3" name="Google Shape;33;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sz="1200" u="none">
                <a:solidFill>
                  <a:srgbClr val="035C75"/>
                </a:solidFill>
                <a:latin typeface="Constantia"/>
                <a:ea typeface="Constantia"/>
                <a:cs typeface="Constantia"/>
                <a:sym typeface="Constantia"/>
              </a:defRPr>
            </a:lvl1pPr>
            <a:lvl2pPr indent="0" lvl="1" marL="0" marR="0" rtl="0" algn="r">
              <a:spcBef>
                <a:spcPts val="0"/>
              </a:spcBef>
              <a:buNone/>
              <a:defRPr b="0" sz="1200" u="none">
                <a:solidFill>
                  <a:srgbClr val="035C75"/>
                </a:solidFill>
                <a:latin typeface="Constantia"/>
                <a:ea typeface="Constantia"/>
                <a:cs typeface="Constantia"/>
                <a:sym typeface="Constantia"/>
              </a:defRPr>
            </a:lvl2pPr>
            <a:lvl3pPr indent="0" lvl="2" marL="0" marR="0" rtl="0" algn="r">
              <a:spcBef>
                <a:spcPts val="0"/>
              </a:spcBef>
              <a:buNone/>
              <a:defRPr b="0" sz="1200" u="none">
                <a:solidFill>
                  <a:srgbClr val="035C75"/>
                </a:solidFill>
                <a:latin typeface="Constantia"/>
                <a:ea typeface="Constantia"/>
                <a:cs typeface="Constantia"/>
                <a:sym typeface="Constantia"/>
              </a:defRPr>
            </a:lvl3pPr>
            <a:lvl4pPr indent="0" lvl="3" marL="0" marR="0" rtl="0" algn="r">
              <a:spcBef>
                <a:spcPts val="0"/>
              </a:spcBef>
              <a:buNone/>
              <a:defRPr b="0" sz="1200" u="none">
                <a:solidFill>
                  <a:srgbClr val="035C75"/>
                </a:solidFill>
                <a:latin typeface="Constantia"/>
                <a:ea typeface="Constantia"/>
                <a:cs typeface="Constantia"/>
                <a:sym typeface="Constantia"/>
              </a:defRPr>
            </a:lvl4pPr>
            <a:lvl5pPr indent="0" lvl="4" marL="0" marR="0" rtl="0" algn="r">
              <a:spcBef>
                <a:spcPts val="0"/>
              </a:spcBef>
              <a:buNone/>
              <a:defRPr b="0" sz="1200" u="none">
                <a:solidFill>
                  <a:srgbClr val="035C75"/>
                </a:solidFill>
                <a:latin typeface="Constantia"/>
                <a:ea typeface="Constantia"/>
                <a:cs typeface="Constantia"/>
                <a:sym typeface="Constantia"/>
              </a:defRPr>
            </a:lvl5pPr>
            <a:lvl6pPr indent="0" lvl="5" marL="0" marR="0" rtl="0" algn="r">
              <a:spcBef>
                <a:spcPts val="0"/>
              </a:spcBef>
              <a:buNone/>
              <a:defRPr b="0" sz="1200" u="none">
                <a:solidFill>
                  <a:srgbClr val="035C75"/>
                </a:solidFill>
                <a:latin typeface="Constantia"/>
                <a:ea typeface="Constantia"/>
                <a:cs typeface="Constantia"/>
                <a:sym typeface="Constantia"/>
              </a:defRPr>
            </a:lvl6pPr>
            <a:lvl7pPr indent="0" lvl="6" marL="0" marR="0" rtl="0" algn="r">
              <a:spcBef>
                <a:spcPts val="0"/>
              </a:spcBef>
              <a:buNone/>
              <a:defRPr b="0" sz="1200" u="none">
                <a:solidFill>
                  <a:srgbClr val="035C75"/>
                </a:solidFill>
                <a:latin typeface="Constantia"/>
                <a:ea typeface="Constantia"/>
                <a:cs typeface="Constantia"/>
                <a:sym typeface="Constantia"/>
              </a:defRPr>
            </a:lvl7pPr>
            <a:lvl8pPr indent="0" lvl="7" marL="0" marR="0" rtl="0" algn="r">
              <a:spcBef>
                <a:spcPts val="0"/>
              </a:spcBef>
              <a:buNone/>
              <a:defRPr b="0" sz="1200" u="none">
                <a:solidFill>
                  <a:srgbClr val="035C75"/>
                </a:solidFill>
                <a:latin typeface="Constantia"/>
                <a:ea typeface="Constantia"/>
                <a:cs typeface="Constantia"/>
                <a:sym typeface="Constantia"/>
              </a:defRPr>
            </a:lvl8pPr>
            <a:lvl9pPr indent="0" lvl="8" marL="0" marR="0" rtl="0" algn="r">
              <a:spcBef>
                <a:spcPts val="0"/>
              </a:spcBef>
              <a:buNone/>
              <a:defRPr b="0" sz="1200" u="non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4" name="Google Shape;34;p3"/>
          <p:cNvGrpSpPr/>
          <p:nvPr/>
        </p:nvGrpSpPr>
        <p:grpSpPr>
          <a:xfrm>
            <a:off x="-29294" y="-16113"/>
            <a:ext cx="9198255" cy="1086266"/>
            <a:chOff x="-29322" y="-1971"/>
            <a:chExt cx="9198255" cy="1086266"/>
          </a:xfrm>
        </p:grpSpPr>
        <p:sp>
          <p:nvSpPr>
            <p:cNvPr id="35" name="Google Shape;35;p3"/>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 name="Google Shape;36;p3"/>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5"/>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p>
            <a:pPr indent="0" lvl="0" marL="0" rtl="0" algn="r">
              <a:spcBef>
                <a:spcPts val="0"/>
              </a:spcBef>
              <a:spcAft>
                <a:spcPts val="0"/>
              </a:spcAft>
              <a:buClr>
                <a:srgbClr val="4CE0EA"/>
              </a:buClr>
              <a:buSzPts val="5600"/>
              <a:buFont typeface="Calibri"/>
              <a:buNone/>
            </a:pPr>
            <a:r>
              <a:rPr lang="en-US"/>
              <a:t>Dynamic Memory Allocation, Linked List</a:t>
            </a:r>
            <a:endParaRPr/>
          </a:p>
        </p:txBody>
      </p:sp>
      <p:sp>
        <p:nvSpPr>
          <p:cNvPr id="115" name="Google Shape;115;p15"/>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p>
            <a:pPr indent="0" lvl="0" marL="0" marR="45720" rtl="0" algn="r">
              <a:spcBef>
                <a:spcPts val="0"/>
              </a:spcBef>
              <a:spcAft>
                <a:spcPts val="0"/>
              </a:spcAft>
              <a:buSzPts val="247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Dynamic Memory Allocation</a:t>
            </a:r>
            <a:endParaRPr/>
          </a:p>
        </p:txBody>
      </p:sp>
      <p:sp>
        <p:nvSpPr>
          <p:cNvPr id="121" name="Google Shape;121;p1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Dynamic memory allocation allows a program to obtain more memory space, while running or to release space when no space is required.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b="1" lang="en-US"/>
              <a:t>Stack and Heap</a:t>
            </a:r>
            <a:br>
              <a:rPr b="1" lang="en-US"/>
            </a:br>
            <a:endParaRPr/>
          </a:p>
        </p:txBody>
      </p:sp>
      <p:sp>
        <p:nvSpPr>
          <p:cNvPr id="127" name="Google Shape;127;p17"/>
          <p:cNvSpPr txBox="1"/>
          <p:nvPr>
            <p:ph idx="1" type="body"/>
          </p:nvPr>
        </p:nvSpPr>
        <p:spPr>
          <a:xfrm>
            <a:off x="457200" y="1295400"/>
            <a:ext cx="8229600" cy="5105400"/>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spcBef>
                <a:spcPts val="0"/>
              </a:spcBef>
              <a:spcAft>
                <a:spcPts val="0"/>
              </a:spcAft>
              <a:buSzPct val="95000"/>
              <a:buChar char="⚫"/>
            </a:pPr>
            <a:r>
              <a:rPr lang="en-US"/>
              <a:t>Using a combination of RAM and virtual memory, all software programs use their own area of memory called the </a:t>
            </a:r>
            <a:r>
              <a:rPr i="1" lang="en-US"/>
              <a:t>stack. Every time a function is called in a program, the function’s variables </a:t>
            </a:r>
            <a:r>
              <a:rPr lang="en-US"/>
              <a:t>and parameters are pushed onto the program’s memory stack and then pushed off or “popped” when the function has completed or returned.</a:t>
            </a:r>
            <a:endParaRPr/>
          </a:p>
          <a:p>
            <a:pPr indent="-274320" lvl="0" marL="274320" rtl="0" algn="l">
              <a:spcBef>
                <a:spcPts val="442"/>
              </a:spcBef>
              <a:spcAft>
                <a:spcPts val="0"/>
              </a:spcAft>
              <a:buSzPct val="95000"/>
              <a:buChar char="⚫"/>
            </a:pPr>
            <a:r>
              <a:rPr lang="en-US"/>
              <a:t>After software programs have terminated, memory is returned for reuse for other software and system programs. Moreover, the operating system is responsible for managing this realm of unallocated memory, known as the </a:t>
            </a:r>
            <a:r>
              <a:rPr i="1" lang="en-US"/>
              <a:t>heap.</a:t>
            </a:r>
            <a:endParaRPr/>
          </a:p>
          <a:p>
            <a:pPr indent="-274320" lvl="0" marL="274320" rtl="0" algn="l">
              <a:spcBef>
                <a:spcPts val="442"/>
              </a:spcBef>
              <a:spcAft>
                <a:spcPts val="0"/>
              </a:spcAft>
              <a:buSzPct val="95000"/>
              <a:buChar char="⚫"/>
            </a:pPr>
            <a:r>
              <a:rPr lang="en-US"/>
              <a:t>Once a program frees memory, it is returned back to the heap for further use by the same program or other programs.</a:t>
            </a:r>
            <a:endParaRPr/>
          </a:p>
          <a:p>
            <a:pPr indent="-274320" lvl="0" marL="274320" rtl="0" algn="l">
              <a:spcBef>
                <a:spcPts val="442"/>
              </a:spcBef>
              <a:spcAft>
                <a:spcPts val="0"/>
              </a:spcAft>
              <a:buSzPct val="95000"/>
              <a:buChar char="⚫"/>
            </a:pPr>
            <a:r>
              <a:rPr lang="en-US"/>
              <a:t>In a nutshell, memory allocating functions and the heap are extremely important to C programmers because they allow you to control a program’s memory consumption and allocation. The remainder of this chapter will show you how to retrieve and return memory to and from the heap.</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8"/>
          <p:cNvSpPr txBox="1"/>
          <p:nvPr>
            <p:ph type="title"/>
          </p:nvPr>
        </p:nvSpPr>
        <p:spPr>
          <a:xfrm>
            <a:off x="1143000" y="876300"/>
            <a:ext cx="7772400" cy="6096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Memory Allocation</a:t>
            </a:r>
            <a:endParaRPr/>
          </a:p>
        </p:txBody>
      </p:sp>
      <p:sp>
        <p:nvSpPr>
          <p:cNvPr id="133" name="Google Shape;133;p1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280"/>
              <a:buChar char="⚫"/>
            </a:pPr>
            <a:r>
              <a:rPr lang="en-US" sz="2400">
                <a:solidFill>
                  <a:schemeClr val="dk2"/>
                </a:solidFill>
              </a:rPr>
              <a:t>Stack memory allocation</a:t>
            </a:r>
            <a:endParaRPr/>
          </a:p>
          <a:p>
            <a:pPr indent="-274320" lvl="0" marL="274320" rtl="0" algn="l">
              <a:lnSpc>
                <a:spcPct val="90000"/>
              </a:lnSpc>
              <a:spcBef>
                <a:spcPts val="480"/>
              </a:spcBef>
              <a:spcAft>
                <a:spcPts val="0"/>
              </a:spcAft>
              <a:buSzPts val="2280"/>
              <a:buFont typeface="Noto Sans Symbols"/>
              <a:buNone/>
            </a:pPr>
            <a:r>
              <a:rPr lang="en-US" sz="2400"/>
              <a:t>	Non-static local variable is an example of stack memory allocation.  </a:t>
            </a:r>
            <a:endParaRPr/>
          </a:p>
          <a:p>
            <a:pPr indent="-274320" lvl="0" marL="274320" rtl="0" algn="l">
              <a:lnSpc>
                <a:spcPct val="90000"/>
              </a:lnSpc>
              <a:spcBef>
                <a:spcPts val="480"/>
              </a:spcBef>
              <a:spcAft>
                <a:spcPts val="0"/>
              </a:spcAft>
              <a:buSzPts val="2280"/>
              <a:buFont typeface="Noto Sans Symbols"/>
              <a:buNone/>
            </a:pPr>
            <a:r>
              <a:rPr lang="en-US" sz="2400"/>
              <a:t>	Such memory allocations are placed in a system memory area called the </a:t>
            </a:r>
            <a:r>
              <a:rPr i="1" lang="en-US" sz="2400">
                <a:solidFill>
                  <a:schemeClr val="dk2"/>
                </a:solidFill>
              </a:rPr>
              <a:t>stack</a:t>
            </a:r>
            <a:r>
              <a:rPr lang="en-US" sz="2400"/>
              <a:t>. </a:t>
            </a:r>
            <a:endParaRPr/>
          </a:p>
          <a:p>
            <a:pPr indent="-274320" lvl="0" marL="274320" rtl="0" algn="l">
              <a:lnSpc>
                <a:spcPct val="90000"/>
              </a:lnSpc>
              <a:spcBef>
                <a:spcPts val="480"/>
              </a:spcBef>
              <a:spcAft>
                <a:spcPts val="0"/>
              </a:spcAft>
              <a:buSzPts val="2280"/>
              <a:buFont typeface="Noto Sans Symbols"/>
              <a:buNone/>
            </a:pPr>
            <a:r>
              <a:t/>
            </a:r>
            <a:endParaRPr sz="2400"/>
          </a:p>
          <a:p>
            <a:pPr indent="-274320" lvl="0" marL="274320" rtl="0" algn="l">
              <a:lnSpc>
                <a:spcPct val="90000"/>
              </a:lnSpc>
              <a:spcBef>
                <a:spcPts val="480"/>
              </a:spcBef>
              <a:spcAft>
                <a:spcPts val="0"/>
              </a:spcAft>
              <a:buSzPts val="2280"/>
              <a:buChar char="⚫"/>
            </a:pPr>
            <a:r>
              <a:rPr lang="en-US" sz="2400">
                <a:solidFill>
                  <a:schemeClr val="dk2"/>
                </a:solidFill>
              </a:rPr>
              <a:t>Static memory allocation</a:t>
            </a:r>
            <a:endParaRPr/>
          </a:p>
          <a:p>
            <a:pPr indent="-274320" lvl="0" marL="274320" rtl="0" algn="l">
              <a:lnSpc>
                <a:spcPct val="90000"/>
              </a:lnSpc>
              <a:spcBef>
                <a:spcPts val="480"/>
              </a:spcBef>
              <a:spcAft>
                <a:spcPts val="0"/>
              </a:spcAft>
              <a:buSzPts val="2280"/>
              <a:buFont typeface="Noto Sans Symbols"/>
              <a:buNone/>
            </a:pPr>
            <a:r>
              <a:rPr lang="en-US" sz="2400"/>
              <a:t>	Static local variable and global variable require static  memory allocation. Static memory allocation happens before the program starts, and </a:t>
            </a:r>
            <a:r>
              <a:rPr lang="en-US" sz="2400">
                <a:solidFill>
                  <a:srgbClr val="FF0000"/>
                </a:solidFill>
              </a:rPr>
              <a:t>persists</a:t>
            </a:r>
            <a:r>
              <a:rPr lang="en-US" sz="2400"/>
              <a:t> through the entire life time of the program.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idx="1" type="body"/>
          </p:nvPr>
        </p:nvSpPr>
        <p:spPr>
          <a:xfrm>
            <a:off x="685800" y="685800"/>
            <a:ext cx="7772400" cy="54102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280"/>
              <a:buChar char="⚫"/>
            </a:pPr>
            <a:r>
              <a:rPr lang="en-US" sz="2400">
                <a:solidFill>
                  <a:schemeClr val="dk2"/>
                </a:solidFill>
              </a:rPr>
              <a:t>Dynamic memory allocation</a:t>
            </a:r>
            <a:endParaRPr/>
          </a:p>
          <a:p>
            <a:pPr indent="-274320" lvl="0" marL="274320" rtl="0" algn="l">
              <a:spcBef>
                <a:spcPts val="480"/>
              </a:spcBef>
              <a:spcAft>
                <a:spcPts val="0"/>
              </a:spcAft>
              <a:buSzPts val="2280"/>
              <a:buFont typeface="Noto Sans Symbols"/>
              <a:buNone/>
            </a:pPr>
            <a:r>
              <a:rPr lang="en-US" sz="2400"/>
              <a:t>	It allows the program determine how much memory it needs </a:t>
            </a:r>
            <a:r>
              <a:rPr i="1" lang="en-US" sz="2400"/>
              <a:t>at </a:t>
            </a:r>
            <a:r>
              <a:rPr i="1" lang="en-US" sz="2400">
                <a:solidFill>
                  <a:srgbClr val="FF0000"/>
                </a:solidFill>
              </a:rPr>
              <a:t>run time</a:t>
            </a:r>
            <a:r>
              <a:rPr i="1" lang="en-US" sz="2400"/>
              <a:t>,</a:t>
            </a:r>
            <a:r>
              <a:rPr lang="en-US" sz="2400"/>
              <a:t> and allocate exactly the right amount of storage.</a:t>
            </a:r>
            <a:endParaRPr/>
          </a:p>
          <a:p>
            <a:pPr indent="-274320" lvl="0" marL="274320" rtl="0" algn="l">
              <a:spcBef>
                <a:spcPts val="480"/>
              </a:spcBef>
              <a:spcAft>
                <a:spcPts val="0"/>
              </a:spcAft>
              <a:buSzPts val="2280"/>
              <a:buFont typeface="Noto Sans Symbols"/>
              <a:buNone/>
            </a:pPr>
            <a:r>
              <a:t/>
            </a:r>
            <a:endParaRPr sz="2400"/>
          </a:p>
          <a:p>
            <a:pPr indent="-274320" lvl="0" marL="274320" rtl="0" algn="l">
              <a:spcBef>
                <a:spcPts val="480"/>
              </a:spcBef>
              <a:spcAft>
                <a:spcPts val="0"/>
              </a:spcAft>
              <a:buSzPts val="2280"/>
              <a:buFont typeface="Noto Sans Symbols"/>
              <a:buNone/>
            </a:pPr>
            <a:r>
              <a:rPr lang="en-US" sz="2400"/>
              <a:t>	The region of memory where dynamic allocation and deallocation of memory can take place is called the </a:t>
            </a:r>
            <a:r>
              <a:rPr lang="en-US" sz="2400">
                <a:solidFill>
                  <a:schemeClr val="dk2"/>
                </a:solidFill>
              </a:rPr>
              <a:t>heap</a:t>
            </a:r>
            <a:r>
              <a:rPr lang="en-US" sz="2400"/>
              <a:t>.</a:t>
            </a:r>
            <a:endParaRPr/>
          </a:p>
          <a:p>
            <a:pPr indent="-274320" lvl="0" marL="274320" rtl="0" algn="l">
              <a:spcBef>
                <a:spcPts val="480"/>
              </a:spcBef>
              <a:spcAft>
                <a:spcPts val="0"/>
              </a:spcAft>
              <a:buSzPts val="2280"/>
              <a:buFont typeface="Noto Sans Symbols"/>
              <a:buNone/>
            </a:pPr>
            <a:r>
              <a:t/>
            </a:r>
            <a:endParaRPr sz="2400"/>
          </a:p>
          <a:p>
            <a:pPr indent="-274320" lvl="0" marL="274320" rtl="0" algn="l">
              <a:spcBef>
                <a:spcPts val="480"/>
              </a:spcBef>
              <a:spcAft>
                <a:spcPts val="0"/>
              </a:spcAft>
              <a:buSzPts val="2280"/>
              <a:buFont typeface="Noto Sans Symbols"/>
              <a:buNone/>
            </a:pPr>
            <a:r>
              <a:rPr lang="en-US" sz="2400"/>
              <a:t>	</a:t>
            </a:r>
            <a:r>
              <a:rPr lang="en-US" sz="2400">
                <a:solidFill>
                  <a:schemeClr val="dk2"/>
                </a:solidFill>
              </a:rPr>
              <a:t>Note</a:t>
            </a:r>
            <a:r>
              <a:rPr lang="en-US" sz="2400"/>
              <a:t>: the program has the responsibility to free the dynamic memory it allocated. </a:t>
            </a:r>
            <a:endParaRPr/>
          </a:p>
          <a:p>
            <a:pPr indent="-274320" lvl="0" marL="274320" rtl="0" algn="l">
              <a:spcBef>
                <a:spcPts val="480"/>
              </a:spcBef>
              <a:spcAft>
                <a:spcPts val="0"/>
              </a:spcAft>
              <a:buSzPts val="2280"/>
              <a:buFont typeface="Noto Sans Symbols"/>
              <a:buNone/>
            </a:pPr>
            <a:r>
              <a:rPr lang="en-US" sz="2400"/>
              <a:t>	</a:t>
            </a:r>
            <a:endParaRPr/>
          </a:p>
          <a:p>
            <a:pPr indent="-274320" lvl="0" marL="274320" rtl="0" algn="l">
              <a:spcBef>
                <a:spcPts val="480"/>
              </a:spcBef>
              <a:spcAft>
                <a:spcPts val="0"/>
              </a:spcAft>
              <a:buSzPts val="2280"/>
              <a:buFont typeface="Noto Sans Symbols"/>
              <a:buNone/>
            </a:pPr>
            <a:r>
              <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0"/>
          <p:cNvSpPr txBox="1"/>
          <p:nvPr>
            <p:ph type="title"/>
          </p:nvPr>
        </p:nvSpPr>
        <p:spPr>
          <a:xfrm>
            <a:off x="1066800" y="152400"/>
            <a:ext cx="77724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Memory arrangement</a:t>
            </a:r>
            <a:endParaRPr/>
          </a:p>
        </p:txBody>
      </p:sp>
      <p:pic>
        <p:nvPicPr>
          <p:cNvPr id="144" name="Google Shape;144;p20"/>
          <p:cNvPicPr preferRelativeResize="0"/>
          <p:nvPr>
            <p:ph idx="1" type="body"/>
          </p:nvPr>
        </p:nvPicPr>
        <p:blipFill rotWithShape="1">
          <a:blip r:embed="rId3">
            <a:alphaModFix/>
          </a:blip>
          <a:srcRect b="0" l="0" r="0" t="0"/>
          <a:stretch/>
        </p:blipFill>
        <p:spPr>
          <a:xfrm>
            <a:off x="2057400" y="1295400"/>
            <a:ext cx="5562600" cy="498316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b="1" lang="en-US"/>
              <a:t>sizeof()</a:t>
            </a:r>
            <a:endParaRPr/>
          </a:p>
        </p:txBody>
      </p:sp>
      <p:sp>
        <p:nvSpPr>
          <p:cNvPr id="150" name="Google Shape;150;p2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The sizeof operator takes a variable name or data type as an argument and returns the number of bytes required to store the data in memory.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ph type="title"/>
          </p:nvPr>
        </p:nvSpPr>
        <p:spPr>
          <a:xfrm>
            <a:off x="457200" y="29260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b="1" lang="en-US"/>
              <a:t>malloc()</a:t>
            </a:r>
            <a:endParaRPr b="1"/>
          </a:p>
        </p:txBody>
      </p:sp>
      <p:sp>
        <p:nvSpPr>
          <p:cNvPr id="156" name="Google Shape;156;p22"/>
          <p:cNvSpPr txBox="1"/>
          <p:nvPr>
            <p:ph idx="1" type="body"/>
          </p:nvPr>
        </p:nvSpPr>
        <p:spPr>
          <a:xfrm>
            <a:off x="457200" y="1524000"/>
            <a:ext cx="8229600" cy="4389120"/>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spcBef>
                <a:spcPts val="0"/>
              </a:spcBef>
              <a:spcAft>
                <a:spcPts val="0"/>
              </a:spcAft>
              <a:buSzPct val="95000"/>
              <a:buChar char="⚫"/>
            </a:pPr>
            <a:r>
              <a:rPr lang="en-US"/>
              <a:t>Sometimes it is impossible to know exactly how much memory your program will need for a given function. Fixed-sized arrays may not be large enough to hold the amount of data you are requesting to store.</a:t>
            </a:r>
            <a:endParaRPr/>
          </a:p>
          <a:p>
            <a:pPr indent="-274320" lvl="0" marL="274320" rtl="0" algn="l">
              <a:spcBef>
                <a:spcPts val="442"/>
              </a:spcBef>
              <a:spcAft>
                <a:spcPts val="0"/>
              </a:spcAft>
              <a:buSzPct val="95000"/>
              <a:buChar char="⚫"/>
            </a:pPr>
            <a:r>
              <a:rPr lang="en-US"/>
              <a:t>C provides a few functions for creating dynamic memory, one of which is the malloc() function. The malloc() function is part of the standard library &lt;stdlib.h&gt; and takes a number as an argument. When executed, malloc() attempts to retrieve designated memory segments from the heap and returns a pointer that is the starting point for the memory reserved. The function malloc() reserves a block of memory of specified size and return a pointer of type void which can be casted into pointer of any form.</a:t>
            </a:r>
            <a:endParaRPr/>
          </a:p>
          <a:p>
            <a:pPr indent="-274320" lvl="0" marL="274320" rtl="0" algn="l">
              <a:spcBef>
                <a:spcPts val="442"/>
              </a:spcBef>
              <a:spcAft>
                <a:spcPts val="0"/>
              </a:spcAft>
              <a:buSzPct val="95000"/>
              <a:buChar char="⚫"/>
            </a:pPr>
            <a:r>
              <a:rPr lang="en-US"/>
              <a:t>Syntax of malloc:</a:t>
            </a:r>
            <a:endParaRPr/>
          </a:p>
          <a:p>
            <a:pPr indent="-246888" lvl="1" marL="640080" rtl="0" algn="l">
              <a:spcBef>
                <a:spcPts val="408"/>
              </a:spcBef>
              <a:spcAft>
                <a:spcPts val="0"/>
              </a:spcAft>
              <a:buSzPct val="85000"/>
              <a:buNone/>
            </a:pPr>
            <a:r>
              <a:rPr lang="en-US">
                <a:latin typeface="Courier New"/>
                <a:ea typeface="Courier New"/>
                <a:cs typeface="Courier New"/>
                <a:sym typeface="Courier New"/>
              </a:rPr>
              <a:t>ptr=(cast-type*)malloc(byte-size)</a:t>
            </a:r>
            <a:endParaRPr/>
          </a:p>
          <a:p>
            <a:pPr indent="-141001" lvl="0" marL="274320" rtl="0" algn="l">
              <a:spcBef>
                <a:spcPts val="442"/>
              </a:spcBef>
              <a:spcAft>
                <a:spcPts val="0"/>
              </a:spcAft>
              <a:buSzPct val="95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162" name="Google Shape;162;p2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spcBef>
                <a:spcPts val="0"/>
              </a:spcBef>
              <a:spcAft>
                <a:spcPts val="0"/>
              </a:spcAft>
              <a:buSzPct val="95000"/>
              <a:buNone/>
            </a:pPr>
            <a:r>
              <a:rPr lang="en-US">
                <a:latin typeface="Courier New"/>
                <a:ea typeface="Courier New"/>
                <a:cs typeface="Courier New"/>
                <a:sym typeface="Courier New"/>
              </a:rPr>
              <a:t>#include &lt;stdio.h&gt;</a:t>
            </a:r>
            <a:endParaRPr/>
          </a:p>
          <a:p>
            <a:pPr indent="-274320" lvl="0" marL="274320" rtl="0" algn="l">
              <a:spcBef>
                <a:spcPts val="442"/>
              </a:spcBef>
              <a:spcAft>
                <a:spcPts val="0"/>
              </a:spcAft>
              <a:buSzPct val="95000"/>
              <a:buNone/>
            </a:pPr>
            <a:r>
              <a:rPr lang="en-US">
                <a:latin typeface="Courier New"/>
                <a:ea typeface="Courier New"/>
                <a:cs typeface="Courier New"/>
                <a:sym typeface="Courier New"/>
              </a:rPr>
              <a:t>#include &lt;stdlib.h&gt;</a:t>
            </a:r>
            <a:endParaRPr/>
          </a:p>
          <a:p>
            <a:pPr indent="-274320" lvl="0" marL="274320" rtl="0" algn="l">
              <a:spcBef>
                <a:spcPts val="442"/>
              </a:spcBef>
              <a:spcAft>
                <a:spcPts val="0"/>
              </a:spcAft>
              <a:buSzPct val="95000"/>
              <a:buNone/>
            </a:pPr>
            <a:r>
              <a:rPr lang="en-US">
                <a:latin typeface="Courier New"/>
                <a:ea typeface="Courier New"/>
                <a:cs typeface="Courier New"/>
                <a:sym typeface="Courier New"/>
              </a:rPr>
              <a:t>void main()</a:t>
            </a:r>
            <a:endParaRPr/>
          </a:p>
          <a:p>
            <a:pPr indent="-274320" lvl="0" marL="274320" rtl="0" algn="l">
              <a:spcBef>
                <a:spcPts val="442"/>
              </a:spcBef>
              <a:spcAft>
                <a:spcPts val="0"/>
              </a:spcAft>
              <a:buSzPct val="95000"/>
              <a:buNone/>
            </a:pPr>
            <a:r>
              <a:rPr lang="en-US">
                <a:latin typeface="Courier New"/>
                <a:ea typeface="Courier New"/>
                <a:cs typeface="Courier New"/>
                <a:sym typeface="Courier New"/>
              </a:rPr>
              <a:t>{</a:t>
            </a:r>
            <a:endParaRPr/>
          </a:p>
          <a:p>
            <a:pPr indent="-274320" lvl="0" marL="274320" rtl="0" algn="l">
              <a:spcBef>
                <a:spcPts val="442"/>
              </a:spcBef>
              <a:spcAft>
                <a:spcPts val="0"/>
              </a:spcAft>
              <a:buSzPct val="95000"/>
              <a:buNone/>
            </a:pPr>
            <a:r>
              <a:rPr lang="en-US">
                <a:latin typeface="Courier New"/>
                <a:ea typeface="Courier New"/>
                <a:cs typeface="Courier New"/>
                <a:sym typeface="Courier New"/>
              </a:rPr>
              <a:t>    char *name;</a:t>
            </a:r>
            <a:endParaRPr/>
          </a:p>
          <a:p>
            <a:pPr indent="-274320" lvl="0" marL="274320" rtl="0" algn="l">
              <a:spcBef>
                <a:spcPts val="442"/>
              </a:spcBef>
              <a:spcAft>
                <a:spcPts val="0"/>
              </a:spcAft>
              <a:buSzPct val="95000"/>
              <a:buNone/>
            </a:pPr>
            <a:r>
              <a:rPr lang="en-US">
                <a:latin typeface="Courier New"/>
                <a:ea typeface="Courier New"/>
                <a:cs typeface="Courier New"/>
                <a:sym typeface="Courier New"/>
              </a:rPr>
              <a:t>    name = (char *) malloc(80 * sizeof(char));</a:t>
            </a:r>
            <a:endParaRPr/>
          </a:p>
          <a:p>
            <a:pPr indent="-274320" lvl="0" marL="274320" rtl="0" algn="l">
              <a:spcBef>
                <a:spcPts val="442"/>
              </a:spcBef>
              <a:spcAft>
                <a:spcPts val="0"/>
              </a:spcAft>
              <a:buSzPct val="95000"/>
              <a:buNone/>
            </a:pPr>
            <a:r>
              <a:t/>
            </a:r>
            <a:endParaRPr>
              <a:latin typeface="Courier New"/>
              <a:ea typeface="Courier New"/>
              <a:cs typeface="Courier New"/>
              <a:sym typeface="Courier New"/>
            </a:endParaRPr>
          </a:p>
          <a:p>
            <a:pPr indent="-274320" lvl="0" marL="274320" rtl="0" algn="l">
              <a:spcBef>
                <a:spcPts val="442"/>
              </a:spcBef>
              <a:spcAft>
                <a:spcPts val="0"/>
              </a:spcAft>
              <a:buSzPct val="95000"/>
              <a:buNone/>
            </a:pPr>
            <a:r>
              <a:rPr lang="en-US">
                <a:latin typeface="Courier New"/>
                <a:ea typeface="Courier New"/>
                <a:cs typeface="Courier New"/>
                <a:sym typeface="Courier New"/>
              </a:rPr>
              <a:t>    if ( name == NULL )</a:t>
            </a:r>
            <a:endParaRPr/>
          </a:p>
          <a:p>
            <a:pPr indent="-274320" lvl="0" marL="274320" rtl="0" algn="l">
              <a:spcBef>
                <a:spcPts val="442"/>
              </a:spcBef>
              <a:spcAft>
                <a:spcPts val="0"/>
              </a:spcAft>
              <a:buSzPct val="95000"/>
              <a:buNone/>
            </a:pPr>
            <a:r>
              <a:rPr lang="en-US">
                <a:latin typeface="Courier New"/>
                <a:ea typeface="Courier New"/>
                <a:cs typeface="Courier New"/>
                <a:sym typeface="Courier New"/>
              </a:rPr>
              <a:t>        printf("\nOut of memory!\n");</a:t>
            </a:r>
            <a:endParaRPr/>
          </a:p>
          <a:p>
            <a:pPr indent="-274320" lvl="0" marL="274320" rtl="0" algn="l">
              <a:spcBef>
                <a:spcPts val="442"/>
              </a:spcBef>
              <a:spcAft>
                <a:spcPts val="0"/>
              </a:spcAft>
              <a:buSzPct val="95000"/>
              <a:buNone/>
            </a:pPr>
            <a:r>
              <a:rPr lang="en-US">
                <a:latin typeface="Courier New"/>
                <a:ea typeface="Courier New"/>
                <a:cs typeface="Courier New"/>
                <a:sym typeface="Courier New"/>
              </a:rPr>
              <a:t>    else</a:t>
            </a:r>
            <a:endParaRPr/>
          </a:p>
          <a:p>
            <a:pPr indent="-274320" lvl="0" marL="274320" rtl="0" algn="l">
              <a:spcBef>
                <a:spcPts val="442"/>
              </a:spcBef>
              <a:spcAft>
                <a:spcPts val="0"/>
              </a:spcAft>
              <a:buSzPct val="95000"/>
              <a:buNone/>
            </a:pPr>
            <a:r>
              <a:rPr lang="en-US">
                <a:latin typeface="Courier New"/>
                <a:ea typeface="Courier New"/>
                <a:cs typeface="Courier New"/>
                <a:sym typeface="Courier New"/>
              </a:rPr>
              <a:t>        printf("\nMemory allocated.\n");</a:t>
            </a:r>
            <a:endParaRPr/>
          </a:p>
          <a:p>
            <a:pPr indent="-274320" lvl="0" marL="274320" rtl="0" algn="l">
              <a:spcBef>
                <a:spcPts val="442"/>
              </a:spcBef>
              <a:spcAft>
                <a:spcPts val="0"/>
              </a:spcAft>
              <a:buSzPct val="95000"/>
              <a:buNone/>
            </a:pPr>
            <a:r>
              <a:rPr lang="en-US">
                <a:latin typeface="Courier New"/>
                <a:ea typeface="Courier New"/>
                <a:cs typeface="Courier New"/>
                <a:sym typeface="Courier New"/>
              </a:rPr>
              <a:t>} //end main</a:t>
            </a:r>
            <a:endParaRPr>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168" name="Google Shape;168;p24"/>
          <p:cNvSpPr txBox="1"/>
          <p:nvPr>
            <p:ph idx="1" type="body"/>
          </p:nvPr>
        </p:nvSpPr>
        <p:spPr>
          <a:xfrm>
            <a:off x="152400" y="1981200"/>
            <a:ext cx="8229600" cy="4389120"/>
          </a:xfrm>
          <a:prstGeom prst="rect">
            <a:avLst/>
          </a:prstGeom>
          <a:noFill/>
          <a:ln>
            <a:noFill/>
          </a:ln>
        </p:spPr>
        <p:txBody>
          <a:bodyPr anchorCtr="0" anchor="t" bIns="45700" lIns="91425" spcFirstLastPara="1" rIns="91425" wrap="square" tIns="45700">
            <a:normAutofit fontScale="47500" lnSpcReduction="20000"/>
          </a:bodyPr>
          <a:lstStyle/>
          <a:p>
            <a:pPr indent="-274320" lvl="0" marL="274320" rtl="0" algn="l">
              <a:spcBef>
                <a:spcPts val="0"/>
              </a:spcBef>
              <a:spcAft>
                <a:spcPts val="0"/>
              </a:spcAft>
              <a:buSzPct val="95000"/>
              <a:buNone/>
            </a:pPr>
            <a:r>
              <a:rPr lang="en-US">
                <a:latin typeface="Courier New"/>
                <a:ea typeface="Courier New"/>
                <a:cs typeface="Courier New"/>
                <a:sym typeface="Courier New"/>
              </a:rPr>
              <a:t>#include &lt;stdio.h&gt;</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#include &lt;stdlib.h&gt;</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int main(){</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int n,i,*ptr,sum=0;</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printf("Enter number of elements: ");</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scanf("%d",&amp;n);</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ptr=(int*)malloc(n*sizeof(int));  //memory allocated using malloc</a:t>
            </a:r>
            <a:endParaRPr>
              <a:latin typeface="Courier New"/>
              <a:ea typeface="Courier New"/>
              <a:cs typeface="Courier New"/>
              <a:sym typeface="Courier New"/>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if(ptr==NULL)                     </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printf("Error! memory not allocated.");</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exit(0);</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printf("Enter elements of array: ");</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for(i=0;i&lt;n;++i)</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scanf("%d",ptr+i);</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sum+=*(ptr+i);</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printf("Sum=%d",sum);</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free(ptr);</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return 0;</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a:t>
            </a:r>
            <a:endParaRPr/>
          </a:p>
          <a:p>
            <a:pPr indent="-274320" lvl="0" marL="274320" rtl="0" algn="l">
              <a:spcBef>
                <a:spcPts val="247"/>
              </a:spcBef>
              <a:spcAft>
                <a:spcPts val="0"/>
              </a:spcAft>
              <a:buSzPct val="95000"/>
              <a:buNone/>
            </a:pPr>
            <a:r>
              <a:t/>
            </a:r>
            <a:endParaRPr>
              <a:latin typeface="Courier New"/>
              <a:ea typeface="Courier New"/>
              <a:cs typeface="Courier New"/>
              <a:sym typeface="Courier New"/>
            </a:endParaRPr>
          </a:p>
        </p:txBody>
      </p:sp>
      <p:pic>
        <p:nvPicPr>
          <p:cNvPr descr="malloc.gif" id="169" name="Google Shape;169;p24"/>
          <p:cNvPicPr preferRelativeResize="0"/>
          <p:nvPr/>
        </p:nvPicPr>
        <p:blipFill rotWithShape="1">
          <a:blip r:embed="rId3">
            <a:alphaModFix/>
          </a:blip>
          <a:srcRect b="0" l="0" r="0" t="0"/>
          <a:stretch/>
        </p:blipFill>
        <p:spPr>
          <a:xfrm>
            <a:off x="5181600" y="1219200"/>
            <a:ext cx="3781425" cy="5229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b="1" lang="en-US"/>
              <a:t>Freeing Memory</a:t>
            </a:r>
            <a:endParaRPr/>
          </a:p>
        </p:txBody>
      </p:sp>
      <p:sp>
        <p:nvSpPr>
          <p:cNvPr id="175" name="Google Shape;175;p2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470"/>
              <a:buChar char="⚫"/>
            </a:pPr>
            <a:r>
              <a:rPr lang="en-US"/>
              <a:t>Good programming practice dictates that you free memory after using it. For this reason, the C standard library offers the free() function, which takes a pointer as an argument and frees the memory the pointer refers to. This allows your system to reuse the memory for other software applications or other malloc() function calls,</a:t>
            </a:r>
            <a:endParaRPr/>
          </a:p>
          <a:p>
            <a:pPr indent="-274320" lvl="0" marL="274320" rtl="0" algn="just">
              <a:spcBef>
                <a:spcPts val="520"/>
              </a:spcBef>
              <a:spcAft>
                <a:spcPts val="0"/>
              </a:spcAft>
              <a:buSzPts val="2470"/>
              <a:buChar char="⚫"/>
            </a:pPr>
            <a:r>
              <a:rPr lang="en-US"/>
              <a:t>Syntax:</a:t>
            </a:r>
            <a:endParaRPr/>
          </a:p>
          <a:p>
            <a:pPr indent="-274320" lvl="0" marL="274320" rtl="0" algn="just">
              <a:spcBef>
                <a:spcPts val="520"/>
              </a:spcBef>
              <a:spcAft>
                <a:spcPts val="0"/>
              </a:spcAft>
              <a:buSzPts val="2470"/>
              <a:buNone/>
            </a:pPr>
            <a:r>
              <a:rPr lang="en-US">
                <a:latin typeface="Courier New"/>
                <a:ea typeface="Courier New"/>
                <a:cs typeface="Courier New"/>
                <a:sym typeface="Courier New"/>
              </a:rPr>
              <a:t>	free(ptr);</a:t>
            </a:r>
            <a:endParaRPr>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181" name="Google Shape;181;p26"/>
          <p:cNvSpPr txBox="1"/>
          <p:nvPr>
            <p:ph idx="1" type="body"/>
          </p:nvPr>
        </p:nvSpPr>
        <p:spPr>
          <a:xfrm>
            <a:off x="228600" y="1981200"/>
            <a:ext cx="8229600" cy="4389120"/>
          </a:xfrm>
          <a:prstGeom prst="rect">
            <a:avLst/>
          </a:prstGeom>
          <a:noFill/>
          <a:ln>
            <a:noFill/>
          </a:ln>
        </p:spPr>
        <p:txBody>
          <a:bodyPr anchorCtr="0" anchor="t" bIns="45700" lIns="91425" spcFirstLastPara="1" rIns="91425" wrap="square" tIns="45700">
            <a:normAutofit fontScale="47500" lnSpcReduction="20000"/>
          </a:bodyPr>
          <a:lstStyle/>
          <a:p>
            <a:pPr indent="-274320" lvl="0" marL="274320" rtl="0" algn="l">
              <a:spcBef>
                <a:spcPts val="0"/>
              </a:spcBef>
              <a:spcAft>
                <a:spcPts val="0"/>
              </a:spcAft>
              <a:buSzPct val="95000"/>
              <a:buNone/>
            </a:pPr>
            <a:r>
              <a:rPr lang="en-US">
                <a:latin typeface="Courier New"/>
                <a:ea typeface="Courier New"/>
                <a:cs typeface="Courier New"/>
                <a:sym typeface="Courier New"/>
              </a:rPr>
              <a:t>#include&lt;stdio.h&gt;</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#include&lt;stdlib.h&gt;</a:t>
            </a:r>
            <a:endParaRPr/>
          </a:p>
          <a:p>
            <a:pPr indent="-274320" lvl="0" marL="274320" rtl="0" algn="l">
              <a:spcBef>
                <a:spcPts val="247"/>
              </a:spcBef>
              <a:spcAft>
                <a:spcPts val="0"/>
              </a:spcAft>
              <a:buSzPct val="95000"/>
              <a:buNone/>
            </a:pPr>
            <a:r>
              <a:t/>
            </a:r>
            <a:endParaRPr>
              <a:latin typeface="Courier New"/>
              <a:ea typeface="Courier New"/>
              <a:cs typeface="Courier New"/>
              <a:sym typeface="Courier New"/>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int main()</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int *ptr_one;</a:t>
            </a:r>
            <a:endParaRPr/>
          </a:p>
          <a:p>
            <a:pPr indent="-274320" lvl="0" marL="274320" rtl="0" algn="l">
              <a:spcBef>
                <a:spcPts val="247"/>
              </a:spcBef>
              <a:spcAft>
                <a:spcPts val="0"/>
              </a:spcAft>
              <a:buSzPct val="95000"/>
              <a:buNone/>
            </a:pPr>
            <a:r>
              <a:t/>
            </a:r>
            <a:endParaRPr>
              <a:latin typeface="Courier New"/>
              <a:ea typeface="Courier New"/>
              <a:cs typeface="Courier New"/>
              <a:sym typeface="Courier New"/>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ptr_one = (int *)malloc(sizeof(int));</a:t>
            </a:r>
            <a:endParaRPr/>
          </a:p>
          <a:p>
            <a:pPr indent="-274320" lvl="0" marL="274320" rtl="0" algn="l">
              <a:spcBef>
                <a:spcPts val="247"/>
              </a:spcBef>
              <a:spcAft>
                <a:spcPts val="0"/>
              </a:spcAft>
              <a:buSzPct val="95000"/>
              <a:buNone/>
            </a:pPr>
            <a:r>
              <a:t/>
            </a:r>
            <a:endParaRPr>
              <a:latin typeface="Courier New"/>
              <a:ea typeface="Courier New"/>
              <a:cs typeface="Courier New"/>
              <a:sym typeface="Courier New"/>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if (ptr_one == 0)</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printf("ERROR: Out of memory\n");</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return 1;</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a:t>
            </a:r>
            <a:endParaRPr/>
          </a:p>
          <a:p>
            <a:pPr indent="-274320" lvl="0" marL="274320" rtl="0" algn="l">
              <a:spcBef>
                <a:spcPts val="247"/>
              </a:spcBef>
              <a:spcAft>
                <a:spcPts val="0"/>
              </a:spcAft>
              <a:buSzPct val="95000"/>
              <a:buNone/>
            </a:pPr>
            <a:r>
              <a:t/>
            </a:r>
            <a:endParaRPr>
              <a:latin typeface="Courier New"/>
              <a:ea typeface="Courier New"/>
              <a:cs typeface="Courier New"/>
              <a:sym typeface="Courier New"/>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*ptr_one = 0;</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printf("%d\n", *ptr_one);</a:t>
            </a:r>
            <a:endParaRPr/>
          </a:p>
          <a:p>
            <a:pPr indent="-274320" lvl="0" marL="274320" rtl="0" algn="l">
              <a:spcBef>
                <a:spcPts val="247"/>
              </a:spcBef>
              <a:spcAft>
                <a:spcPts val="0"/>
              </a:spcAft>
              <a:buSzPct val="95000"/>
              <a:buNone/>
            </a:pPr>
            <a:r>
              <a:t/>
            </a:r>
            <a:endParaRPr>
              <a:latin typeface="Courier New"/>
              <a:ea typeface="Courier New"/>
              <a:cs typeface="Courier New"/>
              <a:sym typeface="Courier New"/>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free(ptr_one);</a:t>
            </a:r>
            <a:endParaRPr/>
          </a:p>
          <a:p>
            <a:pPr indent="-274320" lvl="0" marL="274320" rtl="0" algn="l">
              <a:spcBef>
                <a:spcPts val="247"/>
              </a:spcBef>
              <a:spcAft>
                <a:spcPts val="0"/>
              </a:spcAft>
              <a:buSzPct val="95000"/>
              <a:buNone/>
            </a:pPr>
            <a:r>
              <a:t/>
            </a:r>
            <a:endParaRPr>
              <a:latin typeface="Courier New"/>
              <a:ea typeface="Courier New"/>
              <a:cs typeface="Courier New"/>
              <a:sym typeface="Courier New"/>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return 0;</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a:t>
            </a:r>
            <a:endParaRPr/>
          </a:p>
          <a:p>
            <a:pPr indent="-274320" lvl="0" marL="274320" rtl="0" algn="l">
              <a:spcBef>
                <a:spcPts val="247"/>
              </a:spcBef>
              <a:spcAft>
                <a:spcPts val="0"/>
              </a:spcAft>
              <a:buSzPct val="95000"/>
              <a:buNone/>
            </a:pPr>
            <a:r>
              <a:t/>
            </a:r>
            <a:endParaRPr>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b="1" lang="en-US"/>
              <a:t>calloc( )</a:t>
            </a:r>
            <a:endParaRPr b="1"/>
          </a:p>
        </p:txBody>
      </p:sp>
      <p:sp>
        <p:nvSpPr>
          <p:cNvPr id="187" name="Google Shape;187;p2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Another memory allocating tool is the C standard library &lt;stdlib.h&gt; function calloc(). Likethe malloc() function, the calloc() function attempts to grab contiguous segments of memory from the heap. </a:t>
            </a:r>
            <a:endParaRPr/>
          </a:p>
          <a:p>
            <a:pPr indent="-274320" lvl="0" marL="274320" rtl="0" algn="l">
              <a:spcBef>
                <a:spcPts val="520"/>
              </a:spcBef>
              <a:spcAft>
                <a:spcPts val="0"/>
              </a:spcAft>
              <a:buSzPts val="2470"/>
              <a:buChar char="⚫"/>
            </a:pPr>
            <a:r>
              <a:rPr lang="en-US"/>
              <a:t>The calloc() function takes two arguments: the first determines the number of memory segments needed and the second is the size of the data type.</a:t>
            </a:r>
            <a:endParaRPr/>
          </a:p>
          <a:p>
            <a:pPr indent="-274320" lvl="0" marL="274320" rtl="0" algn="l">
              <a:spcBef>
                <a:spcPts val="520"/>
              </a:spcBef>
              <a:spcAft>
                <a:spcPts val="0"/>
              </a:spcAft>
              <a:buSzPts val="2470"/>
              <a:buChar char="⚫"/>
            </a:pPr>
            <a:r>
              <a:rPr lang="en-US"/>
              <a:t>Syntax of calloc()</a:t>
            </a:r>
            <a:endParaRPr/>
          </a:p>
          <a:p>
            <a:pPr indent="-246888" lvl="1" marL="640080" rtl="0" algn="l">
              <a:spcBef>
                <a:spcPts val="480"/>
              </a:spcBef>
              <a:spcAft>
                <a:spcPts val="0"/>
              </a:spcAft>
              <a:buSzPts val="2040"/>
              <a:buNone/>
            </a:pPr>
            <a:r>
              <a:rPr lang="en-US">
                <a:latin typeface="Courier New"/>
                <a:ea typeface="Courier New"/>
                <a:cs typeface="Courier New"/>
                <a:sym typeface="Courier New"/>
              </a:rPr>
              <a:t>ptr=(cast-type*)calloc(n,element-size</a:t>
            </a:r>
            <a:r>
              <a:rPr lang="en-US"/>
              <a: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194" name="Google Shape;194;p2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47500" lnSpcReduction="20000"/>
          </a:bodyPr>
          <a:lstStyle/>
          <a:p>
            <a:pPr indent="-274320" lvl="0" marL="274320" rtl="0" algn="l">
              <a:spcBef>
                <a:spcPts val="0"/>
              </a:spcBef>
              <a:spcAft>
                <a:spcPts val="0"/>
              </a:spcAft>
              <a:buSzPct val="95000"/>
              <a:buNone/>
            </a:pPr>
            <a:r>
              <a:rPr lang="en-US">
                <a:latin typeface="Courier New"/>
                <a:ea typeface="Courier New"/>
                <a:cs typeface="Courier New"/>
                <a:sym typeface="Courier New"/>
              </a:rPr>
              <a:t>#include &lt;stdio.h&gt;</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#include &lt;stdlib.h&gt;</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int main(){</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int n,i,*ptr,sum=0;</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printf("Enter number of elements: ");</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scanf("%d",&amp;n);</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ptr=(int*)calloc(n,sizeof(int));</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if(ptr==NULL)</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printf("Error! memory not allocated.");</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exit(0);</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printf("Enter elements of array: ");</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for(i=0;i&lt;n;++i)</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scanf("%d",ptr+i);</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sum+=*(ptr+i);</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printf("Sum=%d",sum);</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free(ptr);</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return 0;</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a:t>
            </a:r>
            <a:endParaRPr>
              <a:latin typeface="Courier New"/>
              <a:ea typeface="Courier New"/>
              <a:cs typeface="Courier New"/>
              <a:sym typeface="Courier New"/>
            </a:endParaRPr>
          </a:p>
        </p:txBody>
      </p:sp>
      <p:pic>
        <p:nvPicPr>
          <p:cNvPr descr="calloc.gif" id="195" name="Google Shape;195;p28"/>
          <p:cNvPicPr preferRelativeResize="0"/>
          <p:nvPr/>
        </p:nvPicPr>
        <p:blipFill rotWithShape="1">
          <a:blip r:embed="rId3">
            <a:alphaModFix/>
          </a:blip>
          <a:srcRect b="0" l="0" r="0" t="0"/>
          <a:stretch/>
        </p:blipFill>
        <p:spPr>
          <a:xfrm>
            <a:off x="4953000" y="990600"/>
            <a:ext cx="3781425" cy="5229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b="1" lang="en-US"/>
              <a:t>realloc( )</a:t>
            </a:r>
            <a:endParaRPr b="1"/>
          </a:p>
        </p:txBody>
      </p:sp>
      <p:sp>
        <p:nvSpPr>
          <p:cNvPr id="201" name="Google Shape;201;p2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the realloc() function provides a way to expand contiguous blocks of memory while preserving the original contents.</a:t>
            </a:r>
            <a:endParaRPr/>
          </a:p>
          <a:p>
            <a:pPr indent="-274320" lvl="0" marL="274320" rtl="0" algn="l">
              <a:spcBef>
                <a:spcPts val="520"/>
              </a:spcBef>
              <a:spcAft>
                <a:spcPts val="0"/>
              </a:spcAft>
              <a:buSzPts val="2470"/>
              <a:buChar char="⚫"/>
            </a:pPr>
            <a:r>
              <a:rPr lang="en-US"/>
              <a:t>Syntax:</a:t>
            </a:r>
            <a:endParaRPr/>
          </a:p>
          <a:p>
            <a:pPr indent="-274320" lvl="0" marL="274320" rtl="0" algn="l">
              <a:spcBef>
                <a:spcPts val="520"/>
              </a:spcBef>
              <a:spcAft>
                <a:spcPts val="0"/>
              </a:spcAft>
              <a:buSzPts val="2470"/>
              <a:buNone/>
            </a:pPr>
            <a:r>
              <a:rPr lang="en-US">
                <a:latin typeface="Courier New"/>
                <a:ea typeface="Courier New"/>
                <a:cs typeface="Courier New"/>
                <a:sym typeface="Courier New"/>
              </a:rPr>
              <a:t>	ptr=realloc(ptr,newsize);</a:t>
            </a:r>
            <a:endParaRPr>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Linked Design</a:t>
            </a:r>
            <a:endParaRPr/>
          </a:p>
        </p:txBody>
      </p:sp>
      <p:sp>
        <p:nvSpPr>
          <p:cNvPr id="207" name="Google Shape;207;p3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It the type of ADT Design that is used when we need to manipulate dynamic structures which change in size and shape at run time.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Linked List</a:t>
            </a:r>
            <a:endParaRPr/>
          </a:p>
        </p:txBody>
      </p:sp>
      <p:sp>
        <p:nvSpPr>
          <p:cNvPr id="213" name="Google Shape;213;p3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It is a type of data structure consisting of group of nodes which together represent a sequence. It consists of a series of structures, which are not necessarily adjacent in memory. Central to this representation is the concept of a node, a field and a pointer.</a:t>
            </a:r>
            <a:endParaRPr/>
          </a:p>
          <a:p>
            <a:pPr indent="-274320" lvl="0" marL="274320" rtl="0" algn="l">
              <a:spcBef>
                <a:spcPts val="520"/>
              </a:spcBef>
              <a:spcAft>
                <a:spcPts val="0"/>
              </a:spcAft>
              <a:buSzPts val="2470"/>
              <a:buChar char="⚫"/>
            </a:pPr>
            <a:r>
              <a:rPr lang="en-US"/>
              <a:t>The implementing construct for the linked list is the node.</a:t>
            </a:r>
            <a:endParaRPr/>
          </a:p>
          <a:p>
            <a:pPr indent="-274320"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Linked List</a:t>
            </a:r>
            <a:endParaRPr/>
          </a:p>
        </p:txBody>
      </p:sp>
      <p:sp>
        <p:nvSpPr>
          <p:cNvPr id="219" name="Google Shape;219;p32"/>
          <p:cNvSpPr txBox="1"/>
          <p:nvPr>
            <p:ph idx="1" type="body"/>
          </p:nvPr>
        </p:nvSpPr>
        <p:spPr>
          <a:xfrm>
            <a:off x="457200" y="1600201"/>
            <a:ext cx="8229600" cy="1524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Node – it is an addressable unit of memory which consists of named segments called </a:t>
            </a:r>
            <a:r>
              <a:rPr i="1" lang="en-US"/>
              <a:t>fields.</a:t>
            </a:r>
            <a:endParaRPr/>
          </a:p>
        </p:txBody>
      </p:sp>
      <p:graphicFrame>
        <p:nvGraphicFramePr>
          <p:cNvPr id="220" name="Google Shape;220;p32"/>
          <p:cNvGraphicFramePr/>
          <p:nvPr/>
        </p:nvGraphicFramePr>
        <p:xfrm>
          <a:off x="1676400" y="3505200"/>
          <a:ext cx="3000000" cy="3000000"/>
        </p:xfrm>
        <a:graphic>
          <a:graphicData uri="http://schemas.openxmlformats.org/drawingml/2006/table">
            <a:tbl>
              <a:tblPr bandRow="1" firstRow="1">
                <a:noFill/>
                <a:tableStyleId>{6614F18F-D512-4E52-9657-10FCB08322C0}</a:tableStyleId>
              </a:tblPr>
              <a:tblGrid>
                <a:gridCol w="1219200"/>
                <a:gridCol w="1219200"/>
                <a:gridCol w="1219200"/>
                <a:gridCol w="1219200"/>
                <a:gridCol w="1219200"/>
              </a:tblGrid>
              <a:tr h="762000">
                <a:tc>
                  <a:txBody>
                    <a:bodyPr/>
                    <a:lstStyle/>
                    <a:p>
                      <a:pPr indent="0" lvl="0" marL="0" marR="0" rtl="0" algn="ctr">
                        <a:spcBef>
                          <a:spcPts val="0"/>
                        </a:spcBef>
                        <a:spcAft>
                          <a:spcPts val="0"/>
                        </a:spcAft>
                        <a:buNone/>
                      </a:pPr>
                      <a:r>
                        <a:rPr lang="en-US" sz="1800" u="none" cap="none" strike="noStrike"/>
                        <a:t>val 1</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Constantia"/>
                        <a:buNone/>
                      </a:pPr>
                      <a:r>
                        <a:t/>
                      </a:r>
                      <a:endParaRPr sz="1800" u="none" cap="none" strike="noStrike"/>
                    </a:p>
                    <a:p>
                      <a:pPr indent="0" lvl="0" marL="0" marR="0" rtl="0" algn="ctr">
                        <a:lnSpc>
                          <a:spcPct val="100000"/>
                        </a:lnSpc>
                        <a:spcBef>
                          <a:spcPts val="0"/>
                        </a:spcBef>
                        <a:spcAft>
                          <a:spcPts val="0"/>
                        </a:spcAft>
                        <a:buClr>
                          <a:schemeClr val="dk1"/>
                        </a:buClr>
                        <a:buSzPts val="1800"/>
                        <a:buFont typeface="Constantia"/>
                        <a:buNone/>
                      </a:pPr>
                      <a:r>
                        <a:rPr lang="en-US" sz="1800" u="none" cap="none" strike="noStrike"/>
                        <a:t>val 2</a:t>
                      </a:r>
                      <a:endParaRPr/>
                    </a:p>
                    <a:p>
                      <a:pPr indent="0" lvl="0" marL="0" marR="0" rtl="0" algn="ctr">
                        <a:spcBef>
                          <a:spcPts val="0"/>
                        </a:spcBef>
                        <a:spcAft>
                          <a:spcPts val="0"/>
                        </a:spcAft>
                        <a:buNone/>
                      </a:pPr>
                      <a:r>
                        <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Constantia"/>
                        <a:buNone/>
                      </a:pPr>
                      <a:r>
                        <a:t/>
                      </a:r>
                      <a:endParaRPr sz="1800" u="none" cap="none" strike="noStrike"/>
                    </a:p>
                    <a:p>
                      <a:pPr indent="0" lvl="0" marL="0" marR="0" rtl="0" algn="ctr">
                        <a:lnSpc>
                          <a:spcPct val="100000"/>
                        </a:lnSpc>
                        <a:spcBef>
                          <a:spcPts val="0"/>
                        </a:spcBef>
                        <a:spcAft>
                          <a:spcPts val="0"/>
                        </a:spcAft>
                        <a:buClr>
                          <a:schemeClr val="dk1"/>
                        </a:buClr>
                        <a:buSzPts val="1800"/>
                        <a:buFont typeface="Constantia"/>
                        <a:buNone/>
                      </a:pPr>
                      <a:r>
                        <a:rPr lang="en-US" sz="1800" u="none" cap="none" strike="noStrike"/>
                        <a:t>val 3</a:t>
                      </a:r>
                      <a:endParaRPr/>
                    </a:p>
                    <a:p>
                      <a:pPr indent="0" lvl="0" marL="0" marR="0" rtl="0" algn="ctr">
                        <a:spcBef>
                          <a:spcPts val="0"/>
                        </a:spcBef>
                        <a:spcAft>
                          <a:spcPts val="0"/>
                        </a:spcAft>
                        <a:buNone/>
                      </a:pPr>
                      <a:r>
                        <a:t/>
                      </a:r>
                      <a:endParaRPr sz="1800" u="none" cap="none" strike="noStrike"/>
                    </a:p>
                  </a:txBody>
                  <a:tcPr marT="45725" marB="45725" marR="91450" marL="91450" anchor="ctr"/>
                </a:tc>
                <a:tc>
                  <a:txBody>
                    <a:bodyPr/>
                    <a:lstStyle/>
                    <a:p>
                      <a:pPr indent="0" lvl="0" marL="0" marR="0" rtl="0" algn="ctr">
                        <a:spcBef>
                          <a:spcPts val="0"/>
                        </a:spcBef>
                        <a:spcAft>
                          <a:spcPts val="0"/>
                        </a:spcAft>
                        <a:buNone/>
                      </a:pPr>
                      <a:r>
                        <a:rPr lang="en-US" sz="1800" u="none" cap="none" strike="noStrike"/>
                        <a:t>. . .</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800"/>
                        <a:buFont typeface="Constantia"/>
                        <a:buNone/>
                      </a:pPr>
                      <a:r>
                        <a:t/>
                      </a:r>
                      <a:endParaRPr sz="1800" u="none" cap="none" strike="noStrike"/>
                    </a:p>
                    <a:p>
                      <a:pPr indent="0" lvl="0" marL="0" marR="0" rtl="0" algn="ctr">
                        <a:lnSpc>
                          <a:spcPct val="100000"/>
                        </a:lnSpc>
                        <a:spcBef>
                          <a:spcPts val="0"/>
                        </a:spcBef>
                        <a:spcAft>
                          <a:spcPts val="0"/>
                        </a:spcAft>
                        <a:buClr>
                          <a:schemeClr val="dk1"/>
                        </a:buClr>
                        <a:buSzPts val="1800"/>
                        <a:buFont typeface="Constantia"/>
                        <a:buNone/>
                      </a:pPr>
                      <a:r>
                        <a:rPr lang="en-US" sz="1800" u="none" cap="none" strike="noStrike"/>
                        <a:t>val _</a:t>
                      </a:r>
                      <a:endParaRPr/>
                    </a:p>
                    <a:p>
                      <a:pPr indent="0" lvl="0" marL="0" marR="0" rtl="0" algn="ctr">
                        <a:spcBef>
                          <a:spcPts val="0"/>
                        </a:spcBef>
                        <a:spcAft>
                          <a:spcPts val="0"/>
                        </a:spcAft>
                        <a:buNone/>
                      </a:pPr>
                      <a:r>
                        <a:t/>
                      </a:r>
                      <a:endParaRPr sz="1800" u="none" cap="none" strike="noStrike"/>
                    </a:p>
                  </a:txBody>
                  <a:tcPr marT="45725" marB="45725" marR="91450" marL="91450" anchor="ctr"/>
                </a:tc>
              </a:tr>
            </a:tbl>
          </a:graphicData>
        </a:graphic>
      </p:graphicFrame>
      <p:sp>
        <p:nvSpPr>
          <p:cNvPr id="221" name="Google Shape;221;p32"/>
          <p:cNvSpPr txBox="1"/>
          <p:nvPr/>
        </p:nvSpPr>
        <p:spPr>
          <a:xfrm>
            <a:off x="1981200" y="3124200"/>
            <a:ext cx="6096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onstantia"/>
                <a:ea typeface="Constantia"/>
                <a:cs typeface="Constantia"/>
                <a:sym typeface="Constantia"/>
              </a:rPr>
              <a:t>fn1</a:t>
            </a:r>
            <a:endParaRPr sz="2000">
              <a:solidFill>
                <a:schemeClr val="dk1"/>
              </a:solidFill>
              <a:latin typeface="Constantia"/>
              <a:ea typeface="Constantia"/>
              <a:cs typeface="Constantia"/>
              <a:sym typeface="Constantia"/>
            </a:endParaRPr>
          </a:p>
        </p:txBody>
      </p:sp>
      <p:sp>
        <p:nvSpPr>
          <p:cNvPr id="222" name="Google Shape;222;p32"/>
          <p:cNvSpPr txBox="1"/>
          <p:nvPr/>
        </p:nvSpPr>
        <p:spPr>
          <a:xfrm>
            <a:off x="4419600" y="3123716"/>
            <a:ext cx="6096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onstantia"/>
                <a:ea typeface="Constantia"/>
                <a:cs typeface="Constantia"/>
                <a:sym typeface="Constantia"/>
              </a:rPr>
              <a:t>fn3</a:t>
            </a:r>
            <a:endParaRPr sz="2000">
              <a:solidFill>
                <a:schemeClr val="dk1"/>
              </a:solidFill>
              <a:latin typeface="Constantia"/>
              <a:ea typeface="Constantia"/>
              <a:cs typeface="Constantia"/>
              <a:sym typeface="Constantia"/>
            </a:endParaRPr>
          </a:p>
        </p:txBody>
      </p:sp>
      <p:sp>
        <p:nvSpPr>
          <p:cNvPr id="223" name="Google Shape;223;p32"/>
          <p:cNvSpPr txBox="1"/>
          <p:nvPr/>
        </p:nvSpPr>
        <p:spPr>
          <a:xfrm>
            <a:off x="3276600" y="3124200"/>
            <a:ext cx="6096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onstantia"/>
                <a:ea typeface="Constantia"/>
                <a:cs typeface="Constantia"/>
                <a:sym typeface="Constantia"/>
              </a:rPr>
              <a:t>fn2</a:t>
            </a:r>
            <a:endParaRPr sz="2000">
              <a:solidFill>
                <a:schemeClr val="dk1"/>
              </a:solidFill>
              <a:latin typeface="Constantia"/>
              <a:ea typeface="Constantia"/>
              <a:cs typeface="Constantia"/>
              <a:sym typeface="Constantia"/>
            </a:endParaRPr>
          </a:p>
        </p:txBody>
      </p:sp>
      <p:sp>
        <p:nvSpPr>
          <p:cNvPr id="224" name="Google Shape;224;p32"/>
          <p:cNvSpPr txBox="1"/>
          <p:nvPr/>
        </p:nvSpPr>
        <p:spPr>
          <a:xfrm>
            <a:off x="5638800" y="3124200"/>
            <a:ext cx="6096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onstantia"/>
                <a:ea typeface="Constantia"/>
                <a:cs typeface="Constantia"/>
                <a:sym typeface="Constantia"/>
              </a:rPr>
              <a:t>. . .</a:t>
            </a:r>
            <a:endParaRPr sz="2000">
              <a:solidFill>
                <a:schemeClr val="dk1"/>
              </a:solidFill>
              <a:latin typeface="Constantia"/>
              <a:ea typeface="Constantia"/>
              <a:cs typeface="Constantia"/>
              <a:sym typeface="Constantia"/>
            </a:endParaRPr>
          </a:p>
        </p:txBody>
      </p:sp>
      <p:sp>
        <p:nvSpPr>
          <p:cNvPr id="225" name="Google Shape;225;p32"/>
          <p:cNvSpPr txBox="1"/>
          <p:nvPr/>
        </p:nvSpPr>
        <p:spPr>
          <a:xfrm>
            <a:off x="6858000" y="3108960"/>
            <a:ext cx="6096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onstantia"/>
                <a:ea typeface="Constantia"/>
                <a:cs typeface="Constantia"/>
                <a:sym typeface="Constantia"/>
              </a:rPr>
              <a:t>fn_</a:t>
            </a:r>
            <a:endParaRPr sz="2000">
              <a:solidFill>
                <a:schemeClr val="dk1"/>
              </a:solidFill>
              <a:latin typeface="Constantia"/>
              <a:ea typeface="Constantia"/>
              <a:cs typeface="Constantia"/>
              <a:sym typeface="Constantia"/>
            </a:endParaRPr>
          </a:p>
        </p:txBody>
      </p:sp>
      <p:sp>
        <p:nvSpPr>
          <p:cNvPr id="226" name="Google Shape;226;p32"/>
          <p:cNvSpPr txBox="1"/>
          <p:nvPr/>
        </p:nvSpPr>
        <p:spPr>
          <a:xfrm>
            <a:off x="838200" y="3692676"/>
            <a:ext cx="7620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onstantia"/>
                <a:ea typeface="Constantia"/>
                <a:cs typeface="Constantia"/>
                <a:sym typeface="Constantia"/>
              </a:rPr>
              <a:t>addr</a:t>
            </a:r>
            <a:endParaRPr sz="2000">
              <a:solidFill>
                <a:schemeClr val="dk1"/>
              </a:solidFill>
              <a:latin typeface="Constantia"/>
              <a:ea typeface="Constantia"/>
              <a:cs typeface="Constantia"/>
              <a:sym typeface="Constantia"/>
            </a:endParaRPr>
          </a:p>
        </p:txBody>
      </p:sp>
      <p:sp>
        <p:nvSpPr>
          <p:cNvPr id="227" name="Google Shape;227;p32"/>
          <p:cNvSpPr txBox="1"/>
          <p:nvPr/>
        </p:nvSpPr>
        <p:spPr>
          <a:xfrm>
            <a:off x="533400" y="4572000"/>
            <a:ext cx="8229600" cy="15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Constantia"/>
                <a:ea typeface="Constantia"/>
                <a:cs typeface="Constantia"/>
                <a:sym typeface="Constantia"/>
              </a:rPr>
              <a:t>Where:</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Constantia"/>
                <a:ea typeface="Constantia"/>
                <a:cs typeface="Constantia"/>
                <a:sym typeface="Constantia"/>
              </a:rPr>
              <a:t>	addr – is the address of the node</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Constantia"/>
                <a:ea typeface="Constantia"/>
                <a:cs typeface="Constantia"/>
                <a:sym typeface="Constantia"/>
              </a:rPr>
              <a:t>	fn1, fn2, … - are the names of the fields comprising the 			node.</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Constantia"/>
                <a:ea typeface="Constantia"/>
                <a:cs typeface="Constantia"/>
                <a:sym typeface="Constantia"/>
              </a:rPr>
              <a:t>	val1, val2, …. – are the values in  the fields of the  node</a:t>
            </a:r>
            <a:endParaRPr sz="2400">
              <a:solidFill>
                <a:schemeClr val="dk1"/>
              </a:solidFill>
              <a:latin typeface="Constantia"/>
              <a:ea typeface="Constantia"/>
              <a:cs typeface="Constantia"/>
              <a:sym typeface="Constanti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More on Linked List</a:t>
            </a:r>
            <a:endParaRPr/>
          </a:p>
        </p:txBody>
      </p:sp>
      <p:sp>
        <p:nvSpPr>
          <p:cNvPr id="233" name="Google Shape;233;p3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A node has no name, so we refer it through its address. As an example consider the following node:</a:t>
            </a:r>
            <a:endParaRPr/>
          </a:p>
          <a:p>
            <a:pPr indent="-117475" lvl="0" marL="274320" rtl="0" algn="l">
              <a:spcBef>
                <a:spcPts val="520"/>
              </a:spcBef>
              <a:spcAft>
                <a:spcPts val="0"/>
              </a:spcAft>
              <a:buSzPts val="2470"/>
              <a:buNone/>
            </a:pPr>
            <a:r>
              <a:t/>
            </a:r>
            <a:endParaRPr/>
          </a:p>
        </p:txBody>
      </p:sp>
      <p:graphicFrame>
        <p:nvGraphicFramePr>
          <p:cNvPr id="234" name="Google Shape;234;p33"/>
          <p:cNvGraphicFramePr/>
          <p:nvPr/>
        </p:nvGraphicFramePr>
        <p:xfrm>
          <a:off x="2819400" y="3505200"/>
          <a:ext cx="3000000" cy="3000000"/>
        </p:xfrm>
        <a:graphic>
          <a:graphicData uri="http://schemas.openxmlformats.org/drawingml/2006/table">
            <a:tbl>
              <a:tblPr bandRow="1" firstRow="1">
                <a:noFill/>
                <a:tableStyleId>{6614F18F-D512-4E52-9657-10FCB08322C0}</a:tableStyleId>
              </a:tblPr>
              <a:tblGrid>
                <a:gridCol w="1752600"/>
                <a:gridCol w="1752600"/>
              </a:tblGrid>
              <a:tr h="914400">
                <a:tc>
                  <a:txBody>
                    <a:bodyPr/>
                    <a:lstStyle/>
                    <a:p>
                      <a:pPr indent="0" lvl="0" marL="0" marR="0" rtl="0" algn="ctr">
                        <a:spcBef>
                          <a:spcPts val="0"/>
                        </a:spcBef>
                        <a:spcAft>
                          <a:spcPts val="0"/>
                        </a:spcAft>
                        <a:buNone/>
                      </a:pPr>
                      <a:r>
                        <a:rPr lang="en-US" sz="2400" u="none" cap="none" strike="noStrike"/>
                        <a:t>Jesus</a:t>
                      </a:r>
                      <a:endParaRPr sz="2400" u="none" cap="none" strike="noStrike"/>
                    </a:p>
                  </a:txBody>
                  <a:tcPr marT="45725" marB="45725" marR="91450" marL="91450" anchor="ctr"/>
                </a:tc>
                <a:tc>
                  <a:txBody>
                    <a:bodyPr/>
                    <a:lstStyle/>
                    <a:p>
                      <a:pPr indent="0" lvl="0" marL="0" marR="0" rtl="0" algn="ctr">
                        <a:spcBef>
                          <a:spcPts val="0"/>
                        </a:spcBef>
                        <a:spcAft>
                          <a:spcPts val="0"/>
                        </a:spcAft>
                        <a:buNone/>
                      </a:pPr>
                      <a:r>
                        <a:rPr lang="en-US" sz="2400" u="none" cap="none" strike="noStrike"/>
                        <a:t>1000</a:t>
                      </a:r>
                      <a:endParaRPr sz="2400" u="none" cap="none" strike="noStrike"/>
                    </a:p>
                  </a:txBody>
                  <a:tcPr marT="45725" marB="45725" marR="91450" marL="91450" anchor="ctr"/>
                </a:tc>
              </a:tr>
            </a:tbl>
          </a:graphicData>
        </a:graphic>
      </p:graphicFrame>
      <p:sp>
        <p:nvSpPr>
          <p:cNvPr id="235" name="Google Shape;235;p33"/>
          <p:cNvSpPr txBox="1"/>
          <p:nvPr/>
        </p:nvSpPr>
        <p:spPr>
          <a:xfrm>
            <a:off x="3352800" y="3048000"/>
            <a:ext cx="8382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INFO</a:t>
            </a:r>
            <a:endParaRPr sz="1800">
              <a:solidFill>
                <a:schemeClr val="dk1"/>
              </a:solidFill>
              <a:latin typeface="Constantia"/>
              <a:ea typeface="Constantia"/>
              <a:cs typeface="Constantia"/>
              <a:sym typeface="Constantia"/>
            </a:endParaRPr>
          </a:p>
        </p:txBody>
      </p:sp>
      <p:sp>
        <p:nvSpPr>
          <p:cNvPr id="236" name="Google Shape;236;p33"/>
          <p:cNvSpPr txBox="1"/>
          <p:nvPr/>
        </p:nvSpPr>
        <p:spPr>
          <a:xfrm>
            <a:off x="5029200" y="3059668"/>
            <a:ext cx="8382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LINK</a:t>
            </a:r>
            <a:endParaRPr sz="1800">
              <a:solidFill>
                <a:schemeClr val="dk1"/>
              </a:solidFill>
              <a:latin typeface="Constantia"/>
              <a:ea typeface="Constantia"/>
              <a:cs typeface="Constantia"/>
              <a:sym typeface="Constantia"/>
            </a:endParaRPr>
          </a:p>
        </p:txBody>
      </p:sp>
      <p:sp>
        <p:nvSpPr>
          <p:cNvPr id="237" name="Google Shape;237;p33"/>
          <p:cNvSpPr txBox="1"/>
          <p:nvPr/>
        </p:nvSpPr>
        <p:spPr>
          <a:xfrm>
            <a:off x="2226129" y="3753394"/>
            <a:ext cx="4191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nstantia"/>
                <a:ea typeface="Constantia"/>
                <a:cs typeface="Constantia"/>
                <a:sym typeface="Constantia"/>
              </a:rPr>
              <a:t>α</a:t>
            </a:r>
            <a:endParaRPr sz="2400">
              <a:solidFill>
                <a:schemeClr val="dk1"/>
              </a:solidFill>
              <a:latin typeface="Constantia"/>
              <a:ea typeface="Constantia"/>
              <a:cs typeface="Constantia"/>
              <a:sym typeface="Constant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4"/>
          <p:cNvSpPr txBox="1"/>
          <p:nvPr>
            <p:ph type="title"/>
          </p:nvPr>
        </p:nvSpPr>
        <p:spPr>
          <a:xfrm>
            <a:off x="457200" y="2286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More on Linked List</a:t>
            </a:r>
            <a:endParaRPr/>
          </a:p>
        </p:txBody>
      </p:sp>
      <p:sp>
        <p:nvSpPr>
          <p:cNvPr id="243" name="Google Shape;243;p34"/>
          <p:cNvSpPr txBox="1"/>
          <p:nvPr>
            <p:ph idx="1" type="body"/>
          </p:nvPr>
        </p:nvSpPr>
        <p:spPr>
          <a:xfrm>
            <a:off x="457200" y="1524000"/>
            <a:ext cx="8229600" cy="685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Char char="⚫"/>
            </a:pPr>
            <a:r>
              <a:rPr lang="en-US" sz="2800"/>
              <a:t>Now consider the following node</a:t>
            </a:r>
            <a:endParaRPr/>
          </a:p>
          <a:p>
            <a:pPr indent="-105410" lvl="0" marL="274320" rtl="0" algn="l">
              <a:spcBef>
                <a:spcPts val="560"/>
              </a:spcBef>
              <a:spcAft>
                <a:spcPts val="0"/>
              </a:spcAft>
              <a:buSzPts val="2660"/>
              <a:buNone/>
            </a:pPr>
            <a:r>
              <a:t/>
            </a:r>
            <a:endParaRPr sz="2800"/>
          </a:p>
        </p:txBody>
      </p:sp>
      <p:graphicFrame>
        <p:nvGraphicFramePr>
          <p:cNvPr id="244" name="Google Shape;244;p34"/>
          <p:cNvGraphicFramePr/>
          <p:nvPr/>
        </p:nvGraphicFramePr>
        <p:xfrm>
          <a:off x="3193869" y="1920129"/>
          <a:ext cx="3000000" cy="3000000"/>
        </p:xfrm>
        <a:graphic>
          <a:graphicData uri="http://schemas.openxmlformats.org/drawingml/2006/table">
            <a:tbl>
              <a:tblPr bandRow="1" firstRow="1">
                <a:noFill/>
                <a:tableStyleId>{6614F18F-D512-4E52-9657-10FCB08322C0}</a:tableStyleId>
              </a:tblPr>
              <a:tblGrid>
                <a:gridCol w="1257300"/>
                <a:gridCol w="1257300"/>
              </a:tblGrid>
              <a:tr h="457200">
                <a:tc>
                  <a:txBody>
                    <a:bodyPr/>
                    <a:lstStyle/>
                    <a:p>
                      <a:pPr indent="0" lvl="0" marL="0" marR="0" rtl="0" algn="ctr">
                        <a:spcBef>
                          <a:spcPts val="0"/>
                        </a:spcBef>
                        <a:spcAft>
                          <a:spcPts val="0"/>
                        </a:spcAft>
                        <a:buNone/>
                      </a:pPr>
                      <a:r>
                        <a:rPr lang="en-US" sz="2400" u="none" cap="none" strike="noStrike"/>
                        <a:t>Jesus</a:t>
                      </a:r>
                      <a:endParaRPr sz="2400" u="none" cap="none" strike="noStrike"/>
                    </a:p>
                  </a:txBody>
                  <a:tcPr marT="45725" marB="45725" marR="91450" marL="91450" anchor="ctr"/>
                </a:tc>
                <a:tc>
                  <a:txBody>
                    <a:bodyPr/>
                    <a:lstStyle/>
                    <a:p>
                      <a:pPr indent="0" lvl="0" marL="0" marR="0" rtl="0" algn="ctr">
                        <a:spcBef>
                          <a:spcPts val="0"/>
                        </a:spcBef>
                        <a:spcAft>
                          <a:spcPts val="0"/>
                        </a:spcAft>
                        <a:buNone/>
                      </a:pPr>
                      <a:r>
                        <a:rPr lang="en-US" sz="2400" u="none" cap="none" strike="noStrike"/>
                        <a:t>1000</a:t>
                      </a:r>
                      <a:endParaRPr sz="2400" u="none" cap="none" strike="noStrike"/>
                    </a:p>
                  </a:txBody>
                  <a:tcPr marT="45725" marB="45725" marR="91450" marL="91450" anchor="ctr"/>
                </a:tc>
              </a:tr>
            </a:tbl>
          </a:graphicData>
        </a:graphic>
      </p:graphicFrame>
      <p:sp>
        <p:nvSpPr>
          <p:cNvPr id="245" name="Google Shape;245;p34"/>
          <p:cNvSpPr txBox="1"/>
          <p:nvPr/>
        </p:nvSpPr>
        <p:spPr>
          <a:xfrm>
            <a:off x="2133600" y="1824335"/>
            <a:ext cx="10287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nstantia"/>
                <a:ea typeface="Constantia"/>
                <a:cs typeface="Constantia"/>
                <a:sym typeface="Constantia"/>
              </a:rPr>
              <a:t>3000</a:t>
            </a:r>
            <a:endParaRPr sz="2400">
              <a:solidFill>
                <a:schemeClr val="dk1"/>
              </a:solidFill>
              <a:latin typeface="Constantia"/>
              <a:ea typeface="Constantia"/>
              <a:cs typeface="Constantia"/>
              <a:sym typeface="Constantia"/>
            </a:endParaRPr>
          </a:p>
        </p:txBody>
      </p:sp>
      <p:graphicFrame>
        <p:nvGraphicFramePr>
          <p:cNvPr id="246" name="Google Shape;246;p34"/>
          <p:cNvGraphicFramePr/>
          <p:nvPr/>
        </p:nvGraphicFramePr>
        <p:xfrm>
          <a:off x="3200400" y="3119735"/>
          <a:ext cx="3000000" cy="3000000"/>
        </p:xfrm>
        <a:graphic>
          <a:graphicData uri="http://schemas.openxmlformats.org/drawingml/2006/table">
            <a:tbl>
              <a:tblPr bandRow="1" firstRow="1">
                <a:noFill/>
                <a:tableStyleId>{6614F18F-D512-4E52-9657-10FCB08322C0}</a:tableStyleId>
              </a:tblPr>
              <a:tblGrid>
                <a:gridCol w="1257300"/>
                <a:gridCol w="1257300"/>
              </a:tblGrid>
              <a:tr h="457200">
                <a:tc>
                  <a:txBody>
                    <a:bodyPr/>
                    <a:lstStyle/>
                    <a:p>
                      <a:pPr indent="0" lvl="0" marL="0" marR="0" rtl="0" algn="ctr">
                        <a:spcBef>
                          <a:spcPts val="0"/>
                        </a:spcBef>
                        <a:spcAft>
                          <a:spcPts val="0"/>
                        </a:spcAft>
                        <a:buNone/>
                      </a:pPr>
                      <a:r>
                        <a:rPr lang="en-US" sz="2400" u="none" cap="none" strike="noStrike"/>
                        <a:t>Joseph</a:t>
                      </a:r>
                      <a:endParaRPr sz="2400" u="none" cap="none" strike="noStrike"/>
                    </a:p>
                  </a:txBody>
                  <a:tcPr marT="45725" marB="45725" marR="91450" marL="91450" anchor="ctr"/>
                </a:tc>
                <a:tc>
                  <a:txBody>
                    <a:bodyPr/>
                    <a:lstStyle/>
                    <a:p>
                      <a:pPr indent="0" lvl="0" marL="0" marR="0" rtl="0" algn="ctr">
                        <a:spcBef>
                          <a:spcPts val="0"/>
                        </a:spcBef>
                        <a:spcAft>
                          <a:spcPts val="0"/>
                        </a:spcAft>
                        <a:buNone/>
                      </a:pPr>
                      <a:r>
                        <a:rPr lang="en-US" sz="2400" u="none" cap="none" strike="noStrike"/>
                        <a:t>^</a:t>
                      </a:r>
                      <a:endParaRPr sz="2400" u="none" cap="none" strike="noStrike"/>
                    </a:p>
                  </a:txBody>
                  <a:tcPr marT="45725" marB="45725" marR="91450" marL="91450" anchor="ctr"/>
                </a:tc>
              </a:tr>
            </a:tbl>
          </a:graphicData>
        </a:graphic>
      </p:graphicFrame>
      <p:sp>
        <p:nvSpPr>
          <p:cNvPr id="247" name="Google Shape;247;p34"/>
          <p:cNvSpPr txBox="1"/>
          <p:nvPr/>
        </p:nvSpPr>
        <p:spPr>
          <a:xfrm>
            <a:off x="2133600" y="3195935"/>
            <a:ext cx="10287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nstantia"/>
                <a:ea typeface="Constantia"/>
                <a:cs typeface="Constantia"/>
                <a:sym typeface="Constantia"/>
              </a:rPr>
              <a:t>4000</a:t>
            </a:r>
            <a:endParaRPr sz="2400">
              <a:solidFill>
                <a:schemeClr val="dk1"/>
              </a:solidFill>
              <a:latin typeface="Constantia"/>
              <a:ea typeface="Constantia"/>
              <a:cs typeface="Constantia"/>
              <a:sym typeface="Constantia"/>
            </a:endParaRPr>
          </a:p>
        </p:txBody>
      </p:sp>
      <p:graphicFrame>
        <p:nvGraphicFramePr>
          <p:cNvPr id="248" name="Google Shape;248;p34"/>
          <p:cNvGraphicFramePr/>
          <p:nvPr/>
        </p:nvGraphicFramePr>
        <p:xfrm>
          <a:off x="3200400" y="2529729"/>
          <a:ext cx="3000000" cy="3000000"/>
        </p:xfrm>
        <a:graphic>
          <a:graphicData uri="http://schemas.openxmlformats.org/drawingml/2006/table">
            <a:tbl>
              <a:tblPr bandRow="1" firstRow="1">
                <a:noFill/>
                <a:tableStyleId>{6614F18F-D512-4E52-9657-10FCB08322C0}</a:tableStyleId>
              </a:tblPr>
              <a:tblGrid>
                <a:gridCol w="1257300"/>
                <a:gridCol w="1257300"/>
              </a:tblGrid>
              <a:tr h="457200">
                <a:tc>
                  <a:txBody>
                    <a:bodyPr/>
                    <a:lstStyle/>
                    <a:p>
                      <a:pPr indent="0" lvl="0" marL="0" marR="0" rtl="0" algn="ctr">
                        <a:spcBef>
                          <a:spcPts val="0"/>
                        </a:spcBef>
                        <a:spcAft>
                          <a:spcPts val="0"/>
                        </a:spcAft>
                        <a:buNone/>
                      </a:pPr>
                      <a:r>
                        <a:rPr lang="en-US" sz="2400" u="none" cap="none" strike="noStrike"/>
                        <a:t>Mary</a:t>
                      </a:r>
                      <a:endParaRPr sz="2400" u="none" cap="none" strike="noStrike"/>
                    </a:p>
                  </a:txBody>
                  <a:tcPr marT="45725" marB="45725" marR="91450" marL="91450" anchor="ctr"/>
                </a:tc>
                <a:tc>
                  <a:txBody>
                    <a:bodyPr/>
                    <a:lstStyle/>
                    <a:p>
                      <a:pPr indent="0" lvl="0" marL="0" marR="0" rtl="0" algn="ctr">
                        <a:spcBef>
                          <a:spcPts val="0"/>
                        </a:spcBef>
                        <a:spcAft>
                          <a:spcPts val="0"/>
                        </a:spcAft>
                        <a:buNone/>
                      </a:pPr>
                      <a:r>
                        <a:rPr lang="en-US" sz="2400" u="none" cap="none" strike="noStrike"/>
                        <a:t>4000</a:t>
                      </a:r>
                      <a:endParaRPr sz="2400" u="none" cap="none" strike="noStrike"/>
                    </a:p>
                  </a:txBody>
                  <a:tcPr marT="45725" marB="45725" marR="91450" marL="91450" anchor="ctr"/>
                </a:tc>
              </a:tr>
            </a:tbl>
          </a:graphicData>
        </a:graphic>
      </p:graphicFrame>
      <p:sp>
        <p:nvSpPr>
          <p:cNvPr id="249" name="Google Shape;249;p34"/>
          <p:cNvSpPr txBox="1"/>
          <p:nvPr/>
        </p:nvSpPr>
        <p:spPr>
          <a:xfrm>
            <a:off x="2133600" y="2510135"/>
            <a:ext cx="103523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nstantia"/>
                <a:ea typeface="Constantia"/>
                <a:cs typeface="Constantia"/>
                <a:sym typeface="Constantia"/>
              </a:rPr>
              <a:t>1000</a:t>
            </a:r>
            <a:endParaRPr sz="2400">
              <a:solidFill>
                <a:schemeClr val="dk1"/>
              </a:solidFill>
              <a:latin typeface="Constantia"/>
              <a:ea typeface="Constantia"/>
              <a:cs typeface="Constantia"/>
              <a:sym typeface="Constantia"/>
            </a:endParaRPr>
          </a:p>
        </p:txBody>
      </p:sp>
      <p:sp>
        <p:nvSpPr>
          <p:cNvPr id="250" name="Google Shape;250;p34"/>
          <p:cNvSpPr txBox="1"/>
          <p:nvPr/>
        </p:nvSpPr>
        <p:spPr>
          <a:xfrm>
            <a:off x="304800" y="3810000"/>
            <a:ext cx="8229600" cy="1447800"/>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marR="0" rtl="0" algn="l">
              <a:spcBef>
                <a:spcPts val="0"/>
              </a:spcBef>
              <a:spcAft>
                <a:spcPts val="0"/>
              </a:spcAft>
              <a:buClr>
                <a:schemeClr val="dk1"/>
              </a:buClr>
              <a:buSzPct val="100000"/>
              <a:buFont typeface="Arial"/>
              <a:buChar char="•"/>
            </a:pPr>
            <a:r>
              <a:rPr lang="en-US" sz="2800">
                <a:solidFill>
                  <a:schemeClr val="dk1"/>
                </a:solidFill>
                <a:latin typeface="Constantia"/>
                <a:ea typeface="Constantia"/>
                <a:cs typeface="Constantia"/>
                <a:sym typeface="Constantia"/>
              </a:rPr>
              <a:t>When a field in this instance the LINK field, of a node contains the address of another node, we say that the LINK field of the former contains a pointer to the latter. Hence we can illustrate this by the illustration below:</a:t>
            </a:r>
            <a:endParaRPr/>
          </a:p>
          <a:p>
            <a:pPr indent="-191770" lvl="0" marL="342900" marR="0" rtl="0" algn="l">
              <a:spcBef>
                <a:spcPts val="476"/>
              </a:spcBef>
              <a:spcAft>
                <a:spcPts val="0"/>
              </a:spcAft>
              <a:buClr>
                <a:schemeClr val="dk1"/>
              </a:buClr>
              <a:buSzPct val="100000"/>
              <a:buFont typeface="Arial"/>
              <a:buNone/>
            </a:pPr>
            <a:r>
              <a:t/>
            </a:r>
            <a:endParaRPr sz="2800">
              <a:solidFill>
                <a:schemeClr val="dk1"/>
              </a:solidFill>
              <a:latin typeface="Constantia"/>
              <a:ea typeface="Constantia"/>
              <a:cs typeface="Constantia"/>
              <a:sym typeface="Constantia"/>
            </a:endParaRPr>
          </a:p>
        </p:txBody>
      </p:sp>
      <p:graphicFrame>
        <p:nvGraphicFramePr>
          <p:cNvPr id="251" name="Google Shape;251;p34"/>
          <p:cNvGraphicFramePr/>
          <p:nvPr/>
        </p:nvGraphicFramePr>
        <p:xfrm>
          <a:off x="533400" y="5638800"/>
          <a:ext cx="3000000" cy="3000000"/>
        </p:xfrm>
        <a:graphic>
          <a:graphicData uri="http://schemas.openxmlformats.org/drawingml/2006/table">
            <a:tbl>
              <a:tblPr bandRow="1" firstRow="1">
                <a:noFill/>
                <a:tableStyleId>{6614F18F-D512-4E52-9657-10FCB08322C0}</a:tableStyleId>
              </a:tblPr>
              <a:tblGrid>
                <a:gridCol w="1104900"/>
                <a:gridCol w="1104900"/>
              </a:tblGrid>
              <a:tr h="457200">
                <a:tc>
                  <a:txBody>
                    <a:bodyPr/>
                    <a:lstStyle/>
                    <a:p>
                      <a:pPr indent="0" lvl="0" marL="0" marR="0" rtl="0" algn="ctr">
                        <a:spcBef>
                          <a:spcPts val="0"/>
                        </a:spcBef>
                        <a:spcAft>
                          <a:spcPts val="0"/>
                        </a:spcAft>
                        <a:buNone/>
                      </a:pPr>
                      <a:r>
                        <a:rPr lang="en-US" sz="2400" u="none" cap="none" strike="noStrike"/>
                        <a:t>Jesus</a:t>
                      </a:r>
                      <a:endParaRPr sz="2400" u="none" cap="none" strike="noStrike"/>
                    </a:p>
                  </a:txBody>
                  <a:tcPr marT="45725" marB="45725" marR="91450" marL="91450" anchor="ctr"/>
                </a:tc>
                <a:tc>
                  <a:txBody>
                    <a:bodyPr/>
                    <a:lstStyle/>
                    <a:p>
                      <a:pPr indent="0" lvl="0" marL="0" marR="0" rtl="0" algn="ctr">
                        <a:spcBef>
                          <a:spcPts val="0"/>
                        </a:spcBef>
                        <a:spcAft>
                          <a:spcPts val="0"/>
                        </a:spcAft>
                        <a:buNone/>
                      </a:pPr>
                      <a:r>
                        <a:t/>
                      </a:r>
                      <a:endParaRPr sz="2400" u="none" cap="none" strike="noStrike"/>
                    </a:p>
                  </a:txBody>
                  <a:tcPr marT="45725" marB="45725" marR="91450" marL="91450" anchor="ctr"/>
                </a:tc>
              </a:tr>
            </a:tbl>
          </a:graphicData>
        </a:graphic>
      </p:graphicFrame>
      <p:graphicFrame>
        <p:nvGraphicFramePr>
          <p:cNvPr id="252" name="Google Shape;252;p34"/>
          <p:cNvGraphicFramePr/>
          <p:nvPr/>
        </p:nvGraphicFramePr>
        <p:xfrm>
          <a:off x="3505200" y="5638800"/>
          <a:ext cx="3000000" cy="3000000"/>
        </p:xfrm>
        <a:graphic>
          <a:graphicData uri="http://schemas.openxmlformats.org/drawingml/2006/table">
            <a:tbl>
              <a:tblPr bandRow="1" firstRow="1">
                <a:noFill/>
                <a:tableStyleId>{6614F18F-D512-4E52-9657-10FCB08322C0}</a:tableStyleId>
              </a:tblPr>
              <a:tblGrid>
                <a:gridCol w="1104900"/>
                <a:gridCol w="1104900"/>
              </a:tblGrid>
              <a:tr h="457200">
                <a:tc>
                  <a:txBody>
                    <a:bodyPr/>
                    <a:lstStyle/>
                    <a:p>
                      <a:pPr indent="0" lvl="0" marL="0" marR="0" rtl="0" algn="ctr">
                        <a:spcBef>
                          <a:spcPts val="0"/>
                        </a:spcBef>
                        <a:spcAft>
                          <a:spcPts val="0"/>
                        </a:spcAft>
                        <a:buNone/>
                      </a:pPr>
                      <a:r>
                        <a:rPr lang="en-US" sz="2400" u="none" cap="none" strike="noStrike"/>
                        <a:t>Mary</a:t>
                      </a:r>
                      <a:endParaRPr sz="2400" u="none" cap="none" strike="noStrike"/>
                    </a:p>
                  </a:txBody>
                  <a:tcPr marT="45725" marB="45725" marR="91450" marL="91450" anchor="ctr"/>
                </a:tc>
                <a:tc>
                  <a:txBody>
                    <a:bodyPr/>
                    <a:lstStyle/>
                    <a:p>
                      <a:pPr indent="0" lvl="0" marL="0" marR="0" rtl="0" algn="ctr">
                        <a:spcBef>
                          <a:spcPts val="0"/>
                        </a:spcBef>
                        <a:spcAft>
                          <a:spcPts val="0"/>
                        </a:spcAft>
                        <a:buNone/>
                      </a:pPr>
                      <a:r>
                        <a:t/>
                      </a:r>
                      <a:endParaRPr sz="2400" u="none" cap="none" strike="noStrike"/>
                    </a:p>
                  </a:txBody>
                  <a:tcPr marT="45725" marB="45725" marR="91450" marL="91450" anchor="ctr"/>
                </a:tc>
              </a:tr>
            </a:tbl>
          </a:graphicData>
        </a:graphic>
      </p:graphicFrame>
      <p:graphicFrame>
        <p:nvGraphicFramePr>
          <p:cNvPr id="253" name="Google Shape;253;p34"/>
          <p:cNvGraphicFramePr/>
          <p:nvPr/>
        </p:nvGraphicFramePr>
        <p:xfrm>
          <a:off x="6477000" y="5638800"/>
          <a:ext cx="3000000" cy="3000000"/>
        </p:xfrm>
        <a:graphic>
          <a:graphicData uri="http://schemas.openxmlformats.org/drawingml/2006/table">
            <a:tbl>
              <a:tblPr bandRow="1" firstRow="1">
                <a:noFill/>
                <a:tableStyleId>{6614F18F-D512-4E52-9657-10FCB08322C0}</a:tableStyleId>
              </a:tblPr>
              <a:tblGrid>
                <a:gridCol w="1104900"/>
                <a:gridCol w="1104900"/>
              </a:tblGrid>
              <a:tr h="457200">
                <a:tc>
                  <a:txBody>
                    <a:bodyPr/>
                    <a:lstStyle/>
                    <a:p>
                      <a:pPr indent="0" lvl="0" marL="0" marR="0" rtl="0" algn="ctr">
                        <a:spcBef>
                          <a:spcPts val="0"/>
                        </a:spcBef>
                        <a:spcAft>
                          <a:spcPts val="0"/>
                        </a:spcAft>
                        <a:buNone/>
                      </a:pPr>
                      <a:r>
                        <a:rPr lang="en-US" sz="2400" u="none" cap="none" strike="noStrike"/>
                        <a:t>Joseph</a:t>
                      </a:r>
                      <a:endParaRPr sz="2400" u="none" cap="none" strike="noStrike"/>
                    </a:p>
                  </a:txBody>
                  <a:tcPr marT="45725" marB="45725" marR="91450" marL="91450" anchor="ctr"/>
                </a:tc>
                <a:tc>
                  <a:txBody>
                    <a:bodyPr/>
                    <a:lstStyle/>
                    <a:p>
                      <a:pPr indent="0" lvl="0" marL="0" marR="0" rtl="0" algn="ctr">
                        <a:spcBef>
                          <a:spcPts val="0"/>
                        </a:spcBef>
                        <a:spcAft>
                          <a:spcPts val="0"/>
                        </a:spcAft>
                        <a:buNone/>
                      </a:pPr>
                      <a:r>
                        <a:rPr lang="en-US" sz="2400" u="none" cap="none" strike="noStrike"/>
                        <a:t>^</a:t>
                      </a:r>
                      <a:endParaRPr sz="2400" u="none" cap="none" strike="noStrike"/>
                    </a:p>
                  </a:txBody>
                  <a:tcPr marT="45725" marB="45725" marR="91450" marL="91450" anchor="ctr"/>
                </a:tc>
              </a:tr>
            </a:tbl>
          </a:graphicData>
        </a:graphic>
      </p:graphicFrame>
      <p:sp>
        <p:nvSpPr>
          <p:cNvPr id="254" name="Google Shape;254;p34"/>
          <p:cNvSpPr txBox="1"/>
          <p:nvPr/>
        </p:nvSpPr>
        <p:spPr>
          <a:xfrm>
            <a:off x="226423" y="5148197"/>
            <a:ext cx="609600" cy="307777"/>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onstantia"/>
                <a:ea typeface="Constantia"/>
                <a:cs typeface="Constantia"/>
                <a:sym typeface="Constantia"/>
              </a:rPr>
              <a:t> </a:t>
            </a:r>
            <a:endParaRPr/>
          </a:p>
        </p:txBody>
      </p:sp>
      <p:cxnSp>
        <p:nvCxnSpPr>
          <p:cNvPr id="255" name="Google Shape;255;p34"/>
          <p:cNvCxnSpPr/>
          <p:nvPr/>
        </p:nvCxnSpPr>
        <p:spPr>
          <a:xfrm>
            <a:off x="559526" y="5392837"/>
            <a:ext cx="115389" cy="182826"/>
          </a:xfrm>
          <a:prstGeom prst="straightConnector1">
            <a:avLst/>
          </a:prstGeom>
          <a:noFill/>
          <a:ln cap="flat" cmpd="sng" w="25400">
            <a:solidFill>
              <a:schemeClr val="dk1"/>
            </a:solidFill>
            <a:prstDash val="solid"/>
            <a:round/>
            <a:headEnd len="sm" w="sm" type="none"/>
            <a:tailEnd len="med" w="med" type="stealth"/>
          </a:ln>
          <a:effectLst>
            <a:outerShdw blurRad="57150" rotWithShape="0" algn="ctr" dir="5400000" dist="38100">
              <a:srgbClr val="000000"/>
            </a:outerShdw>
          </a:effectLst>
        </p:spPr>
      </p:cxnSp>
      <p:cxnSp>
        <p:nvCxnSpPr>
          <p:cNvPr id="256" name="Google Shape;256;p34"/>
          <p:cNvCxnSpPr/>
          <p:nvPr/>
        </p:nvCxnSpPr>
        <p:spPr>
          <a:xfrm>
            <a:off x="2362200" y="5867400"/>
            <a:ext cx="1143000" cy="0"/>
          </a:xfrm>
          <a:prstGeom prst="straightConnector1">
            <a:avLst/>
          </a:prstGeom>
          <a:noFill/>
          <a:ln cap="flat" cmpd="sng" w="25400">
            <a:solidFill>
              <a:schemeClr val="dk1"/>
            </a:solidFill>
            <a:prstDash val="solid"/>
            <a:round/>
            <a:headEnd len="sm" w="sm" type="none"/>
            <a:tailEnd len="med" w="med" type="stealth"/>
          </a:ln>
          <a:effectLst>
            <a:outerShdw blurRad="57150" rotWithShape="0" algn="ctr" dir="5400000" dist="38100">
              <a:srgbClr val="000000"/>
            </a:outerShdw>
          </a:effectLst>
        </p:spPr>
      </p:cxnSp>
      <p:cxnSp>
        <p:nvCxnSpPr>
          <p:cNvPr id="257" name="Google Shape;257;p34"/>
          <p:cNvCxnSpPr/>
          <p:nvPr/>
        </p:nvCxnSpPr>
        <p:spPr>
          <a:xfrm>
            <a:off x="5334000" y="5867400"/>
            <a:ext cx="1143000" cy="0"/>
          </a:xfrm>
          <a:prstGeom prst="straightConnector1">
            <a:avLst/>
          </a:prstGeom>
          <a:noFill/>
          <a:ln cap="flat" cmpd="sng" w="25400">
            <a:solidFill>
              <a:schemeClr val="dk1"/>
            </a:solidFill>
            <a:prstDash val="solid"/>
            <a:round/>
            <a:headEnd len="sm" w="sm" type="none"/>
            <a:tailEnd len="med" w="med" type="stealth"/>
          </a:ln>
          <a:effectLst>
            <a:outerShdw blurRad="57150" rotWithShape="0" algn="ctr" dir="5400000" dist="38100">
              <a:srgbClr val="000000"/>
            </a:outerShdw>
          </a:effectLst>
        </p:spPr>
      </p:cxnSp>
      <p:sp>
        <p:nvSpPr>
          <p:cNvPr id="258" name="Google Shape;258;p34"/>
          <p:cNvSpPr/>
          <p:nvPr/>
        </p:nvSpPr>
        <p:spPr>
          <a:xfrm>
            <a:off x="2286000" y="5791200"/>
            <a:ext cx="152400" cy="152400"/>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259" name="Google Shape;259;p34"/>
          <p:cNvSpPr/>
          <p:nvPr/>
        </p:nvSpPr>
        <p:spPr>
          <a:xfrm>
            <a:off x="5257800" y="5791200"/>
            <a:ext cx="152400" cy="152400"/>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Linked list example</a:t>
            </a:r>
            <a:endParaRPr/>
          </a:p>
        </p:txBody>
      </p:sp>
      <p:sp>
        <p:nvSpPr>
          <p:cNvPr id="265" name="Google Shape;265;p3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47500" lnSpcReduction="20000"/>
          </a:bodyPr>
          <a:lstStyle/>
          <a:p>
            <a:pPr indent="-274320" lvl="0" marL="274320" rtl="0" algn="l">
              <a:spcBef>
                <a:spcPts val="0"/>
              </a:spcBef>
              <a:spcAft>
                <a:spcPts val="0"/>
              </a:spcAft>
              <a:buSzPct val="95000"/>
              <a:buNone/>
            </a:pPr>
            <a:r>
              <a:rPr lang="en-US">
                <a:latin typeface="Courier New"/>
                <a:ea typeface="Courier New"/>
                <a:cs typeface="Courier New"/>
                <a:sym typeface="Courier New"/>
              </a:rPr>
              <a:t>/* LLIST.C    Program to illustrate linked lists */</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#include &lt;stdio.h&gt;</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struct list {</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int         value;</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struct list *next;</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a:t>
            </a:r>
            <a:endParaRPr/>
          </a:p>
          <a:p>
            <a:pPr indent="-274320" lvl="0" marL="274320" rtl="0" algn="l">
              <a:spcBef>
                <a:spcPts val="247"/>
              </a:spcBef>
              <a:spcAft>
                <a:spcPts val="0"/>
              </a:spcAft>
              <a:buSzPct val="95000"/>
              <a:buNone/>
            </a:pPr>
            <a:r>
              <a:t/>
            </a:r>
            <a:endParaRPr>
              <a:latin typeface="Courier New"/>
              <a:ea typeface="Courier New"/>
              <a:cs typeface="Courier New"/>
              <a:sym typeface="Courier New"/>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main()</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struct list jesus, mary, joseph;</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int          i;</a:t>
            </a:r>
            <a:endParaRPr/>
          </a:p>
          <a:p>
            <a:pPr indent="-274320" lvl="0" marL="274320" rtl="0" algn="l">
              <a:spcBef>
                <a:spcPts val="247"/>
              </a:spcBef>
              <a:spcAft>
                <a:spcPts val="0"/>
              </a:spcAft>
              <a:buSzPct val="95000"/>
              <a:buNone/>
            </a:pPr>
            <a:r>
              <a:t/>
            </a:r>
            <a:endParaRPr>
              <a:latin typeface="Courier New"/>
              <a:ea typeface="Courier New"/>
              <a:cs typeface="Courier New"/>
              <a:sym typeface="Courier New"/>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jesus.value = 1000;</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mary.value = 4000;</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Joseph.value = 0;</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jesus.next = &amp;mary;</a:t>
            </a:r>
            <a:endParaRPr>
              <a:latin typeface="Courier New"/>
              <a:ea typeface="Courier New"/>
              <a:cs typeface="Courier New"/>
              <a:sym typeface="Courier New"/>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mary.next = &amp;joseph;</a:t>
            </a:r>
            <a:endParaRPr>
              <a:latin typeface="Courier New"/>
              <a:ea typeface="Courier New"/>
              <a:cs typeface="Courier New"/>
              <a:sym typeface="Courier New"/>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joseph.next = 0;</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i = n1.next-&gt;value;</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printf("%d\n", i);</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printf("%d\n", n2.next-&gt;value);</a:t>
            </a:r>
            <a:endParaRPr/>
          </a:p>
          <a:p>
            <a:pPr indent="-274320" lvl="0" marL="274320" rtl="0" algn="l">
              <a:spcBef>
                <a:spcPts val="247"/>
              </a:spcBef>
              <a:spcAft>
                <a:spcPts val="0"/>
              </a:spcAft>
              <a:buSzPct val="95000"/>
              <a:buNone/>
            </a:pPr>
            <a:r>
              <a:rPr lang="en-US">
                <a:latin typeface="Courier New"/>
                <a:ea typeface="Courier New"/>
                <a:cs typeface="Courier New"/>
                <a:sym typeface="Courier New"/>
              </a:rPr>
              <a:t>	}</a:t>
            </a:r>
            <a:endParaRPr/>
          </a:p>
          <a:p>
            <a:pPr indent="-274320" lvl="0" marL="274320" rtl="0" algn="l">
              <a:spcBef>
                <a:spcPts val="247"/>
              </a:spcBef>
              <a:spcAft>
                <a:spcPts val="0"/>
              </a:spcAft>
              <a:buSzPct val="95000"/>
              <a:buNone/>
            </a:pPr>
            <a:r>
              <a:t/>
            </a:r>
            <a:endParaRPr>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Types of Linked List</a:t>
            </a:r>
            <a:endParaRPr/>
          </a:p>
        </p:txBody>
      </p:sp>
      <p:sp>
        <p:nvSpPr>
          <p:cNvPr id="271" name="Google Shape;271;p3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SzPts val="2470"/>
              <a:buFont typeface="Calibri"/>
              <a:buAutoNum type="arabicPeriod"/>
            </a:pPr>
            <a:r>
              <a:rPr lang="en-US"/>
              <a:t>Linear singly-linked list (or simply linear list)</a:t>
            </a:r>
            <a:endParaRPr/>
          </a:p>
          <a:p>
            <a:pPr indent="-246888" lvl="1" marL="640080" rtl="0" algn="l">
              <a:spcBef>
                <a:spcPts val="480"/>
              </a:spcBef>
              <a:spcAft>
                <a:spcPts val="0"/>
              </a:spcAft>
              <a:buSzPts val="2040"/>
              <a:buChar char="⚫"/>
            </a:pPr>
            <a:r>
              <a:rPr lang="en-US"/>
              <a:t> One we have discussed so far.</a:t>
            </a:r>
            <a:endParaRPr/>
          </a:p>
        </p:txBody>
      </p:sp>
      <p:pic>
        <p:nvPicPr>
          <p:cNvPr id="272" name="Google Shape;272;p36"/>
          <p:cNvPicPr preferRelativeResize="0"/>
          <p:nvPr/>
        </p:nvPicPr>
        <p:blipFill rotWithShape="1">
          <a:blip r:embed="rId3">
            <a:alphaModFix/>
          </a:blip>
          <a:srcRect b="0" l="0" r="0" t="0"/>
          <a:stretch/>
        </p:blipFill>
        <p:spPr>
          <a:xfrm>
            <a:off x="309562" y="3200400"/>
            <a:ext cx="8524875" cy="18192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Singly – linked list</a:t>
            </a:r>
            <a:endParaRPr/>
          </a:p>
        </p:txBody>
      </p:sp>
      <p:sp>
        <p:nvSpPr>
          <p:cNvPr id="278" name="Google Shape;278;p3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40000" lnSpcReduction="20000"/>
          </a:bodyPr>
          <a:lstStyle/>
          <a:p>
            <a:pPr indent="-274320" lvl="0" marL="274320" rtl="0" algn="l">
              <a:spcBef>
                <a:spcPts val="0"/>
              </a:spcBef>
              <a:spcAft>
                <a:spcPts val="0"/>
              </a:spcAft>
              <a:buSzPct val="95000"/>
              <a:buNone/>
            </a:pPr>
            <a:r>
              <a:rPr lang="en-US">
                <a:latin typeface="Courier New"/>
                <a:ea typeface="Courier New"/>
                <a:cs typeface="Courier New"/>
                <a:sym typeface="Courier New"/>
              </a:rPr>
              <a:t>#include &lt;stdlib.h&gt;</a:t>
            </a:r>
            <a:endParaRPr/>
          </a:p>
          <a:p>
            <a:pPr indent="-274320" lvl="0" marL="274320" rtl="0" algn="l">
              <a:spcBef>
                <a:spcPts val="208"/>
              </a:spcBef>
              <a:spcAft>
                <a:spcPts val="0"/>
              </a:spcAft>
              <a:buSzPct val="95000"/>
              <a:buNone/>
            </a:pPr>
            <a:r>
              <a:rPr lang="en-US">
                <a:latin typeface="Courier New"/>
                <a:ea typeface="Courier New"/>
                <a:cs typeface="Courier New"/>
                <a:sym typeface="Courier New"/>
              </a:rPr>
              <a:t>#include &lt;stdio.h&gt;</a:t>
            </a:r>
            <a:endParaRPr/>
          </a:p>
          <a:p>
            <a:pPr indent="-274320" lvl="0" marL="274320" rtl="0" algn="l">
              <a:spcBef>
                <a:spcPts val="208"/>
              </a:spcBef>
              <a:spcAft>
                <a:spcPts val="0"/>
              </a:spcAft>
              <a:buSzPct val="95000"/>
              <a:buNone/>
            </a:pPr>
            <a:r>
              <a:t/>
            </a:r>
            <a:endParaRPr>
              <a:latin typeface="Courier New"/>
              <a:ea typeface="Courier New"/>
              <a:cs typeface="Courier New"/>
              <a:sym typeface="Courier New"/>
            </a:endParaRPr>
          </a:p>
          <a:p>
            <a:pPr indent="-274320" lvl="0" marL="274320" rtl="0" algn="l">
              <a:spcBef>
                <a:spcPts val="208"/>
              </a:spcBef>
              <a:spcAft>
                <a:spcPts val="0"/>
              </a:spcAft>
              <a:buSzPct val="95000"/>
              <a:buNone/>
            </a:pPr>
            <a:r>
              <a:rPr lang="en-US">
                <a:latin typeface="Courier New"/>
                <a:ea typeface="Courier New"/>
                <a:cs typeface="Courier New"/>
                <a:sym typeface="Courier New"/>
              </a:rPr>
              <a:t>struct node {</a:t>
            </a:r>
            <a:endParaRPr/>
          </a:p>
          <a:p>
            <a:pPr indent="-274320" lvl="0" marL="274320" rtl="0" algn="l">
              <a:spcBef>
                <a:spcPts val="208"/>
              </a:spcBef>
              <a:spcAft>
                <a:spcPts val="0"/>
              </a:spcAft>
              <a:buSzPct val="95000"/>
              <a:buNone/>
            </a:pPr>
            <a:r>
              <a:rPr lang="en-US">
                <a:latin typeface="Courier New"/>
                <a:ea typeface="Courier New"/>
                <a:cs typeface="Courier New"/>
                <a:sym typeface="Courier New"/>
              </a:rPr>
              <a:t>  int x;</a:t>
            </a:r>
            <a:endParaRPr/>
          </a:p>
          <a:p>
            <a:pPr indent="-274320" lvl="0" marL="274320" rtl="0" algn="l">
              <a:spcBef>
                <a:spcPts val="208"/>
              </a:spcBef>
              <a:spcAft>
                <a:spcPts val="0"/>
              </a:spcAft>
              <a:buSzPct val="95000"/>
              <a:buNone/>
            </a:pPr>
            <a:r>
              <a:rPr lang="en-US">
                <a:latin typeface="Courier New"/>
                <a:ea typeface="Courier New"/>
                <a:cs typeface="Courier New"/>
                <a:sym typeface="Courier New"/>
              </a:rPr>
              <a:t>  struct node *next;</a:t>
            </a:r>
            <a:endParaRPr/>
          </a:p>
          <a:p>
            <a:pPr indent="-274320" lvl="0" marL="274320" rtl="0" algn="l">
              <a:spcBef>
                <a:spcPts val="208"/>
              </a:spcBef>
              <a:spcAft>
                <a:spcPts val="0"/>
              </a:spcAft>
              <a:buSzPct val="95000"/>
              <a:buNone/>
            </a:pPr>
            <a:r>
              <a:rPr lang="en-US">
                <a:latin typeface="Courier New"/>
                <a:ea typeface="Courier New"/>
                <a:cs typeface="Courier New"/>
                <a:sym typeface="Courier New"/>
              </a:rPr>
              <a:t>};</a:t>
            </a:r>
            <a:endParaRPr/>
          </a:p>
          <a:p>
            <a:pPr indent="-274320" lvl="0" marL="274320" rtl="0" algn="l">
              <a:spcBef>
                <a:spcPts val="208"/>
              </a:spcBef>
              <a:spcAft>
                <a:spcPts val="0"/>
              </a:spcAft>
              <a:buSzPct val="95000"/>
              <a:buNone/>
            </a:pPr>
            <a:r>
              <a:t/>
            </a:r>
            <a:endParaRPr>
              <a:latin typeface="Courier New"/>
              <a:ea typeface="Courier New"/>
              <a:cs typeface="Courier New"/>
              <a:sym typeface="Courier New"/>
            </a:endParaRPr>
          </a:p>
          <a:p>
            <a:pPr indent="-274320" lvl="0" marL="274320" rtl="0" algn="l">
              <a:spcBef>
                <a:spcPts val="208"/>
              </a:spcBef>
              <a:spcAft>
                <a:spcPts val="0"/>
              </a:spcAft>
              <a:buSzPct val="95000"/>
              <a:buNone/>
            </a:pPr>
            <a:r>
              <a:rPr lang="en-US">
                <a:latin typeface="Courier New"/>
                <a:ea typeface="Courier New"/>
                <a:cs typeface="Courier New"/>
                <a:sym typeface="Courier New"/>
              </a:rPr>
              <a:t>void main()</a:t>
            </a:r>
            <a:endParaRPr/>
          </a:p>
          <a:p>
            <a:pPr indent="-274320" lvl="0" marL="274320" rtl="0" algn="l">
              <a:spcBef>
                <a:spcPts val="208"/>
              </a:spcBef>
              <a:spcAft>
                <a:spcPts val="0"/>
              </a:spcAft>
              <a:buSzPct val="95000"/>
              <a:buNone/>
            </a:pPr>
            <a:r>
              <a:rPr lang="en-US">
                <a:latin typeface="Courier New"/>
                <a:ea typeface="Courier New"/>
                <a:cs typeface="Courier New"/>
                <a:sym typeface="Courier New"/>
              </a:rPr>
              <a:t>{</a:t>
            </a:r>
            <a:endParaRPr/>
          </a:p>
          <a:p>
            <a:pPr indent="-274320" lvl="0" marL="274320" rtl="0" algn="l">
              <a:spcBef>
                <a:spcPts val="208"/>
              </a:spcBef>
              <a:spcAft>
                <a:spcPts val="0"/>
              </a:spcAft>
              <a:buSzPct val="95000"/>
              <a:buNone/>
            </a:pPr>
            <a:r>
              <a:rPr lang="en-US">
                <a:latin typeface="Courier New"/>
                <a:ea typeface="Courier New"/>
                <a:cs typeface="Courier New"/>
                <a:sym typeface="Courier New"/>
              </a:rPr>
              <a:t>    /* This will be the unchanging first node */</a:t>
            </a:r>
            <a:endParaRPr/>
          </a:p>
          <a:p>
            <a:pPr indent="-274320" lvl="0" marL="274320" rtl="0" algn="l">
              <a:spcBef>
                <a:spcPts val="208"/>
              </a:spcBef>
              <a:spcAft>
                <a:spcPts val="0"/>
              </a:spcAft>
              <a:buSzPct val="95000"/>
              <a:buNone/>
            </a:pPr>
            <a:r>
              <a:rPr lang="en-US">
                <a:latin typeface="Courier New"/>
                <a:ea typeface="Courier New"/>
                <a:cs typeface="Courier New"/>
                <a:sym typeface="Courier New"/>
              </a:rPr>
              <a:t>    struct node *head;</a:t>
            </a:r>
            <a:endParaRPr/>
          </a:p>
          <a:p>
            <a:pPr indent="-274320" lvl="0" marL="274320" rtl="0" algn="l">
              <a:spcBef>
                <a:spcPts val="208"/>
              </a:spcBef>
              <a:spcAft>
                <a:spcPts val="0"/>
              </a:spcAft>
              <a:buSzPct val="95000"/>
              <a:buNone/>
            </a:pPr>
            <a:r>
              <a:t/>
            </a:r>
            <a:endParaRPr>
              <a:latin typeface="Courier New"/>
              <a:ea typeface="Courier New"/>
              <a:cs typeface="Courier New"/>
              <a:sym typeface="Courier New"/>
            </a:endParaRPr>
          </a:p>
          <a:p>
            <a:pPr indent="-274320" lvl="0" marL="274320" rtl="0" algn="l">
              <a:spcBef>
                <a:spcPts val="208"/>
              </a:spcBef>
              <a:spcAft>
                <a:spcPts val="0"/>
              </a:spcAft>
              <a:buSzPct val="95000"/>
              <a:buNone/>
            </a:pPr>
            <a:r>
              <a:rPr lang="en-US">
                <a:latin typeface="Courier New"/>
                <a:ea typeface="Courier New"/>
                <a:cs typeface="Courier New"/>
                <a:sym typeface="Courier New"/>
              </a:rPr>
              <a:t>    /* Now root points to a node struct */</a:t>
            </a:r>
            <a:endParaRPr/>
          </a:p>
          <a:p>
            <a:pPr indent="-274320" lvl="0" marL="274320" rtl="0" algn="l">
              <a:spcBef>
                <a:spcPts val="208"/>
              </a:spcBef>
              <a:spcAft>
                <a:spcPts val="0"/>
              </a:spcAft>
              <a:buSzPct val="95000"/>
              <a:buNone/>
            </a:pPr>
            <a:r>
              <a:rPr lang="en-US">
                <a:latin typeface="Courier New"/>
                <a:ea typeface="Courier New"/>
                <a:cs typeface="Courier New"/>
                <a:sym typeface="Courier New"/>
              </a:rPr>
              <a:t>    head = malloc( sizeof(struct node) );</a:t>
            </a:r>
            <a:endParaRPr/>
          </a:p>
          <a:p>
            <a:pPr indent="-274320" lvl="0" marL="274320" rtl="0" algn="l">
              <a:spcBef>
                <a:spcPts val="208"/>
              </a:spcBef>
              <a:spcAft>
                <a:spcPts val="0"/>
              </a:spcAft>
              <a:buSzPct val="95000"/>
              <a:buNone/>
            </a:pPr>
            <a:r>
              <a:t/>
            </a:r>
            <a:endParaRPr>
              <a:latin typeface="Courier New"/>
              <a:ea typeface="Courier New"/>
              <a:cs typeface="Courier New"/>
              <a:sym typeface="Courier New"/>
            </a:endParaRPr>
          </a:p>
          <a:p>
            <a:pPr indent="-274320" lvl="0" marL="274320" rtl="0" algn="l">
              <a:spcBef>
                <a:spcPts val="208"/>
              </a:spcBef>
              <a:spcAft>
                <a:spcPts val="0"/>
              </a:spcAft>
              <a:buSzPct val="95000"/>
              <a:buNone/>
            </a:pPr>
            <a:r>
              <a:rPr lang="en-US">
                <a:latin typeface="Courier New"/>
                <a:ea typeface="Courier New"/>
                <a:cs typeface="Courier New"/>
                <a:sym typeface="Courier New"/>
              </a:rPr>
              <a:t>    /* The node root points to has its next pointer equal to a null pointer</a:t>
            </a:r>
            <a:endParaRPr/>
          </a:p>
          <a:p>
            <a:pPr indent="-274320" lvl="0" marL="274320" rtl="0" algn="l">
              <a:spcBef>
                <a:spcPts val="208"/>
              </a:spcBef>
              <a:spcAft>
                <a:spcPts val="0"/>
              </a:spcAft>
              <a:buSzPct val="95000"/>
              <a:buNone/>
            </a:pPr>
            <a:r>
              <a:rPr lang="en-US">
                <a:latin typeface="Courier New"/>
                <a:ea typeface="Courier New"/>
                <a:cs typeface="Courier New"/>
                <a:sym typeface="Courier New"/>
              </a:rPr>
              <a:t>       set */</a:t>
            </a:r>
            <a:endParaRPr/>
          </a:p>
          <a:p>
            <a:pPr indent="-274320" lvl="0" marL="274320" rtl="0" algn="l">
              <a:spcBef>
                <a:spcPts val="208"/>
              </a:spcBef>
              <a:spcAft>
                <a:spcPts val="0"/>
              </a:spcAft>
              <a:buSzPct val="95000"/>
              <a:buNone/>
            </a:pPr>
            <a:r>
              <a:rPr lang="en-US">
                <a:latin typeface="Courier New"/>
                <a:ea typeface="Courier New"/>
                <a:cs typeface="Courier New"/>
                <a:sym typeface="Courier New"/>
              </a:rPr>
              <a:t>    head-&gt;next = 0;</a:t>
            </a:r>
            <a:endParaRPr/>
          </a:p>
          <a:p>
            <a:pPr indent="-274320" lvl="0" marL="274320" rtl="0" algn="l">
              <a:spcBef>
                <a:spcPts val="208"/>
              </a:spcBef>
              <a:spcAft>
                <a:spcPts val="0"/>
              </a:spcAft>
              <a:buSzPct val="95000"/>
              <a:buNone/>
            </a:pPr>
            <a:r>
              <a:rPr lang="en-US">
                <a:latin typeface="Courier New"/>
                <a:ea typeface="Courier New"/>
                <a:cs typeface="Courier New"/>
                <a:sym typeface="Courier New"/>
              </a:rPr>
              <a:t>    /* By using the -&gt; operator, you can modify what the node,</a:t>
            </a:r>
            <a:endParaRPr/>
          </a:p>
          <a:p>
            <a:pPr indent="-274320" lvl="0" marL="274320" rtl="0" algn="l">
              <a:spcBef>
                <a:spcPts val="208"/>
              </a:spcBef>
              <a:spcAft>
                <a:spcPts val="0"/>
              </a:spcAft>
              <a:buSzPct val="95000"/>
              <a:buNone/>
            </a:pPr>
            <a:r>
              <a:rPr lang="en-US">
                <a:latin typeface="Courier New"/>
                <a:ea typeface="Courier New"/>
                <a:cs typeface="Courier New"/>
                <a:sym typeface="Courier New"/>
              </a:rPr>
              <a:t>       a pointer, (root in this case) points to. */</a:t>
            </a:r>
            <a:endParaRPr/>
          </a:p>
          <a:p>
            <a:pPr indent="-274320" lvl="0" marL="274320" rtl="0" algn="l">
              <a:spcBef>
                <a:spcPts val="208"/>
              </a:spcBef>
              <a:spcAft>
                <a:spcPts val="0"/>
              </a:spcAft>
              <a:buSzPct val="95000"/>
              <a:buNone/>
            </a:pPr>
            <a:r>
              <a:rPr lang="en-US">
                <a:latin typeface="Courier New"/>
                <a:ea typeface="Courier New"/>
                <a:cs typeface="Courier New"/>
                <a:sym typeface="Courier New"/>
              </a:rPr>
              <a:t>    head-&gt;x = 5;</a:t>
            </a:r>
            <a:endParaRPr/>
          </a:p>
          <a:p>
            <a:pPr indent="-274320" lvl="0" marL="274320" rtl="0" algn="l">
              <a:spcBef>
                <a:spcPts val="208"/>
              </a:spcBef>
              <a:spcAft>
                <a:spcPts val="0"/>
              </a:spcAft>
              <a:buSzPct val="95000"/>
              <a:buNone/>
            </a:pPr>
            <a:r>
              <a:rPr lang="en-US">
                <a:latin typeface="Courier New"/>
                <a:ea typeface="Courier New"/>
                <a:cs typeface="Courier New"/>
                <a:sym typeface="Courier New"/>
              </a:rPr>
              <a:t>    printf("%d",head-&gt;x);</a:t>
            </a:r>
            <a:endParaRPr/>
          </a:p>
          <a:p>
            <a:pPr indent="-274320" lvl="0" marL="274320" rtl="0" algn="l">
              <a:spcBef>
                <a:spcPts val="208"/>
              </a:spcBef>
              <a:spcAft>
                <a:spcPts val="0"/>
              </a:spcAft>
              <a:buSzPct val="95000"/>
              <a:buNone/>
            </a:pPr>
            <a:r>
              <a:rPr lang="en-US">
                <a:latin typeface="Courier New"/>
                <a:ea typeface="Courier New"/>
                <a:cs typeface="Courier New"/>
                <a:sym typeface="Courier New"/>
              </a:rPr>
              <a:t>}</a:t>
            </a:r>
            <a:endParaRPr/>
          </a:p>
          <a:p>
            <a:pPr indent="-211582" lvl="0" marL="274320" rtl="0" algn="l">
              <a:spcBef>
                <a:spcPts val="208"/>
              </a:spcBef>
              <a:spcAft>
                <a:spcPts val="0"/>
              </a:spcAft>
              <a:buSzPct val="950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Types of Linked List</a:t>
            </a:r>
            <a:endParaRPr/>
          </a:p>
        </p:txBody>
      </p:sp>
      <p:sp>
        <p:nvSpPr>
          <p:cNvPr id="284" name="Google Shape;284;p3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SzPts val="2470"/>
              <a:buFont typeface="Calibri"/>
              <a:buAutoNum type="arabicPeriod" startAt="2"/>
            </a:pPr>
            <a:r>
              <a:rPr lang="en-US"/>
              <a:t>Circular linked list</a:t>
            </a:r>
            <a:endParaRPr/>
          </a:p>
          <a:p>
            <a:pPr indent="-457200" lvl="1" marL="857250" rtl="0" algn="l">
              <a:spcBef>
                <a:spcPts val="480"/>
              </a:spcBef>
              <a:spcAft>
                <a:spcPts val="0"/>
              </a:spcAft>
              <a:buSzPts val="2040"/>
              <a:buChar char="⚫"/>
            </a:pPr>
            <a:r>
              <a:rPr lang="en-US"/>
              <a:t>The pointer from the last element in the list points back to the first element.</a:t>
            </a:r>
            <a:endParaRPr/>
          </a:p>
        </p:txBody>
      </p:sp>
      <p:pic>
        <p:nvPicPr>
          <p:cNvPr id="285" name="Google Shape;285;p38"/>
          <p:cNvPicPr preferRelativeResize="0"/>
          <p:nvPr/>
        </p:nvPicPr>
        <p:blipFill rotWithShape="1">
          <a:blip r:embed="rId3">
            <a:alphaModFix/>
          </a:blip>
          <a:srcRect b="0" l="0" r="0" t="0"/>
          <a:stretch/>
        </p:blipFill>
        <p:spPr>
          <a:xfrm>
            <a:off x="333375" y="3124200"/>
            <a:ext cx="8477250" cy="2733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Types of Linked List</a:t>
            </a:r>
            <a:endParaRPr/>
          </a:p>
        </p:txBody>
      </p:sp>
      <p:sp>
        <p:nvSpPr>
          <p:cNvPr id="291" name="Google Shape;291;p3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SzPts val="2470"/>
              <a:buFont typeface="Calibri"/>
              <a:buAutoNum type="arabicPeriod" startAt="3"/>
            </a:pPr>
            <a:r>
              <a:rPr lang="en-US"/>
              <a:t>Doubly linked list</a:t>
            </a:r>
            <a:endParaRPr/>
          </a:p>
          <a:p>
            <a:pPr indent="-246888" lvl="1" marL="640080" rtl="0" algn="l">
              <a:spcBef>
                <a:spcPts val="480"/>
              </a:spcBef>
              <a:spcAft>
                <a:spcPts val="0"/>
              </a:spcAft>
              <a:buSzPts val="2040"/>
              <a:buChar char="⚫"/>
            </a:pPr>
            <a:r>
              <a:rPr lang="en-US" sz="2400"/>
              <a:t> Pointers exist between adjacent nodes in both directions.</a:t>
            </a:r>
            <a:endParaRPr/>
          </a:p>
          <a:p>
            <a:pPr indent="-246888" lvl="1" marL="640080" rtl="0" algn="l">
              <a:spcBef>
                <a:spcPts val="480"/>
              </a:spcBef>
              <a:spcAft>
                <a:spcPts val="0"/>
              </a:spcAft>
              <a:buSzPts val="2040"/>
              <a:buChar char="⚫"/>
            </a:pPr>
            <a:r>
              <a:rPr lang="en-US" sz="2400"/>
              <a:t> The list can be traversed either forward or backward.</a:t>
            </a:r>
            <a:endParaRPr/>
          </a:p>
          <a:p>
            <a:pPr indent="-246888" lvl="1" marL="640080" rtl="0" algn="l">
              <a:spcBef>
                <a:spcPts val="480"/>
              </a:spcBef>
              <a:spcAft>
                <a:spcPts val="0"/>
              </a:spcAft>
              <a:buSzPts val="2040"/>
              <a:buChar char="⚫"/>
            </a:pPr>
            <a:r>
              <a:rPr lang="en-US" sz="2400"/>
              <a:t> Usually two pointers are maintained to keep track of the list, head and tail.</a:t>
            </a:r>
            <a:endParaRPr/>
          </a:p>
        </p:txBody>
      </p:sp>
      <p:pic>
        <p:nvPicPr>
          <p:cNvPr id="292" name="Google Shape;292;p39"/>
          <p:cNvPicPr preferRelativeResize="0"/>
          <p:nvPr/>
        </p:nvPicPr>
        <p:blipFill rotWithShape="1">
          <a:blip r:embed="rId3">
            <a:alphaModFix/>
          </a:blip>
          <a:srcRect b="0" l="0" r="0" t="0"/>
          <a:stretch/>
        </p:blipFill>
        <p:spPr>
          <a:xfrm>
            <a:off x="256223" y="3962400"/>
            <a:ext cx="8601075" cy="17526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Basic Operations on a Linked List</a:t>
            </a:r>
            <a:endParaRPr/>
          </a:p>
        </p:txBody>
      </p:sp>
      <p:sp>
        <p:nvSpPr>
          <p:cNvPr id="298" name="Google Shape;298;p4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Creating a list</a:t>
            </a:r>
            <a:endParaRPr/>
          </a:p>
          <a:p>
            <a:pPr indent="-274320" lvl="0" marL="274320" rtl="0" algn="l">
              <a:spcBef>
                <a:spcPts val="520"/>
              </a:spcBef>
              <a:spcAft>
                <a:spcPts val="0"/>
              </a:spcAft>
              <a:buSzPts val="2470"/>
              <a:buChar char="⚫"/>
            </a:pPr>
            <a:r>
              <a:rPr lang="en-US"/>
              <a:t>Traversing the list</a:t>
            </a:r>
            <a:endParaRPr/>
          </a:p>
          <a:p>
            <a:pPr indent="-274320" lvl="0" marL="274320" rtl="0" algn="l">
              <a:spcBef>
                <a:spcPts val="520"/>
              </a:spcBef>
              <a:spcAft>
                <a:spcPts val="0"/>
              </a:spcAft>
              <a:buSzPts val="2470"/>
              <a:buChar char="⚫"/>
            </a:pPr>
            <a:r>
              <a:rPr lang="en-US"/>
              <a:t>Inserting an item in the list</a:t>
            </a:r>
            <a:endParaRPr/>
          </a:p>
          <a:p>
            <a:pPr indent="-274320" lvl="0" marL="274320" rtl="0" algn="l">
              <a:spcBef>
                <a:spcPts val="520"/>
              </a:spcBef>
              <a:spcAft>
                <a:spcPts val="0"/>
              </a:spcAft>
              <a:buSzPts val="2470"/>
              <a:buChar char="⚫"/>
            </a:pPr>
            <a:r>
              <a:rPr lang="en-US"/>
              <a:t>Deleting an item from the list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1"/>
          <p:cNvSpPr txBox="1"/>
          <p:nvPr>
            <p:ph type="title"/>
          </p:nvPr>
        </p:nvSpPr>
        <p:spPr>
          <a:xfrm>
            <a:off x="533400" y="228600"/>
            <a:ext cx="8229600" cy="438912"/>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Linked list basic operation example</a:t>
            </a:r>
            <a:endParaRPr/>
          </a:p>
        </p:txBody>
      </p:sp>
      <p:sp>
        <p:nvSpPr>
          <p:cNvPr id="305" name="Google Shape;305;p41"/>
          <p:cNvSpPr txBox="1"/>
          <p:nvPr>
            <p:ph idx="1" type="body"/>
          </p:nvPr>
        </p:nvSpPr>
        <p:spPr>
          <a:xfrm>
            <a:off x="228600" y="762000"/>
            <a:ext cx="3962400" cy="5562600"/>
          </a:xfrm>
          <a:prstGeom prst="rect">
            <a:avLst/>
          </a:prstGeom>
          <a:noFill/>
          <a:ln>
            <a:noFill/>
          </a:ln>
        </p:spPr>
        <p:txBody>
          <a:bodyPr anchorCtr="0" anchor="t" bIns="45700" lIns="91425" spcFirstLastPara="1" rIns="91425" wrap="square" tIns="45700">
            <a:normAutofit fontScale="25000" lnSpcReduction="20000"/>
          </a:bodyPr>
          <a:lstStyle/>
          <a:p>
            <a:pPr indent="-274320" lvl="0" marL="274320" rtl="0" algn="l">
              <a:spcBef>
                <a:spcPts val="0"/>
              </a:spcBef>
              <a:spcAft>
                <a:spcPts val="0"/>
              </a:spcAft>
              <a:buSzPct val="95000"/>
              <a:buNone/>
            </a:pPr>
            <a:r>
              <a:rPr lang="en-US"/>
              <a:t>//Basic Linked list operation</a:t>
            </a:r>
            <a:endParaRPr/>
          </a:p>
          <a:p>
            <a:pPr indent="-274320" lvl="0" marL="274320" rtl="0" algn="l">
              <a:spcBef>
                <a:spcPts val="130"/>
              </a:spcBef>
              <a:spcAft>
                <a:spcPts val="0"/>
              </a:spcAft>
              <a:buSzPct val="95000"/>
              <a:buNone/>
            </a:pPr>
            <a:r>
              <a:rPr lang="en-US"/>
              <a:t>#include &lt;stdio.h&gt;</a:t>
            </a:r>
            <a:endParaRPr/>
          </a:p>
          <a:p>
            <a:pPr indent="-274320" lvl="0" marL="274320" rtl="0" algn="l">
              <a:spcBef>
                <a:spcPts val="130"/>
              </a:spcBef>
              <a:spcAft>
                <a:spcPts val="0"/>
              </a:spcAft>
              <a:buSzPct val="95000"/>
              <a:buNone/>
            </a:pPr>
            <a:r>
              <a:rPr lang="en-US"/>
              <a:t>#include &lt;conio.h&gt;</a:t>
            </a:r>
            <a:endParaRPr/>
          </a:p>
          <a:p>
            <a:pPr indent="-274320" lvl="0" marL="274320" rtl="0" algn="l">
              <a:spcBef>
                <a:spcPts val="130"/>
              </a:spcBef>
              <a:spcAft>
                <a:spcPts val="0"/>
              </a:spcAft>
              <a:buSzPct val="95000"/>
              <a:buNone/>
            </a:pPr>
            <a:r>
              <a:rPr lang="en-US"/>
              <a:t>#include &lt;stdlib.h&gt;</a:t>
            </a:r>
            <a:endParaRPr/>
          </a:p>
          <a:p>
            <a:pPr indent="-274320" lvl="0" marL="274320" rtl="0" algn="l">
              <a:spcBef>
                <a:spcPts val="130"/>
              </a:spcBef>
              <a:spcAft>
                <a:spcPts val="0"/>
              </a:spcAft>
              <a:buSzPct val="95000"/>
              <a:buNone/>
            </a:pPr>
            <a:r>
              <a:rPr lang="en-US"/>
              <a:t>#include &lt;string.h&gt;</a:t>
            </a:r>
            <a:endParaRPr/>
          </a:p>
          <a:p>
            <a:pPr indent="-274320" lvl="0" marL="274320" rtl="0" algn="l">
              <a:spcBef>
                <a:spcPts val="130"/>
              </a:spcBef>
              <a:spcAft>
                <a:spcPts val="0"/>
              </a:spcAft>
              <a:buSzPct val="95000"/>
              <a:buNone/>
            </a:pPr>
            <a:r>
              <a:t/>
            </a:r>
            <a:endParaRPr/>
          </a:p>
          <a:p>
            <a:pPr indent="-274320" lvl="0" marL="274320" rtl="0" algn="l">
              <a:spcBef>
                <a:spcPts val="130"/>
              </a:spcBef>
              <a:spcAft>
                <a:spcPts val="0"/>
              </a:spcAft>
              <a:buSzPct val="95000"/>
              <a:buNone/>
            </a:pPr>
            <a:r>
              <a:rPr lang="en-US"/>
              <a:t>/* Program for single linked list which inserts / deletes data into linked list. */</a:t>
            </a:r>
            <a:endParaRPr/>
          </a:p>
          <a:p>
            <a:pPr indent="-274320" lvl="0" marL="274320" rtl="0" algn="l">
              <a:spcBef>
                <a:spcPts val="130"/>
              </a:spcBef>
              <a:spcAft>
                <a:spcPts val="0"/>
              </a:spcAft>
              <a:buSzPct val="95000"/>
              <a:buNone/>
            </a:pPr>
            <a:r>
              <a:t/>
            </a:r>
            <a:endParaRPr/>
          </a:p>
          <a:p>
            <a:pPr indent="-274320" lvl="0" marL="274320" rtl="0" algn="l">
              <a:spcBef>
                <a:spcPts val="130"/>
              </a:spcBef>
              <a:spcAft>
                <a:spcPts val="0"/>
              </a:spcAft>
              <a:buSzPct val="95000"/>
              <a:buNone/>
            </a:pPr>
            <a:r>
              <a:rPr lang="en-US"/>
              <a:t>// Structure templates</a:t>
            </a:r>
            <a:endParaRPr/>
          </a:p>
          <a:p>
            <a:pPr indent="-274320" lvl="0" marL="274320" rtl="0" algn="l">
              <a:spcBef>
                <a:spcPts val="130"/>
              </a:spcBef>
              <a:spcAft>
                <a:spcPts val="0"/>
              </a:spcAft>
              <a:buSzPct val="95000"/>
              <a:buNone/>
            </a:pPr>
            <a:r>
              <a:rPr lang="en-US"/>
              <a:t>struct list</a:t>
            </a:r>
            <a:endParaRPr/>
          </a:p>
          <a:p>
            <a:pPr indent="-274320" lvl="0" marL="274320" rtl="0" algn="l">
              <a:spcBef>
                <a:spcPts val="130"/>
              </a:spcBef>
              <a:spcAft>
                <a:spcPts val="0"/>
              </a:spcAft>
              <a:buSzPct val="95000"/>
              <a:buNone/>
            </a:pPr>
            <a:r>
              <a:rPr lang="en-US"/>
              <a:t>{</a:t>
            </a:r>
            <a:endParaRPr/>
          </a:p>
          <a:p>
            <a:pPr indent="-274320" lvl="0" marL="274320" rtl="0" algn="l">
              <a:spcBef>
                <a:spcPts val="130"/>
              </a:spcBef>
              <a:spcAft>
                <a:spcPts val="0"/>
              </a:spcAft>
              <a:buSzPct val="95000"/>
              <a:buNone/>
            </a:pPr>
            <a:r>
              <a:rPr lang="en-US"/>
              <a:t>    int no;</a:t>
            </a:r>
            <a:endParaRPr/>
          </a:p>
          <a:p>
            <a:pPr indent="-274320" lvl="0" marL="274320" rtl="0" algn="l">
              <a:spcBef>
                <a:spcPts val="130"/>
              </a:spcBef>
              <a:spcAft>
                <a:spcPts val="0"/>
              </a:spcAft>
              <a:buSzPct val="95000"/>
              <a:buNone/>
            </a:pPr>
            <a:r>
              <a:rPr lang="en-US"/>
              <a:t>    struct list *shortlink;</a:t>
            </a:r>
            <a:endParaRPr/>
          </a:p>
          <a:p>
            <a:pPr indent="-274320" lvl="0" marL="274320" rtl="0" algn="l">
              <a:spcBef>
                <a:spcPts val="130"/>
              </a:spcBef>
              <a:spcAft>
                <a:spcPts val="0"/>
              </a:spcAft>
              <a:buSzPct val="95000"/>
              <a:buNone/>
            </a:pPr>
            <a:r>
              <a:rPr lang="en-US"/>
              <a:t>};</a:t>
            </a:r>
            <a:endParaRPr/>
          </a:p>
          <a:p>
            <a:pPr indent="-274320" lvl="0" marL="274320" rtl="0" algn="l">
              <a:spcBef>
                <a:spcPts val="130"/>
              </a:spcBef>
              <a:spcAft>
                <a:spcPts val="0"/>
              </a:spcAft>
              <a:buSzPct val="95000"/>
              <a:buNone/>
            </a:pPr>
            <a:r>
              <a:rPr lang="en-US"/>
              <a:t>typedef struct list node;</a:t>
            </a:r>
            <a:endParaRPr/>
          </a:p>
          <a:p>
            <a:pPr indent="-274320" lvl="0" marL="274320" rtl="0" algn="l">
              <a:spcBef>
                <a:spcPts val="130"/>
              </a:spcBef>
              <a:spcAft>
                <a:spcPts val="0"/>
              </a:spcAft>
              <a:buSzPct val="95000"/>
              <a:buNone/>
            </a:pPr>
            <a:r>
              <a:t/>
            </a:r>
            <a:endParaRPr/>
          </a:p>
          <a:p>
            <a:pPr indent="-274320" lvl="0" marL="274320" rtl="0" algn="l">
              <a:spcBef>
                <a:spcPts val="130"/>
              </a:spcBef>
              <a:spcAft>
                <a:spcPts val="0"/>
              </a:spcAft>
              <a:buSzPct val="95000"/>
              <a:buNone/>
            </a:pPr>
            <a:r>
              <a:rPr lang="en-US"/>
              <a:t>node *head = NULL;</a:t>
            </a:r>
            <a:endParaRPr/>
          </a:p>
          <a:p>
            <a:pPr indent="-274320" lvl="0" marL="274320" rtl="0" algn="l">
              <a:spcBef>
                <a:spcPts val="130"/>
              </a:spcBef>
              <a:spcAft>
                <a:spcPts val="0"/>
              </a:spcAft>
              <a:buSzPct val="95000"/>
              <a:buNone/>
            </a:pPr>
            <a:r>
              <a:t/>
            </a:r>
            <a:endParaRPr/>
          </a:p>
          <a:p>
            <a:pPr indent="-274320" lvl="0" marL="274320" rtl="0" algn="l">
              <a:spcBef>
                <a:spcPts val="130"/>
              </a:spcBef>
              <a:spcAft>
                <a:spcPts val="0"/>
              </a:spcAft>
              <a:buSzPct val="95000"/>
              <a:buNone/>
            </a:pPr>
            <a:r>
              <a:rPr lang="en-US"/>
              <a:t>void init(node*);</a:t>
            </a:r>
            <a:endParaRPr/>
          </a:p>
          <a:p>
            <a:pPr indent="-274320" lvl="0" marL="274320" rtl="0" algn="l">
              <a:spcBef>
                <a:spcPts val="130"/>
              </a:spcBef>
              <a:spcAft>
                <a:spcPts val="0"/>
              </a:spcAft>
              <a:buSzPct val="95000"/>
              <a:buNone/>
            </a:pPr>
            <a:r>
              <a:rPr lang="en-US"/>
              <a:t>void InsertNode();</a:t>
            </a:r>
            <a:endParaRPr/>
          </a:p>
          <a:p>
            <a:pPr indent="-274320" lvl="0" marL="274320" rtl="0" algn="l">
              <a:spcBef>
                <a:spcPts val="130"/>
              </a:spcBef>
              <a:spcAft>
                <a:spcPts val="0"/>
              </a:spcAft>
              <a:buSzPct val="95000"/>
              <a:buNone/>
            </a:pPr>
            <a:r>
              <a:rPr lang="en-US"/>
              <a:t>void DeleteNode();</a:t>
            </a:r>
            <a:endParaRPr/>
          </a:p>
          <a:p>
            <a:pPr indent="-274320" lvl="0" marL="274320" rtl="0" algn="l">
              <a:spcBef>
                <a:spcPts val="130"/>
              </a:spcBef>
              <a:spcAft>
                <a:spcPts val="0"/>
              </a:spcAft>
              <a:buSzPct val="95000"/>
              <a:buNone/>
            </a:pPr>
            <a:r>
              <a:rPr lang="en-US"/>
              <a:t>void DisplayList();</a:t>
            </a:r>
            <a:endParaRPr/>
          </a:p>
          <a:p>
            <a:pPr indent="-274320" lvl="0" marL="274320" rtl="0" algn="l">
              <a:spcBef>
                <a:spcPts val="130"/>
              </a:spcBef>
              <a:spcAft>
                <a:spcPts val="0"/>
              </a:spcAft>
              <a:buSzPct val="95000"/>
              <a:buNone/>
            </a:pPr>
            <a:r>
              <a:t/>
            </a:r>
            <a:endParaRPr/>
          </a:p>
          <a:p>
            <a:pPr indent="-274320" lvl="0" marL="274320" rtl="0" algn="l">
              <a:spcBef>
                <a:spcPts val="130"/>
              </a:spcBef>
              <a:spcAft>
                <a:spcPts val="0"/>
              </a:spcAft>
              <a:buSzPct val="95000"/>
              <a:buNone/>
            </a:pPr>
            <a:r>
              <a:rPr lang="en-US"/>
              <a:t>void main()</a:t>
            </a:r>
            <a:endParaRPr/>
          </a:p>
          <a:p>
            <a:pPr indent="-274320" lvl="0" marL="274320" rtl="0" algn="l">
              <a:spcBef>
                <a:spcPts val="130"/>
              </a:spcBef>
              <a:spcAft>
                <a:spcPts val="0"/>
              </a:spcAft>
              <a:buSzPct val="95000"/>
              <a:buNone/>
            </a:pPr>
            <a:r>
              <a:rPr lang="en-US"/>
              <a:t>{</a:t>
            </a:r>
            <a:endParaRPr/>
          </a:p>
          <a:p>
            <a:pPr indent="-274320" lvl="0" marL="274320" rtl="0" algn="l">
              <a:spcBef>
                <a:spcPts val="130"/>
              </a:spcBef>
              <a:spcAft>
                <a:spcPts val="0"/>
              </a:spcAft>
              <a:buSzPct val="95000"/>
              <a:buNone/>
            </a:pPr>
            <a:r>
              <a:rPr lang="en-US"/>
              <a:t>    char ch = 'n';</a:t>
            </a:r>
            <a:endParaRPr/>
          </a:p>
          <a:p>
            <a:pPr indent="-274320" lvl="0" marL="274320" rtl="0" algn="l">
              <a:spcBef>
                <a:spcPts val="130"/>
              </a:spcBef>
              <a:spcAft>
                <a:spcPts val="0"/>
              </a:spcAft>
              <a:buSzPct val="95000"/>
              <a:buNone/>
            </a:pPr>
            <a:r>
              <a:rPr lang="en-US"/>
              <a:t>    int opt;</a:t>
            </a:r>
            <a:endParaRPr/>
          </a:p>
          <a:p>
            <a:pPr indent="-274320" lvl="0" marL="274320" rtl="0" algn="l">
              <a:spcBef>
                <a:spcPts val="130"/>
              </a:spcBef>
              <a:spcAft>
                <a:spcPts val="0"/>
              </a:spcAft>
              <a:buSzPct val="95000"/>
              <a:buNone/>
            </a:pPr>
            <a:r>
              <a:rPr lang="en-US"/>
              <a:t>    do</a:t>
            </a:r>
            <a:endParaRPr/>
          </a:p>
          <a:p>
            <a:pPr indent="-274320" lvl="0" marL="274320" rtl="0" algn="l">
              <a:spcBef>
                <a:spcPts val="130"/>
              </a:spcBef>
              <a:spcAft>
                <a:spcPts val="0"/>
              </a:spcAft>
              <a:buSzPct val="95000"/>
              <a:buNone/>
            </a:pPr>
            <a:r>
              <a:rPr lang="en-US"/>
              <a:t>    {</a:t>
            </a:r>
            <a:endParaRPr/>
          </a:p>
          <a:p>
            <a:pPr indent="-274320" lvl="0" marL="274320" rtl="0" algn="l">
              <a:spcBef>
                <a:spcPts val="130"/>
              </a:spcBef>
              <a:spcAft>
                <a:spcPts val="0"/>
              </a:spcAft>
              <a:buSzPct val="95000"/>
              <a:buNone/>
            </a:pPr>
            <a:r>
              <a:rPr lang="en-US"/>
              <a:t>        printf("\nEnter your option\n");</a:t>
            </a:r>
            <a:endParaRPr/>
          </a:p>
          <a:p>
            <a:pPr indent="-274320" lvl="0" marL="274320" rtl="0" algn="l">
              <a:spcBef>
                <a:spcPts val="130"/>
              </a:spcBef>
              <a:spcAft>
                <a:spcPts val="0"/>
              </a:spcAft>
              <a:buSzPct val="95000"/>
              <a:buNone/>
            </a:pPr>
            <a:r>
              <a:rPr lang="en-US"/>
              <a:t>        printf("\n1. Insert a node\n");</a:t>
            </a:r>
            <a:endParaRPr/>
          </a:p>
          <a:p>
            <a:pPr indent="-274320" lvl="0" marL="274320" rtl="0" algn="l">
              <a:spcBef>
                <a:spcPts val="130"/>
              </a:spcBef>
              <a:spcAft>
                <a:spcPts val="0"/>
              </a:spcAft>
              <a:buSzPct val="95000"/>
              <a:buNone/>
            </a:pPr>
            <a:r>
              <a:rPr lang="en-US"/>
              <a:t>        printf("\n2. Delete a particular node\n");</a:t>
            </a:r>
            <a:endParaRPr/>
          </a:p>
          <a:p>
            <a:pPr indent="-274320" lvl="0" marL="274320" rtl="0" algn="l">
              <a:spcBef>
                <a:spcPts val="130"/>
              </a:spcBef>
              <a:spcAft>
                <a:spcPts val="0"/>
              </a:spcAft>
              <a:buSzPct val="95000"/>
              <a:buNone/>
            </a:pPr>
            <a:r>
              <a:rPr lang="en-US"/>
              <a:t>        printf("\n3. Display all the nodes\n");</a:t>
            </a:r>
            <a:endParaRPr/>
          </a:p>
          <a:p>
            <a:pPr indent="-274320" lvl="0" marL="274320" rtl="0" algn="l">
              <a:spcBef>
                <a:spcPts val="130"/>
              </a:spcBef>
              <a:spcAft>
                <a:spcPts val="0"/>
              </a:spcAft>
              <a:buSzPct val="95000"/>
              <a:buNone/>
            </a:pPr>
            <a:r>
              <a:rPr lang="en-US"/>
              <a:t>        printf("\n4. Exit the application\n");</a:t>
            </a:r>
            <a:endParaRPr/>
          </a:p>
          <a:p>
            <a:pPr indent="-274320" lvl="0" marL="274320" rtl="0" algn="l">
              <a:spcBef>
                <a:spcPts val="130"/>
              </a:spcBef>
              <a:spcAft>
                <a:spcPts val="0"/>
              </a:spcAft>
              <a:buSzPct val="95000"/>
              <a:buNone/>
            </a:pPr>
            <a:r>
              <a:rPr lang="en-US"/>
              <a:t>        scanf("%d",&amp;opt);</a:t>
            </a:r>
            <a:endParaRPr/>
          </a:p>
          <a:p>
            <a:pPr indent="-274320" lvl="0" marL="274320" rtl="0" algn="l">
              <a:spcBef>
                <a:spcPts val="130"/>
              </a:spcBef>
              <a:spcAft>
                <a:spcPts val="0"/>
              </a:spcAft>
              <a:buSzPct val="95000"/>
              <a:buNone/>
            </a:pPr>
            <a:r>
              <a:rPr lang="en-US"/>
              <a:t>        switch(opt)</a:t>
            </a:r>
            <a:endParaRPr/>
          </a:p>
          <a:p>
            <a:pPr indent="-274320" lvl="0" marL="274320" rtl="0" algn="l">
              <a:spcBef>
                <a:spcPts val="130"/>
              </a:spcBef>
              <a:spcAft>
                <a:spcPts val="0"/>
              </a:spcAft>
              <a:buSzPct val="95000"/>
              <a:buNone/>
            </a:pPr>
            <a:r>
              <a:rPr lang="en-US"/>
              <a:t>        {</a:t>
            </a:r>
            <a:endParaRPr/>
          </a:p>
          <a:p>
            <a:pPr indent="-274320" lvl="0" marL="274320" rtl="0" algn="l">
              <a:spcBef>
                <a:spcPts val="130"/>
              </a:spcBef>
              <a:spcAft>
                <a:spcPts val="0"/>
              </a:spcAft>
              <a:buSzPct val="95000"/>
              <a:buNone/>
            </a:pPr>
            <a:r>
              <a:rPr lang="en-US"/>
              <a:t>        case 1:</a:t>
            </a:r>
            <a:endParaRPr/>
          </a:p>
          <a:p>
            <a:pPr indent="-274320" lvl="0" marL="274320" rtl="0" algn="l">
              <a:spcBef>
                <a:spcPts val="130"/>
              </a:spcBef>
              <a:spcAft>
                <a:spcPts val="0"/>
              </a:spcAft>
              <a:buSzPct val="95000"/>
              <a:buNone/>
            </a:pPr>
            <a:r>
              <a:rPr lang="en-US"/>
              <a:t>            InsertNode();</a:t>
            </a:r>
            <a:endParaRPr/>
          </a:p>
          <a:p>
            <a:pPr indent="-274320" lvl="0" marL="274320" rtl="0" algn="l">
              <a:spcBef>
                <a:spcPts val="130"/>
              </a:spcBef>
              <a:spcAft>
                <a:spcPts val="0"/>
              </a:spcAft>
              <a:buSzPct val="95000"/>
              <a:buNone/>
            </a:pPr>
            <a:r>
              <a:rPr lang="en-US"/>
              <a:t>            DisplayList();</a:t>
            </a:r>
            <a:endParaRPr/>
          </a:p>
          <a:p>
            <a:pPr indent="-274320" lvl="0" marL="274320" rtl="0" algn="l">
              <a:spcBef>
                <a:spcPts val="130"/>
              </a:spcBef>
              <a:spcAft>
                <a:spcPts val="0"/>
              </a:spcAft>
              <a:buSzPct val="95000"/>
              <a:buNone/>
            </a:pPr>
            <a:r>
              <a:rPr lang="en-US"/>
              <a:t>            break;</a:t>
            </a:r>
            <a:endParaRPr/>
          </a:p>
          <a:p>
            <a:pPr indent="-274320" lvl="0" marL="274320" rtl="0" algn="l">
              <a:spcBef>
                <a:spcPts val="130"/>
              </a:spcBef>
              <a:spcAft>
                <a:spcPts val="0"/>
              </a:spcAft>
              <a:buSzPct val="95000"/>
              <a:buNone/>
            </a:pPr>
            <a:r>
              <a:rPr lang="en-US"/>
              <a:t>        case 2:</a:t>
            </a:r>
            <a:endParaRPr/>
          </a:p>
          <a:p>
            <a:pPr indent="-274320" lvl="0" marL="274320" rtl="0" algn="l">
              <a:spcBef>
                <a:spcPts val="130"/>
              </a:spcBef>
              <a:spcAft>
                <a:spcPts val="0"/>
              </a:spcAft>
              <a:buSzPct val="95000"/>
              <a:buNone/>
            </a:pPr>
            <a:r>
              <a:rPr lang="en-US"/>
              <a:t>            DeleteNode();</a:t>
            </a:r>
            <a:endParaRPr/>
          </a:p>
          <a:p>
            <a:pPr indent="-274320" lvl="0" marL="274320" rtl="0" algn="l">
              <a:spcBef>
                <a:spcPts val="130"/>
              </a:spcBef>
              <a:spcAft>
                <a:spcPts val="0"/>
              </a:spcAft>
              <a:buSzPct val="95000"/>
              <a:buNone/>
            </a:pPr>
            <a:r>
              <a:rPr lang="en-US"/>
              <a:t>            DisplayList();</a:t>
            </a:r>
            <a:endParaRPr/>
          </a:p>
          <a:p>
            <a:pPr indent="-274320" lvl="0" marL="274320" rtl="0" algn="l">
              <a:spcBef>
                <a:spcPts val="130"/>
              </a:spcBef>
              <a:spcAft>
                <a:spcPts val="0"/>
              </a:spcAft>
              <a:buSzPct val="95000"/>
              <a:buNone/>
            </a:pPr>
            <a:r>
              <a:rPr lang="en-US"/>
              <a:t>            break;</a:t>
            </a:r>
            <a:endParaRPr/>
          </a:p>
          <a:p>
            <a:pPr indent="-274320" lvl="0" marL="274320" rtl="0" algn="l">
              <a:spcBef>
                <a:spcPts val="130"/>
              </a:spcBef>
              <a:spcAft>
                <a:spcPts val="0"/>
              </a:spcAft>
              <a:buSzPct val="95000"/>
              <a:buNone/>
            </a:pPr>
            <a:r>
              <a:rPr lang="en-US"/>
              <a:t>        case 3:</a:t>
            </a:r>
            <a:endParaRPr/>
          </a:p>
          <a:p>
            <a:pPr indent="-274320" lvl="0" marL="274320" rtl="0" algn="l">
              <a:spcBef>
                <a:spcPts val="130"/>
              </a:spcBef>
              <a:spcAft>
                <a:spcPts val="0"/>
              </a:spcAft>
              <a:buSzPct val="95000"/>
              <a:buNone/>
            </a:pPr>
            <a:r>
              <a:rPr lang="en-US"/>
              <a:t>            DisplayList();</a:t>
            </a:r>
            <a:endParaRPr/>
          </a:p>
          <a:p>
            <a:pPr indent="-274320" lvl="0" marL="274320" rtl="0" algn="l">
              <a:spcBef>
                <a:spcPts val="130"/>
              </a:spcBef>
              <a:spcAft>
                <a:spcPts val="0"/>
              </a:spcAft>
              <a:buSzPct val="95000"/>
              <a:buNone/>
            </a:pPr>
            <a:r>
              <a:rPr lang="en-US"/>
              <a:t>            break;</a:t>
            </a:r>
            <a:endParaRPr/>
          </a:p>
          <a:p>
            <a:pPr indent="-274320" lvl="0" marL="274320" rtl="0" algn="l">
              <a:spcBef>
                <a:spcPts val="130"/>
              </a:spcBef>
              <a:spcAft>
                <a:spcPts val="0"/>
              </a:spcAft>
              <a:buSzPct val="95000"/>
              <a:buNone/>
            </a:pPr>
            <a:r>
              <a:rPr lang="en-US"/>
              <a:t>        case 4:</a:t>
            </a:r>
            <a:endParaRPr/>
          </a:p>
          <a:p>
            <a:pPr indent="-274320" lvl="0" marL="274320" rtl="0" algn="l">
              <a:spcBef>
                <a:spcPts val="130"/>
              </a:spcBef>
              <a:spcAft>
                <a:spcPts val="0"/>
              </a:spcAft>
              <a:buSzPct val="95000"/>
              <a:buNone/>
            </a:pPr>
            <a:r>
              <a:rPr lang="en-US"/>
              <a:t>            ch = 'y';</a:t>
            </a:r>
            <a:endParaRPr/>
          </a:p>
          <a:p>
            <a:pPr indent="-274320" lvl="0" marL="274320" rtl="0" algn="l">
              <a:spcBef>
                <a:spcPts val="130"/>
              </a:spcBef>
              <a:spcAft>
                <a:spcPts val="0"/>
              </a:spcAft>
              <a:buSzPct val="95000"/>
              <a:buNone/>
            </a:pPr>
            <a:r>
              <a:rPr lang="en-US"/>
              <a:t>            break;</a:t>
            </a:r>
            <a:endParaRPr/>
          </a:p>
          <a:p>
            <a:pPr indent="-274320" lvl="0" marL="274320" rtl="0" algn="l">
              <a:spcBef>
                <a:spcPts val="130"/>
              </a:spcBef>
              <a:spcAft>
                <a:spcPts val="0"/>
              </a:spcAft>
              <a:buSzPct val="95000"/>
              <a:buNone/>
            </a:pPr>
            <a:r>
              <a:rPr lang="en-US"/>
              <a:t>        }</a:t>
            </a:r>
            <a:endParaRPr/>
          </a:p>
          <a:p>
            <a:pPr indent="-274320" lvl="0" marL="274320" rtl="0" algn="l">
              <a:spcBef>
                <a:spcPts val="130"/>
              </a:spcBef>
              <a:spcAft>
                <a:spcPts val="0"/>
              </a:spcAft>
              <a:buSzPct val="95000"/>
              <a:buNone/>
            </a:pPr>
            <a:r>
              <a:rPr lang="en-US"/>
              <a:t>    }while(ch != 'y');</a:t>
            </a:r>
            <a:endParaRPr/>
          </a:p>
          <a:p>
            <a:pPr indent="-274320" lvl="0" marL="274320" rtl="0" algn="l">
              <a:spcBef>
                <a:spcPts val="130"/>
              </a:spcBef>
              <a:spcAft>
                <a:spcPts val="0"/>
              </a:spcAft>
              <a:buSzPct val="95000"/>
              <a:buNone/>
            </a:pPr>
            <a:r>
              <a:rPr lang="en-US"/>
              <a:t>    printf("\nDone by \"SHABBIR\"\n");</a:t>
            </a:r>
            <a:endParaRPr/>
          </a:p>
          <a:p>
            <a:pPr indent="-274320" lvl="0" marL="274320" rtl="0" algn="l">
              <a:spcBef>
                <a:spcPts val="130"/>
              </a:spcBef>
              <a:spcAft>
                <a:spcPts val="0"/>
              </a:spcAft>
              <a:buSzPct val="95000"/>
              <a:buNone/>
            </a:pPr>
            <a:r>
              <a:rPr lang="en-US"/>
              <a:t>    getch();</a:t>
            </a:r>
            <a:endParaRPr/>
          </a:p>
          <a:p>
            <a:pPr indent="-274320" lvl="0" marL="274320" rtl="0" algn="l">
              <a:spcBef>
                <a:spcPts val="130"/>
              </a:spcBef>
              <a:spcAft>
                <a:spcPts val="0"/>
              </a:spcAft>
              <a:buSzPct val="95000"/>
              <a:buNone/>
            </a:pPr>
            <a:r>
              <a:rPr lang="en-US"/>
              <a:t>}</a:t>
            </a:r>
            <a:endParaRPr/>
          </a:p>
          <a:p>
            <a:pPr indent="-274320" lvl="0" marL="274320" rtl="0" algn="l">
              <a:spcBef>
                <a:spcPts val="130"/>
              </a:spcBef>
              <a:spcAft>
                <a:spcPts val="0"/>
              </a:spcAft>
              <a:buSzPct val="95000"/>
              <a:buNone/>
            </a:pPr>
            <a:r>
              <a:t/>
            </a:r>
            <a:endParaRPr/>
          </a:p>
        </p:txBody>
      </p:sp>
      <p:sp>
        <p:nvSpPr>
          <p:cNvPr id="306" name="Google Shape;306;p41"/>
          <p:cNvSpPr txBox="1"/>
          <p:nvPr/>
        </p:nvSpPr>
        <p:spPr>
          <a:xfrm>
            <a:off x="3429000" y="685800"/>
            <a:ext cx="3200400" cy="6017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void init(node *current)</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printf("\nEnter number\n");</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scanf("%d",&amp;current-&gt;no);</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current-&gt;shortlink = NULL;</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a:t>
            </a:r>
            <a:endParaRPr/>
          </a:p>
          <a:p>
            <a:pPr indent="0" lvl="0" marL="0" marR="0" rtl="0" algn="l">
              <a:spcBef>
                <a:spcPts val="0"/>
              </a:spcBef>
              <a:spcAft>
                <a:spcPts val="0"/>
              </a:spcAft>
              <a:buClr>
                <a:schemeClr val="dk1"/>
              </a:buClr>
              <a:buSzPts val="700"/>
              <a:buFont typeface="Constantia"/>
              <a:buNone/>
            </a:pPr>
            <a:r>
              <a:t/>
            </a:r>
            <a:endParaRPr sz="700">
              <a:solidFill>
                <a:schemeClr val="dk1"/>
              </a:solidFill>
              <a:latin typeface="Constantia"/>
              <a:ea typeface="Constantia"/>
              <a:cs typeface="Constantia"/>
              <a:sym typeface="Constantia"/>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void InsertNode()</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node *newnode;</a:t>
            </a:r>
            <a:endParaRPr/>
          </a:p>
          <a:p>
            <a:pPr indent="0" lvl="0" marL="0" marR="0" rtl="0" algn="l">
              <a:spcBef>
                <a:spcPts val="0"/>
              </a:spcBef>
              <a:spcAft>
                <a:spcPts val="0"/>
              </a:spcAft>
              <a:buClr>
                <a:schemeClr val="dk1"/>
              </a:buClr>
              <a:buSzPts val="700"/>
              <a:buFont typeface="Constantia"/>
              <a:buNone/>
            </a:pPr>
            <a:r>
              <a:t/>
            </a:r>
            <a:endParaRPr sz="700">
              <a:solidFill>
                <a:schemeClr val="dk1"/>
              </a:solidFill>
              <a:latin typeface="Constantia"/>
              <a:ea typeface="Constantia"/>
              <a:cs typeface="Constantia"/>
              <a:sym typeface="Constantia"/>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newnode=(node*)malloc(sizeof(node));</a:t>
            </a:r>
            <a:endParaRPr/>
          </a:p>
          <a:p>
            <a:pPr indent="0" lvl="0" marL="0" marR="0" rtl="0" algn="l">
              <a:spcBef>
                <a:spcPts val="0"/>
              </a:spcBef>
              <a:spcAft>
                <a:spcPts val="0"/>
              </a:spcAft>
              <a:buClr>
                <a:schemeClr val="dk1"/>
              </a:buClr>
              <a:buSzPts val="700"/>
              <a:buFont typeface="Constantia"/>
              <a:buNone/>
            </a:pPr>
            <a:r>
              <a:t/>
            </a:r>
            <a:endParaRPr sz="700">
              <a:solidFill>
                <a:schemeClr val="dk1"/>
              </a:solidFill>
              <a:latin typeface="Constantia"/>
              <a:ea typeface="Constantia"/>
              <a:cs typeface="Constantia"/>
              <a:sym typeface="Constantia"/>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init(newnode);</a:t>
            </a:r>
            <a:endParaRPr/>
          </a:p>
          <a:p>
            <a:pPr indent="0" lvl="0" marL="0" marR="0" rtl="0" algn="l">
              <a:spcBef>
                <a:spcPts val="0"/>
              </a:spcBef>
              <a:spcAft>
                <a:spcPts val="0"/>
              </a:spcAft>
              <a:buClr>
                <a:schemeClr val="dk1"/>
              </a:buClr>
              <a:buSzPts val="700"/>
              <a:buFont typeface="Constantia"/>
              <a:buNone/>
            </a:pPr>
            <a:r>
              <a:t/>
            </a:r>
            <a:endParaRPr sz="700">
              <a:solidFill>
                <a:schemeClr val="dk1"/>
              </a:solidFill>
              <a:latin typeface="Constantia"/>
              <a:ea typeface="Constantia"/>
              <a:cs typeface="Constantia"/>
              <a:sym typeface="Constantia"/>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if(head == NULL)</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head = newnode;</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else</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node *current = head;</a:t>
            </a:r>
            <a:endParaRPr/>
          </a:p>
          <a:p>
            <a:pPr indent="0" lvl="0" marL="0" marR="0" rtl="0" algn="l">
              <a:spcBef>
                <a:spcPts val="0"/>
              </a:spcBef>
              <a:spcAft>
                <a:spcPts val="0"/>
              </a:spcAft>
              <a:buClr>
                <a:schemeClr val="dk1"/>
              </a:buClr>
              <a:buSzPts val="700"/>
              <a:buFont typeface="Constantia"/>
              <a:buNone/>
            </a:pPr>
            <a:r>
              <a:t/>
            </a:r>
            <a:endParaRPr sz="700">
              <a:solidFill>
                <a:schemeClr val="dk1"/>
              </a:solidFill>
              <a:latin typeface="Constantia"/>
              <a:ea typeface="Constantia"/>
              <a:cs typeface="Constantia"/>
              <a:sym typeface="Constantia"/>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 Move to the end of the linked list</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while(current-&gt;shortlink!=NULL)</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current=current-&gt;shortlink;</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if(current-&gt;shortlink==NULL)</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newnode-&gt;shortlink = current-&gt;shortlink;</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current-&gt;shortlink = newnode;</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a:t>
            </a:r>
            <a:endParaRPr/>
          </a:p>
          <a:p>
            <a:pPr indent="0" lvl="0" marL="0" marR="0" rtl="0" algn="l">
              <a:spcBef>
                <a:spcPts val="0"/>
              </a:spcBef>
              <a:spcAft>
                <a:spcPts val="0"/>
              </a:spcAft>
              <a:buClr>
                <a:schemeClr val="dk1"/>
              </a:buClr>
              <a:buSzPts val="700"/>
              <a:buFont typeface="Constantia"/>
              <a:buNone/>
            </a:pPr>
            <a:r>
              <a:t/>
            </a:r>
            <a:endParaRPr sz="700">
              <a:solidFill>
                <a:schemeClr val="dk1"/>
              </a:solidFill>
              <a:latin typeface="Constantia"/>
              <a:ea typeface="Constantia"/>
              <a:cs typeface="Constantia"/>
              <a:sym typeface="Constantia"/>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void DeleteNode()</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node* current = head;</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int rno;</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node *newnode,*temp;</a:t>
            </a:r>
            <a:endParaRPr/>
          </a:p>
          <a:p>
            <a:pPr indent="0" lvl="0" marL="0" marR="0" rtl="0" algn="l">
              <a:spcBef>
                <a:spcPts val="0"/>
              </a:spcBef>
              <a:spcAft>
                <a:spcPts val="0"/>
              </a:spcAft>
              <a:buClr>
                <a:schemeClr val="dk1"/>
              </a:buClr>
              <a:buSzPts val="700"/>
              <a:buFont typeface="Constantia"/>
              <a:buNone/>
            </a:pPr>
            <a:r>
              <a:t/>
            </a:r>
            <a:endParaRPr sz="700">
              <a:solidFill>
                <a:schemeClr val="dk1"/>
              </a:solidFill>
              <a:latin typeface="Constantia"/>
              <a:ea typeface="Constantia"/>
              <a:cs typeface="Constantia"/>
              <a:sym typeface="Constantia"/>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printf("\nEnter the number whose node you want to delete\n");</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scanf("%d",&amp;rno);</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newnode=current;</a:t>
            </a:r>
            <a:endParaRPr/>
          </a:p>
          <a:p>
            <a:pPr indent="0" lvl="0" marL="0" marR="0" rtl="0" algn="l">
              <a:spcBef>
                <a:spcPts val="0"/>
              </a:spcBef>
              <a:spcAft>
                <a:spcPts val="0"/>
              </a:spcAft>
              <a:buClr>
                <a:schemeClr val="dk1"/>
              </a:buClr>
              <a:buSzPts val="700"/>
              <a:buFont typeface="Constantia"/>
              <a:buNone/>
            </a:pPr>
            <a:r>
              <a:t/>
            </a:r>
            <a:endParaRPr sz="700">
              <a:solidFill>
                <a:schemeClr val="dk1"/>
              </a:solidFill>
              <a:latin typeface="Constantia"/>
              <a:ea typeface="Constantia"/>
              <a:cs typeface="Constantia"/>
              <a:sym typeface="Constantia"/>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if(current-&gt;no==rno)</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 Deleting the first node</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newnode=current;</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current=current-&gt;shortlink;</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free(newnode);</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head = current;</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return;</a:t>
            </a:r>
            <a:endParaRPr/>
          </a:p>
          <a:p>
            <a:pPr indent="0" lvl="0" marL="0" marR="0" rtl="0" algn="l">
              <a:spcBef>
                <a:spcPts val="0"/>
              </a:spcBef>
              <a:spcAft>
                <a:spcPts val="0"/>
              </a:spcAft>
              <a:buClr>
                <a:schemeClr val="dk1"/>
              </a:buClr>
              <a:buSzPts val="700"/>
              <a:buFont typeface="Constantia"/>
              <a:buNone/>
            </a:pPr>
            <a:r>
              <a:rPr lang="en-US" sz="700">
                <a:solidFill>
                  <a:schemeClr val="dk1"/>
                </a:solidFill>
                <a:latin typeface="Constantia"/>
                <a:ea typeface="Constantia"/>
                <a:cs typeface="Constantia"/>
                <a:sym typeface="Constantia"/>
              </a:rPr>
              <a:t>    }</a:t>
            </a:r>
            <a:endParaRPr/>
          </a:p>
        </p:txBody>
      </p:sp>
      <p:sp>
        <p:nvSpPr>
          <p:cNvPr id="307" name="Google Shape;307;p41"/>
          <p:cNvSpPr txBox="1"/>
          <p:nvPr/>
        </p:nvSpPr>
        <p:spPr>
          <a:xfrm>
            <a:off x="6324600" y="838200"/>
            <a:ext cx="2514600" cy="553997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else</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while(newnode-&gt;shortlink-&gt;shortlink!=NULL)</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 Checking condition for deletion of</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 all nodes except first and last node</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if(newnode-&gt;shortlink-&gt;no==rno)</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temp=newnode-&gt;shortlink;</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newnode-&gt;shortlink=newnode-&gt;shortlink-&gt;shortlink;</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free(temp);</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head = current;</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return;</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newnode=newnode-&gt;shortlink;</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if(newnode-&gt;shortlink-&gt;shortlink==NULL &amp;&amp; newnode-&gt;shortlink-&gt;no==rno)</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 Checking condition for deletion of last node</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free(newnode-&gt;shortlink);</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newnode-&gt;shortlink=NULL;</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head = current;</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return;</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a:t>
            </a:r>
            <a:endParaRPr/>
          </a:p>
          <a:p>
            <a:pPr indent="0" lvl="0" marL="0" marR="0" rtl="0" algn="l">
              <a:spcBef>
                <a:spcPts val="0"/>
              </a:spcBef>
              <a:spcAft>
                <a:spcPts val="0"/>
              </a:spcAft>
              <a:buClr>
                <a:schemeClr val="dk1"/>
              </a:buClr>
              <a:buSzPts val="800"/>
              <a:buFont typeface="Constantia"/>
              <a:buNone/>
            </a:pPr>
            <a:r>
              <a:t/>
            </a:r>
            <a:endParaRPr sz="800">
              <a:solidFill>
                <a:schemeClr val="dk1"/>
              </a:solidFill>
              <a:latin typeface="Constantia"/>
              <a:ea typeface="Constantia"/>
              <a:cs typeface="Constantia"/>
              <a:sym typeface="Constantia"/>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void DisplayList()</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node* current = head;</a:t>
            </a:r>
            <a:endParaRPr/>
          </a:p>
          <a:p>
            <a:pPr indent="0" lvl="0" marL="0" marR="0" rtl="0" algn="l">
              <a:spcBef>
                <a:spcPts val="0"/>
              </a:spcBef>
              <a:spcAft>
                <a:spcPts val="0"/>
              </a:spcAft>
              <a:buClr>
                <a:schemeClr val="dk1"/>
              </a:buClr>
              <a:buSzPts val="800"/>
              <a:buFont typeface="Constantia"/>
              <a:buNone/>
            </a:pPr>
            <a:r>
              <a:t/>
            </a:r>
            <a:endParaRPr sz="800">
              <a:solidFill>
                <a:schemeClr val="dk1"/>
              </a:solidFill>
              <a:latin typeface="Constantia"/>
              <a:ea typeface="Constantia"/>
              <a:cs typeface="Constantia"/>
              <a:sym typeface="Constantia"/>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while(current!=NULL)</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printf("\n %d ",current-&gt;no);</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current=current-&gt;shortlink;</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    }</a:t>
            </a:r>
            <a:endParaRPr/>
          </a:p>
          <a:p>
            <a:pPr indent="0" lvl="0" marL="0" marR="0" rtl="0" algn="l">
              <a:spcBef>
                <a:spcPts val="0"/>
              </a:spcBef>
              <a:spcAft>
                <a:spcPts val="0"/>
              </a:spcAft>
              <a:buClr>
                <a:schemeClr val="dk1"/>
              </a:buClr>
              <a:buSzPts val="800"/>
              <a:buFont typeface="Constantia"/>
              <a:buNone/>
            </a:pPr>
            <a:r>
              <a:rPr lang="en-US" sz="800">
                <a:solidFill>
                  <a:schemeClr val="dk1"/>
                </a:solidFill>
                <a:latin typeface="Constantia"/>
                <a:ea typeface="Constantia"/>
                <a:cs typeface="Constantia"/>
                <a:sym typeface="Constantia"/>
              </a:rPr>
              <a:t>}</a:t>
            </a:r>
            <a:endParaRPr/>
          </a:p>
          <a:p>
            <a:pPr indent="0" lvl="0" marL="0" marR="0" rtl="0" algn="l">
              <a:spcBef>
                <a:spcPts val="0"/>
              </a:spcBef>
              <a:spcAft>
                <a:spcPts val="0"/>
              </a:spcAft>
              <a:buClr>
                <a:schemeClr val="dk1"/>
              </a:buClr>
              <a:buSzPts val="800"/>
              <a:buFont typeface="Constantia"/>
              <a:buNone/>
            </a:pPr>
            <a:r>
              <a:t/>
            </a:r>
            <a:endParaRPr sz="800">
              <a:solidFill>
                <a:schemeClr val="dk1"/>
              </a:solidFill>
              <a:latin typeface="Constantia"/>
              <a:ea typeface="Constantia"/>
              <a:cs typeface="Constantia"/>
              <a:sym typeface="Constantia"/>
            </a:endParaRPr>
          </a:p>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Using Typedef With Structures</a:t>
            </a:r>
            <a:endParaRPr/>
          </a:p>
        </p:txBody>
      </p:sp>
      <p:sp>
        <p:nvSpPr>
          <p:cNvPr id="313" name="Google Shape;313;p4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It allows us to introduce synonyms for data types which could have been declared some other way.</a:t>
            </a:r>
            <a:endParaRPr/>
          </a:p>
          <a:p>
            <a:pPr indent="-274320" lvl="0" marL="274320" rtl="0" algn="l">
              <a:spcBef>
                <a:spcPts val="520"/>
              </a:spcBef>
              <a:spcAft>
                <a:spcPts val="0"/>
              </a:spcAft>
              <a:buSzPts val="2470"/>
              <a:buChar char="⚫"/>
            </a:pPr>
            <a:r>
              <a:rPr lang="en-US"/>
              <a:t>It is used to give New name to the Structure.</a:t>
            </a:r>
            <a:endParaRPr/>
          </a:p>
          <a:p>
            <a:pPr indent="-274320" lvl="0" marL="274320" rtl="0" algn="l">
              <a:spcBef>
                <a:spcPts val="520"/>
              </a:spcBef>
              <a:spcAft>
                <a:spcPts val="0"/>
              </a:spcAft>
              <a:buSzPts val="2470"/>
              <a:buChar char="⚫"/>
            </a:pPr>
            <a:r>
              <a:rPr lang="en-US"/>
              <a:t>New name is used for Creating instances, Passing values to function,declaration etc…</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Typedef example</a:t>
            </a:r>
            <a:endParaRPr/>
          </a:p>
        </p:txBody>
      </p:sp>
      <p:sp>
        <p:nvSpPr>
          <p:cNvPr id="319" name="Google Shape;319;p4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spcBef>
                <a:spcPts val="0"/>
              </a:spcBef>
              <a:spcAft>
                <a:spcPts val="0"/>
              </a:spcAft>
              <a:buSzPct val="95000"/>
              <a:buNone/>
            </a:pPr>
            <a:r>
              <a:rPr lang="en-US">
                <a:latin typeface="Courier New"/>
                <a:ea typeface="Courier New"/>
                <a:cs typeface="Courier New"/>
                <a:sym typeface="Courier New"/>
              </a:rPr>
              <a:t>#include&lt;stdio.h&gt;</a:t>
            </a:r>
            <a:endParaRPr/>
          </a:p>
          <a:p>
            <a:pPr indent="-274320" lvl="0" marL="274320" rtl="0" algn="l">
              <a:spcBef>
                <a:spcPts val="442"/>
              </a:spcBef>
              <a:spcAft>
                <a:spcPts val="0"/>
              </a:spcAft>
              <a:buSzPct val="95000"/>
              <a:buNone/>
            </a:pPr>
            <a:r>
              <a:t/>
            </a:r>
            <a:endParaRPr>
              <a:latin typeface="Courier New"/>
              <a:ea typeface="Courier New"/>
              <a:cs typeface="Courier New"/>
              <a:sym typeface="Courier New"/>
            </a:endParaRPr>
          </a:p>
          <a:p>
            <a:pPr indent="-274320" lvl="0" marL="274320" rtl="0" algn="l">
              <a:spcBef>
                <a:spcPts val="442"/>
              </a:spcBef>
              <a:spcAft>
                <a:spcPts val="0"/>
              </a:spcAft>
              <a:buSzPct val="95000"/>
              <a:buNone/>
            </a:pPr>
            <a:r>
              <a:rPr lang="en-US">
                <a:latin typeface="Courier New"/>
                <a:ea typeface="Courier New"/>
                <a:cs typeface="Courier New"/>
                <a:sym typeface="Courier New"/>
              </a:rPr>
              <a:t>int main() </a:t>
            </a:r>
            <a:endParaRPr/>
          </a:p>
          <a:p>
            <a:pPr indent="-274320" lvl="0" marL="274320" rtl="0" algn="l">
              <a:spcBef>
                <a:spcPts val="442"/>
              </a:spcBef>
              <a:spcAft>
                <a:spcPts val="0"/>
              </a:spcAft>
              <a:buSzPct val="95000"/>
              <a:buNone/>
            </a:pPr>
            <a:r>
              <a:rPr lang="en-US">
                <a:latin typeface="Courier New"/>
                <a:ea typeface="Courier New"/>
                <a:cs typeface="Courier New"/>
                <a:sym typeface="Courier New"/>
              </a:rPr>
              <a:t>{</a:t>
            </a:r>
            <a:endParaRPr/>
          </a:p>
          <a:p>
            <a:pPr indent="-274320" lvl="0" marL="274320" rtl="0" algn="l">
              <a:spcBef>
                <a:spcPts val="442"/>
              </a:spcBef>
              <a:spcAft>
                <a:spcPts val="0"/>
              </a:spcAft>
              <a:buSzPct val="95000"/>
              <a:buNone/>
            </a:pPr>
            <a:r>
              <a:rPr lang="en-US">
                <a:latin typeface="Courier New"/>
                <a:ea typeface="Courier New"/>
                <a:cs typeface="Courier New"/>
                <a:sym typeface="Courier New"/>
              </a:rPr>
              <a:t>typedef int Number;</a:t>
            </a:r>
            <a:endParaRPr/>
          </a:p>
          <a:p>
            <a:pPr indent="-274320" lvl="0" marL="274320" rtl="0" algn="l">
              <a:spcBef>
                <a:spcPts val="442"/>
              </a:spcBef>
              <a:spcAft>
                <a:spcPts val="0"/>
              </a:spcAft>
              <a:buSzPct val="95000"/>
              <a:buNone/>
            </a:pPr>
            <a:r>
              <a:rPr lang="en-US">
                <a:latin typeface="Courier New"/>
                <a:ea typeface="Courier New"/>
                <a:cs typeface="Courier New"/>
                <a:sym typeface="Courier New"/>
              </a:rPr>
              <a:t>Number num1 = 40,num2 = 20;</a:t>
            </a:r>
            <a:endParaRPr/>
          </a:p>
          <a:p>
            <a:pPr indent="-274320" lvl="0" marL="274320" rtl="0" algn="l">
              <a:spcBef>
                <a:spcPts val="442"/>
              </a:spcBef>
              <a:spcAft>
                <a:spcPts val="0"/>
              </a:spcAft>
              <a:buSzPct val="95000"/>
              <a:buNone/>
            </a:pPr>
            <a:r>
              <a:rPr lang="en-US">
                <a:latin typeface="Courier New"/>
                <a:ea typeface="Courier New"/>
                <a:cs typeface="Courier New"/>
                <a:sym typeface="Courier New"/>
              </a:rPr>
              <a:t>Number answer;</a:t>
            </a:r>
            <a:endParaRPr/>
          </a:p>
          <a:p>
            <a:pPr indent="-274320" lvl="0" marL="274320" rtl="0" algn="l">
              <a:spcBef>
                <a:spcPts val="442"/>
              </a:spcBef>
              <a:spcAft>
                <a:spcPts val="0"/>
              </a:spcAft>
              <a:buSzPct val="95000"/>
              <a:buNone/>
            </a:pPr>
            <a:r>
              <a:t/>
            </a:r>
            <a:endParaRPr>
              <a:latin typeface="Courier New"/>
              <a:ea typeface="Courier New"/>
              <a:cs typeface="Courier New"/>
              <a:sym typeface="Courier New"/>
            </a:endParaRPr>
          </a:p>
          <a:p>
            <a:pPr indent="-274320" lvl="0" marL="274320" rtl="0" algn="l">
              <a:spcBef>
                <a:spcPts val="442"/>
              </a:spcBef>
              <a:spcAft>
                <a:spcPts val="0"/>
              </a:spcAft>
              <a:buSzPct val="95000"/>
              <a:buNone/>
            </a:pPr>
            <a:r>
              <a:rPr lang="en-US">
                <a:latin typeface="Courier New"/>
                <a:ea typeface="Courier New"/>
                <a:cs typeface="Courier New"/>
                <a:sym typeface="Courier New"/>
              </a:rPr>
              <a:t>answer = num1 + num2;</a:t>
            </a:r>
            <a:endParaRPr/>
          </a:p>
          <a:p>
            <a:pPr indent="-274320" lvl="0" marL="274320" rtl="0" algn="l">
              <a:spcBef>
                <a:spcPts val="442"/>
              </a:spcBef>
              <a:spcAft>
                <a:spcPts val="0"/>
              </a:spcAft>
              <a:buSzPct val="95000"/>
              <a:buNone/>
            </a:pPr>
            <a:r>
              <a:rPr lang="en-US">
                <a:latin typeface="Courier New"/>
                <a:ea typeface="Courier New"/>
                <a:cs typeface="Courier New"/>
                <a:sym typeface="Courier New"/>
              </a:rPr>
              <a:t>printf("Answer : %d",answer);</a:t>
            </a:r>
            <a:endParaRPr/>
          </a:p>
          <a:p>
            <a:pPr indent="-274320" lvl="0" marL="274320" rtl="0" algn="l">
              <a:spcBef>
                <a:spcPts val="442"/>
              </a:spcBef>
              <a:spcAft>
                <a:spcPts val="0"/>
              </a:spcAft>
              <a:buSzPct val="95000"/>
              <a:buNone/>
            </a:pPr>
            <a:r>
              <a:rPr lang="en-US">
                <a:latin typeface="Courier New"/>
                <a:ea typeface="Courier New"/>
                <a:cs typeface="Courier New"/>
                <a:sym typeface="Courier New"/>
              </a:rPr>
              <a:t>return(0);</a:t>
            </a:r>
            <a:endParaRPr/>
          </a:p>
          <a:p>
            <a:pPr indent="-274320" lvl="0" marL="274320" rtl="0" algn="l">
              <a:spcBef>
                <a:spcPts val="442"/>
              </a:spcBef>
              <a:spcAft>
                <a:spcPts val="0"/>
              </a:spcAft>
              <a:buSzPct val="95000"/>
              <a:buNone/>
            </a:pPr>
            <a:r>
              <a:rPr lang="en-US">
                <a:latin typeface="Courier New"/>
                <a:ea typeface="Courier New"/>
                <a:cs typeface="Courier New"/>
                <a:sym typeface="Courier New"/>
              </a:rPr>
              <a:t>}</a:t>
            </a:r>
            <a:endParaRPr>
              <a:latin typeface="Courier New"/>
              <a:ea typeface="Courier New"/>
              <a:cs typeface="Courier New"/>
              <a:sym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Typedef with structure example</a:t>
            </a:r>
            <a:endParaRPr/>
          </a:p>
        </p:txBody>
      </p:sp>
      <p:sp>
        <p:nvSpPr>
          <p:cNvPr id="325" name="Google Shape;325;p4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62500" lnSpcReduction="20000"/>
          </a:bodyPr>
          <a:lstStyle/>
          <a:p>
            <a:pPr indent="-274320" lvl="0" marL="274320" rtl="0" algn="l">
              <a:spcBef>
                <a:spcPts val="0"/>
              </a:spcBef>
              <a:spcAft>
                <a:spcPts val="0"/>
              </a:spcAft>
              <a:buSzPct val="95000"/>
              <a:buChar char="⚫"/>
            </a:pPr>
            <a:r>
              <a:rPr lang="en-US">
                <a:latin typeface="Courier New"/>
                <a:ea typeface="Courier New"/>
                <a:cs typeface="Courier New"/>
                <a:sym typeface="Courier New"/>
              </a:rPr>
              <a:t>#include&lt;stdio.h&gt;</a:t>
            </a:r>
            <a:endParaRPr/>
          </a:p>
          <a:p>
            <a:pPr indent="-176291" lvl="0" marL="274320" rtl="0" algn="l">
              <a:spcBef>
                <a:spcPts val="325"/>
              </a:spcBef>
              <a:spcAft>
                <a:spcPts val="0"/>
              </a:spcAft>
              <a:buSzPct val="95000"/>
              <a:buNone/>
            </a:pPr>
            <a:r>
              <a:t/>
            </a:r>
            <a:endParaRPr>
              <a:latin typeface="Courier New"/>
              <a:ea typeface="Courier New"/>
              <a:cs typeface="Courier New"/>
              <a:sym typeface="Courier New"/>
            </a:endParaRPr>
          </a:p>
          <a:p>
            <a:pPr indent="-274320" lvl="0" marL="274320" rtl="0" algn="l">
              <a:spcBef>
                <a:spcPts val="325"/>
              </a:spcBef>
              <a:spcAft>
                <a:spcPts val="0"/>
              </a:spcAft>
              <a:buSzPct val="95000"/>
              <a:buChar char="⚫"/>
            </a:pPr>
            <a:r>
              <a:rPr lang="en-US">
                <a:latin typeface="Courier New"/>
                <a:ea typeface="Courier New"/>
                <a:cs typeface="Courier New"/>
                <a:sym typeface="Courier New"/>
              </a:rPr>
              <a:t>typedef struct b1 {</a:t>
            </a:r>
            <a:endParaRPr/>
          </a:p>
          <a:p>
            <a:pPr indent="-274320" lvl="0" marL="274320" rtl="0" algn="l">
              <a:spcBef>
                <a:spcPts val="325"/>
              </a:spcBef>
              <a:spcAft>
                <a:spcPts val="0"/>
              </a:spcAft>
              <a:buSzPct val="95000"/>
              <a:buChar char="⚫"/>
            </a:pPr>
            <a:r>
              <a:rPr lang="en-US">
                <a:latin typeface="Courier New"/>
                <a:ea typeface="Courier New"/>
                <a:cs typeface="Courier New"/>
                <a:sym typeface="Courier New"/>
              </a:rPr>
              <a:t>   char bname[30];</a:t>
            </a:r>
            <a:endParaRPr/>
          </a:p>
          <a:p>
            <a:pPr indent="-274320" lvl="0" marL="274320" rtl="0" algn="l">
              <a:spcBef>
                <a:spcPts val="325"/>
              </a:spcBef>
              <a:spcAft>
                <a:spcPts val="0"/>
              </a:spcAft>
              <a:buSzPct val="95000"/>
              <a:buChar char="⚫"/>
            </a:pPr>
            <a:r>
              <a:rPr lang="en-US">
                <a:latin typeface="Courier New"/>
                <a:ea typeface="Courier New"/>
                <a:cs typeface="Courier New"/>
                <a:sym typeface="Courier New"/>
              </a:rPr>
              <a:t>   int ssn;</a:t>
            </a:r>
            <a:endParaRPr/>
          </a:p>
          <a:p>
            <a:pPr indent="-274320" lvl="0" marL="274320" rtl="0" algn="l">
              <a:spcBef>
                <a:spcPts val="325"/>
              </a:spcBef>
              <a:spcAft>
                <a:spcPts val="0"/>
              </a:spcAft>
              <a:buSzPct val="95000"/>
              <a:buChar char="⚫"/>
            </a:pPr>
            <a:r>
              <a:rPr lang="en-US">
                <a:latin typeface="Courier New"/>
                <a:ea typeface="Courier New"/>
                <a:cs typeface="Courier New"/>
                <a:sym typeface="Courier New"/>
              </a:rPr>
              <a:t>   int pages;</a:t>
            </a:r>
            <a:endParaRPr/>
          </a:p>
          <a:p>
            <a:pPr indent="-274320" lvl="0" marL="274320" rtl="0" algn="l">
              <a:spcBef>
                <a:spcPts val="325"/>
              </a:spcBef>
              <a:spcAft>
                <a:spcPts val="0"/>
              </a:spcAft>
              <a:buSzPct val="95000"/>
              <a:buChar char="⚫"/>
            </a:pPr>
            <a:r>
              <a:rPr lang="en-US">
                <a:latin typeface="Courier New"/>
                <a:ea typeface="Courier New"/>
                <a:cs typeface="Courier New"/>
                <a:sym typeface="Courier New"/>
              </a:rPr>
              <a:t>}book;</a:t>
            </a:r>
            <a:endParaRPr/>
          </a:p>
          <a:p>
            <a:pPr indent="-176291" lvl="0" marL="274320" rtl="0" algn="l">
              <a:spcBef>
                <a:spcPts val="325"/>
              </a:spcBef>
              <a:spcAft>
                <a:spcPts val="0"/>
              </a:spcAft>
              <a:buSzPct val="95000"/>
              <a:buNone/>
            </a:pPr>
            <a:r>
              <a:t/>
            </a:r>
            <a:endParaRPr>
              <a:latin typeface="Courier New"/>
              <a:ea typeface="Courier New"/>
              <a:cs typeface="Courier New"/>
              <a:sym typeface="Courier New"/>
            </a:endParaRPr>
          </a:p>
          <a:p>
            <a:pPr indent="-274320" lvl="0" marL="274320" rtl="0" algn="l">
              <a:spcBef>
                <a:spcPts val="325"/>
              </a:spcBef>
              <a:spcAft>
                <a:spcPts val="0"/>
              </a:spcAft>
              <a:buSzPct val="95000"/>
              <a:buChar char="⚫"/>
            </a:pPr>
            <a:r>
              <a:rPr lang="en-US">
                <a:latin typeface="Courier New"/>
                <a:ea typeface="Courier New"/>
                <a:cs typeface="Courier New"/>
                <a:sym typeface="Courier New"/>
              </a:rPr>
              <a:t>book b1 = {"Let Us C",1000,90};</a:t>
            </a:r>
            <a:endParaRPr/>
          </a:p>
          <a:p>
            <a:pPr indent="-176291" lvl="0" marL="274320" rtl="0" algn="l">
              <a:spcBef>
                <a:spcPts val="325"/>
              </a:spcBef>
              <a:spcAft>
                <a:spcPts val="0"/>
              </a:spcAft>
              <a:buSzPct val="95000"/>
              <a:buNone/>
            </a:pPr>
            <a:r>
              <a:t/>
            </a:r>
            <a:endParaRPr>
              <a:latin typeface="Courier New"/>
              <a:ea typeface="Courier New"/>
              <a:cs typeface="Courier New"/>
              <a:sym typeface="Courier New"/>
            </a:endParaRPr>
          </a:p>
          <a:p>
            <a:pPr indent="-274320" lvl="0" marL="274320" rtl="0" algn="l">
              <a:spcBef>
                <a:spcPts val="325"/>
              </a:spcBef>
              <a:spcAft>
                <a:spcPts val="0"/>
              </a:spcAft>
              <a:buSzPct val="95000"/>
              <a:buChar char="⚫"/>
            </a:pPr>
            <a:r>
              <a:rPr lang="en-US">
                <a:latin typeface="Courier New"/>
                <a:ea typeface="Courier New"/>
                <a:cs typeface="Courier New"/>
                <a:sym typeface="Courier New"/>
              </a:rPr>
              <a:t>int main() </a:t>
            </a:r>
            <a:endParaRPr/>
          </a:p>
          <a:p>
            <a:pPr indent="-274320" lvl="0" marL="274320" rtl="0" algn="l">
              <a:spcBef>
                <a:spcPts val="325"/>
              </a:spcBef>
              <a:spcAft>
                <a:spcPts val="0"/>
              </a:spcAft>
              <a:buSzPct val="95000"/>
              <a:buChar char="⚫"/>
            </a:pPr>
            <a:r>
              <a:rPr lang="en-US">
                <a:latin typeface="Courier New"/>
                <a:ea typeface="Courier New"/>
                <a:cs typeface="Courier New"/>
                <a:sym typeface="Courier New"/>
              </a:rPr>
              <a:t>{</a:t>
            </a:r>
            <a:endParaRPr/>
          </a:p>
          <a:p>
            <a:pPr indent="-274320" lvl="0" marL="274320" rtl="0" algn="l">
              <a:spcBef>
                <a:spcPts val="325"/>
              </a:spcBef>
              <a:spcAft>
                <a:spcPts val="0"/>
              </a:spcAft>
              <a:buSzPct val="95000"/>
              <a:buChar char="⚫"/>
            </a:pPr>
            <a:r>
              <a:rPr lang="en-US">
                <a:latin typeface="Courier New"/>
                <a:ea typeface="Courier New"/>
                <a:cs typeface="Courier New"/>
                <a:sym typeface="Courier New"/>
              </a:rPr>
              <a:t>    printf("\nName of Book : %s",b1.bname);</a:t>
            </a:r>
            <a:endParaRPr/>
          </a:p>
          <a:p>
            <a:pPr indent="-274320" lvl="0" marL="274320" rtl="0" algn="l">
              <a:spcBef>
                <a:spcPts val="325"/>
              </a:spcBef>
              <a:spcAft>
                <a:spcPts val="0"/>
              </a:spcAft>
              <a:buSzPct val="95000"/>
              <a:buChar char="⚫"/>
            </a:pPr>
            <a:r>
              <a:rPr lang="en-US">
                <a:latin typeface="Courier New"/>
                <a:ea typeface="Courier New"/>
                <a:cs typeface="Courier New"/>
                <a:sym typeface="Courier New"/>
              </a:rPr>
              <a:t>    printf("\nSSN of Book : %d",b1.ssn);</a:t>
            </a:r>
            <a:endParaRPr/>
          </a:p>
          <a:p>
            <a:pPr indent="-274320" lvl="0" marL="274320" rtl="0" algn="l">
              <a:spcBef>
                <a:spcPts val="325"/>
              </a:spcBef>
              <a:spcAft>
                <a:spcPts val="0"/>
              </a:spcAft>
              <a:buSzPct val="95000"/>
              <a:buChar char="⚫"/>
            </a:pPr>
            <a:r>
              <a:rPr lang="en-US">
                <a:latin typeface="Courier New"/>
                <a:ea typeface="Courier New"/>
                <a:cs typeface="Courier New"/>
                <a:sym typeface="Courier New"/>
              </a:rPr>
              <a:t>    printf("\nPages in Book : %d",b1.pages);</a:t>
            </a:r>
            <a:endParaRPr/>
          </a:p>
          <a:p>
            <a:pPr indent="-274320" lvl="0" marL="274320" rtl="0" algn="l">
              <a:spcBef>
                <a:spcPts val="325"/>
              </a:spcBef>
              <a:spcAft>
                <a:spcPts val="0"/>
              </a:spcAft>
              <a:buSzPct val="95000"/>
              <a:buChar char="⚫"/>
            </a:pPr>
            <a:r>
              <a:rPr lang="en-US">
                <a:latin typeface="Courier New"/>
                <a:ea typeface="Courier New"/>
                <a:cs typeface="Courier New"/>
                <a:sym typeface="Courier New"/>
              </a:rPr>
              <a:t>    return(0);</a:t>
            </a:r>
            <a:endParaRPr/>
          </a:p>
          <a:p>
            <a:pPr indent="-274320" lvl="0" marL="274320" rtl="0" algn="l">
              <a:spcBef>
                <a:spcPts val="325"/>
              </a:spcBef>
              <a:spcAft>
                <a:spcPts val="0"/>
              </a:spcAft>
              <a:buSzPct val="95000"/>
              <a:buChar char="⚫"/>
            </a:pPr>
            <a:r>
              <a:rPr lang="en-US">
                <a:latin typeface="Courier New"/>
                <a:ea typeface="Courier New"/>
                <a:cs typeface="Courier New"/>
                <a:sym typeface="Courier New"/>
              </a:rPr>
              <a:t>}</a:t>
            </a:r>
            <a:endParaRPr>
              <a:latin typeface="Courier New"/>
              <a:ea typeface="Courier New"/>
              <a:cs typeface="Courier New"/>
              <a:sym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Assignment</a:t>
            </a:r>
            <a:endParaRPr/>
          </a:p>
        </p:txBody>
      </p:sp>
      <p:sp>
        <p:nvSpPr>
          <p:cNvPr id="331" name="Google Shape;331;p4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92500"/>
          </a:bodyPr>
          <a:lstStyle/>
          <a:p>
            <a:pPr indent="-514350" lvl="0" marL="514350" rtl="0" algn="l">
              <a:spcBef>
                <a:spcPts val="0"/>
              </a:spcBef>
              <a:spcAft>
                <a:spcPts val="0"/>
              </a:spcAft>
              <a:buSzPct val="95000"/>
              <a:buChar char="⚫"/>
            </a:pPr>
            <a:r>
              <a:rPr lang="en-US"/>
              <a:t>Put your name and yr. &amp; section as comment in every code . Email your assignment at jethrogamad@gmail.com</a:t>
            </a:r>
            <a:endParaRPr/>
          </a:p>
          <a:p>
            <a:pPr indent="-514350" lvl="0" marL="514350" rtl="0" algn="l">
              <a:spcBef>
                <a:spcPts val="481"/>
              </a:spcBef>
              <a:spcAft>
                <a:spcPts val="0"/>
              </a:spcAft>
              <a:buSzPct val="95000"/>
              <a:buFont typeface="Calibri"/>
              <a:buAutoNum type="arabicPeriod"/>
            </a:pPr>
            <a:r>
              <a:rPr lang="en-US"/>
              <a:t>Create a program that uses malloc() to allocate a chunk of memory to hold a string no larger than 80 characters. Prompt the user to enter his favorite movie. Read his response with scanf() and assign the data to your newly allocated memory. Display the user’s favorite movie back to standard output. Save as dma.c</a:t>
            </a:r>
            <a:endParaRPr/>
          </a:p>
          <a:p>
            <a:pPr indent="-514350" lvl="0" marL="514350" rtl="0" algn="l">
              <a:spcBef>
                <a:spcPts val="481"/>
              </a:spcBef>
              <a:spcAft>
                <a:spcPts val="0"/>
              </a:spcAft>
              <a:buSzPct val="95000"/>
              <a:buFont typeface="Calibri"/>
              <a:buAutoNum type="arabicPeriod"/>
            </a:pPr>
            <a:r>
              <a:rPr lang="en-US"/>
              <a:t>Create a singly linked list that will display 4 names: Anna, John, Jim, Silver. Implement the linked lists basic operations. Save as linkedlist.c</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